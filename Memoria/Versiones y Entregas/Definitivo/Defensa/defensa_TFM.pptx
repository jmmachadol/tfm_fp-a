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  <p:sldMasterId id="2147484159" r:id="rId5"/>
  </p:sldMasterIdLst>
  <p:notesMasterIdLst>
    <p:notesMasterId r:id="rId36"/>
  </p:notesMasterIdLst>
  <p:handoutMasterIdLst>
    <p:handoutMasterId r:id="rId37"/>
  </p:handoutMasterIdLst>
  <p:sldIdLst>
    <p:sldId id="1691" r:id="rId6"/>
    <p:sldId id="1692" r:id="rId7"/>
    <p:sldId id="1693" r:id="rId8"/>
    <p:sldId id="1694" r:id="rId9"/>
    <p:sldId id="1695" r:id="rId10"/>
    <p:sldId id="1696" r:id="rId11"/>
    <p:sldId id="1697" r:id="rId12"/>
    <p:sldId id="1698" r:id="rId13"/>
    <p:sldId id="1699" r:id="rId14"/>
    <p:sldId id="1700" r:id="rId15"/>
    <p:sldId id="1701" r:id="rId16"/>
    <p:sldId id="1702" r:id="rId17"/>
    <p:sldId id="1703" r:id="rId18"/>
    <p:sldId id="1704" r:id="rId19"/>
    <p:sldId id="1705" r:id="rId20"/>
    <p:sldId id="1706" r:id="rId21"/>
    <p:sldId id="1707" r:id="rId22"/>
    <p:sldId id="1708" r:id="rId23"/>
    <p:sldId id="1709" r:id="rId24"/>
    <p:sldId id="1710" r:id="rId25"/>
    <p:sldId id="1711" r:id="rId26"/>
    <p:sldId id="1712" r:id="rId27"/>
    <p:sldId id="1713" r:id="rId28"/>
    <p:sldId id="1714" r:id="rId29"/>
    <p:sldId id="1715" r:id="rId30"/>
    <p:sldId id="1716" r:id="rId31"/>
    <p:sldId id="1717" r:id="rId32"/>
    <p:sldId id="1718" r:id="rId33"/>
    <p:sldId id="1719" r:id="rId34"/>
    <p:sldId id="1720" r:id="rId35"/>
  </p:sldIdLst>
  <p:sldSz cx="18288000" cy="10287000"/>
  <p:notesSz cx="6797675" cy="9926638"/>
  <p:defaultTextStyle>
    <a:defPPr>
      <a:defRPr lang="uk-UA"/>
    </a:defPPr>
    <a:lvl1pPr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1pPr>
    <a:lvl2pPr marL="684213" indent="-2270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2pPr>
    <a:lvl3pPr marL="1370013" indent="-4556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3pPr>
    <a:lvl4pPr marL="2055813" indent="-6842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4pPr>
    <a:lvl5pPr marL="2741613" indent="-9128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6pPr>
    <a:lvl7pPr marL="27432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7pPr>
    <a:lvl8pPr marL="32004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8pPr>
    <a:lvl9pPr marL="36576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pita Arrese Alcala" initials="" lastIdx="16" clrIdx="0"/>
  <p:cmAuthor id="2" name="oe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879B"/>
    <a:srgbClr val="000000"/>
    <a:srgbClr val="23AAD5"/>
    <a:srgbClr val="64D4EA"/>
    <a:srgbClr val="4CCCE6"/>
    <a:srgbClr val="6CD5EA"/>
    <a:srgbClr val="2BC3E1"/>
    <a:srgbClr val="57C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9" autoAdjust="0"/>
    <p:restoredTop sz="69594" autoAdjust="0"/>
  </p:normalViewPr>
  <p:slideViewPr>
    <p:cSldViewPr snapToGrid="0">
      <p:cViewPr varScale="1">
        <p:scale>
          <a:sx n="43" d="100"/>
          <a:sy n="43" d="100"/>
        </p:scale>
        <p:origin x="1638" y="6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2" d="100"/>
        <a:sy n="62" d="100"/>
      </p:scale>
      <p:origin x="0" y="-22038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sMAPE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566C"/>
              </a:solidFill>
            </c:spPr>
            <c:extLst>
              <c:ext xmlns:c16="http://schemas.microsoft.com/office/drawing/2014/chart" uri="{C3380CC4-5D6E-409C-BE32-E72D297353CC}">
                <c16:uniqueId val="{00000001-2C40-4DA7-9CC7-EF76DCE84CFB}"/>
              </c:ext>
            </c:extLst>
          </c:dPt>
          <c:dPt>
            <c:idx val="1"/>
            <c:invertIfNegative val="1"/>
            <c:bubble3D val="0"/>
            <c:spPr>
              <a:solidFill>
                <a:srgbClr val="219BC3"/>
              </a:solidFill>
            </c:spPr>
            <c:extLst>
              <c:ext xmlns:c16="http://schemas.microsoft.com/office/drawing/2014/chart" uri="{C3380CC4-5D6E-409C-BE32-E72D297353CC}">
                <c16:uniqueId val="{00000003-2C40-4DA7-9CC7-EF76DCE84CFB}"/>
              </c:ext>
            </c:extLst>
          </c:dPt>
          <c:dPt>
            <c:idx val="2"/>
            <c:invertIfNegative val="1"/>
            <c:bubble3D val="0"/>
            <c:spPr>
              <a:solidFill>
                <a:srgbClr val="219BC3"/>
              </a:solidFill>
            </c:spPr>
            <c:extLst>
              <c:ext xmlns:c16="http://schemas.microsoft.com/office/drawing/2014/chart" uri="{C3380CC4-5D6E-409C-BE32-E72D297353CC}">
                <c16:uniqueId val="{00000005-2C40-4DA7-9CC7-EF76DCE84CFB}"/>
              </c:ext>
            </c:extLst>
          </c:dPt>
          <c:dPt>
            <c:idx val="3"/>
            <c:invertIfNegative val="1"/>
            <c:bubble3D val="0"/>
            <c:spPr>
              <a:solidFill>
                <a:srgbClr val="858591"/>
              </a:solidFill>
            </c:spPr>
            <c:extLst>
              <c:ext xmlns:c16="http://schemas.microsoft.com/office/drawing/2014/chart" uri="{C3380CC4-5D6E-409C-BE32-E72D297353CC}">
                <c16:uniqueId val="{00000007-2C40-4DA7-9CC7-EF76DCE84CFB}"/>
              </c:ext>
            </c:extLst>
          </c:dPt>
          <c:dPt>
            <c:idx val="4"/>
            <c:invertIfNegative val="1"/>
            <c:bubble3D val="0"/>
            <c:spPr>
              <a:solidFill>
                <a:srgbClr val="858591"/>
              </a:solidFill>
            </c:spPr>
            <c:extLst>
              <c:ext xmlns:c16="http://schemas.microsoft.com/office/drawing/2014/chart" uri="{C3380CC4-5D6E-409C-BE32-E72D297353CC}">
                <c16:uniqueId val="{00000009-2C40-4DA7-9CC7-EF76DCE84CFB}"/>
              </c:ext>
            </c:extLst>
          </c:dPt>
          <c:dPt>
            <c:idx val="5"/>
            <c:invertIfNegative val="1"/>
            <c:bubble3D val="0"/>
            <c:spPr>
              <a:solidFill>
                <a:srgbClr val="858591"/>
              </a:solidFill>
            </c:spPr>
            <c:extLst>
              <c:ext xmlns:c16="http://schemas.microsoft.com/office/drawing/2014/chart" uri="{C3380CC4-5D6E-409C-BE32-E72D297353CC}">
                <c16:uniqueId val="{0000000B-2C40-4DA7-9CC7-EF76DCE84CFB}"/>
              </c:ext>
            </c:extLst>
          </c:dPt>
          <c:dPt>
            <c:idx val="6"/>
            <c:invertIfNegative val="1"/>
            <c:bubble3D val="0"/>
            <c:spPr>
              <a:solidFill>
                <a:srgbClr val="C0C0C8"/>
              </a:solidFill>
            </c:spPr>
            <c:extLst>
              <c:ext xmlns:c16="http://schemas.microsoft.com/office/drawing/2014/chart" uri="{C3380CC4-5D6E-409C-BE32-E72D297353CC}">
                <c16:uniqueId val="{0000000D-2C40-4DA7-9CC7-EF76DCE84CF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2000" b="1">
                        <a:solidFill>
                          <a:srgbClr val="00566C"/>
                        </a:solidFill>
                        <a:latin typeface="Arial"/>
                      </a:rPr>
                      <a:t>10,0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C40-4DA7-9CC7-EF76DCE84CF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2000" b="1">
                        <a:solidFill>
                          <a:srgbClr val="00566C"/>
                        </a:solidFill>
                        <a:latin typeface="Arial"/>
                      </a:rPr>
                      <a:t>10,8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C40-4DA7-9CC7-EF76DCE84CF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2000" b="1">
                        <a:solidFill>
                          <a:srgbClr val="00566C"/>
                        </a:solidFill>
                        <a:latin typeface="Arial"/>
                      </a:rPr>
                      <a:t>11,2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C40-4DA7-9CC7-EF76DCE84CF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2000" b="1">
                        <a:solidFill>
                          <a:srgbClr val="00566C"/>
                        </a:solidFill>
                        <a:latin typeface="Arial"/>
                      </a:rPr>
                      <a:t>11,7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C40-4DA7-9CC7-EF76DCE84CF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2000" b="1">
                        <a:solidFill>
                          <a:srgbClr val="00566C"/>
                        </a:solidFill>
                        <a:latin typeface="Arial"/>
                      </a:rPr>
                      <a:t>11,8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C40-4DA7-9CC7-EF76DCE84CF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2000" b="1">
                        <a:solidFill>
                          <a:srgbClr val="00566C"/>
                        </a:solidFill>
                        <a:latin typeface="Arial"/>
                      </a:rPr>
                      <a:t>12,4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C40-4DA7-9CC7-EF76DCE84CF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2000" b="1">
                        <a:solidFill>
                          <a:srgbClr val="00566C"/>
                        </a:solidFill>
                        <a:latin typeface="Arial"/>
                      </a:rPr>
                      <a:t>13,7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C40-4DA7-9CC7-EF76DCE84CF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ETS</c:v>
                </c:pt>
                <c:pt idx="1">
                  <c:v>SARIMA</c:v>
                </c:pt>
                <c:pt idx="2">
                  <c:v>Holt-Winters</c:v>
                </c:pt>
                <c:pt idx="3">
                  <c:v>LightGBM</c:v>
                </c:pt>
                <c:pt idx="4">
                  <c:v>MLP</c:v>
                </c:pt>
                <c:pt idx="5">
                  <c:v>N-BEATS</c:v>
                </c:pt>
                <c:pt idx="6">
                  <c:v>Seasonal Naïve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10.005000000000001</c:v>
                </c:pt>
                <c:pt idx="1">
                  <c:v>10.824999999999999</c:v>
                </c:pt>
                <c:pt idx="2">
                  <c:v>11.157</c:v>
                </c:pt>
                <c:pt idx="3">
                  <c:v>11.682</c:v>
                </c:pt>
                <c:pt idx="4">
                  <c:v>11.843999999999999</c:v>
                </c:pt>
                <c:pt idx="5">
                  <c:v>12.375</c:v>
                </c:pt>
                <c:pt idx="6">
                  <c:v>13.667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C40-4DA7-9CC7-EF76DCE84C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0C0C8"/>
            </a:solidFill>
          </a:ln>
        </c:spPr>
        <c:txPr>
          <a:bodyPr/>
          <a:lstStyle/>
          <a:p>
            <a:pPr>
              <a:defRPr sz="1600">
                <a:solidFill>
                  <a:srgbClr val="00566C"/>
                </a:solidFill>
              </a:defRPr>
            </a:pPr>
            <a:endParaRPr lang="es-CO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"/>
          <c:min val="0"/>
        </c:scaling>
        <c:delete val="0"/>
        <c:axPos val="l"/>
        <c:majorGridlines>
          <c:spPr>
            <a:ln w="12700">
              <a:solidFill>
                <a:srgbClr val="EFEFF1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858591"/>
                </a:solidFill>
              </a:defRPr>
            </a:pPr>
            <a:endParaRPr lang="es-CO"/>
          </a:p>
        </c:txPr>
        <c:crossAx val="-2068027336"/>
        <c:crosses val="autoZero"/>
        <c:crossBetween val="between"/>
        <c:majorUnit val="2"/>
      </c:valAx>
    </c:plotArea>
    <c:plotVisOnly val="1"/>
    <c:dispBlanksAs val="gap"/>
    <c:showDLblsOverMax val="1"/>
  </c:chart>
  <c:txPr>
    <a:bodyPr/>
    <a:lstStyle/>
    <a:p>
      <a:pPr>
        <a:defRPr sz="1600">
          <a:solidFill>
            <a:srgbClr val="85859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ETS</c:v>
                </c:pt>
              </c:strCache>
            </c:strRef>
          </c:tx>
          <c:spPr>
            <a:ln w="57150">
              <a:solidFill>
                <a:srgbClr val="00566C"/>
              </a:solidFill>
            </a:ln>
          </c:spPr>
          <c:marker>
            <c:symbol val="circle"/>
            <c:size val="9"/>
            <c:spPr>
              <a:solidFill>
                <a:srgbClr val="00566C"/>
              </a:solidFill>
              <a:ln>
                <a:solidFill>
                  <a:srgbClr val="00566C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s-CO" sz="1600" b="1">
                        <a:solidFill>
                          <a:srgbClr val="00566C"/>
                        </a:solidFill>
                        <a:latin typeface="Arial"/>
                      </a:rPr>
                      <a:t>11,9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0BA-41F9-BE25-C2B18D0F225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s-CO" sz="1600" b="1">
                        <a:solidFill>
                          <a:srgbClr val="00566C"/>
                        </a:solidFill>
                        <a:latin typeface="Arial"/>
                      </a:rPr>
                      <a:t>8,4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0BA-41F9-BE25-C2B18D0F225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 (más antiguo)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 (más reciente)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11.87</c:v>
                </c:pt>
                <c:pt idx="1">
                  <c:v>10.039999999999999</c:v>
                </c:pt>
                <c:pt idx="2">
                  <c:v>8.89</c:v>
                </c:pt>
                <c:pt idx="3">
                  <c:v>8.67</c:v>
                </c:pt>
                <c:pt idx="4">
                  <c:v>8.39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BA-41F9-BE25-C2B18D0F22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SARIMA</c:v>
                </c:pt>
              </c:strCache>
            </c:strRef>
          </c:tx>
          <c:spPr>
            <a:ln w="44450">
              <a:solidFill>
                <a:srgbClr val="219BC3"/>
              </a:solidFill>
            </a:ln>
          </c:spPr>
          <c:marker>
            <c:symbol val="circle"/>
            <c:size val="9"/>
            <c:spPr>
              <a:solidFill>
                <a:srgbClr val="219BC3"/>
              </a:solidFill>
              <a:ln>
                <a:solidFill>
                  <a:srgbClr val="219BC3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 (más antiguo)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 (más reciente)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12.74</c:v>
                </c:pt>
                <c:pt idx="1">
                  <c:v>11.33</c:v>
                </c:pt>
                <c:pt idx="2">
                  <c:v>9.93</c:v>
                </c:pt>
                <c:pt idx="3">
                  <c:v>9.27</c:v>
                </c:pt>
                <c:pt idx="4">
                  <c:v>8.66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BA-41F9-BE25-C2B18D0F22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Holt-Winters</c:v>
                </c:pt>
              </c:strCache>
            </c:strRef>
          </c:tx>
          <c:spPr>
            <a:ln w="44450">
              <a:solidFill>
                <a:srgbClr val="858591"/>
              </a:solidFill>
            </a:ln>
          </c:spPr>
          <c:marker>
            <c:symbol val="circle"/>
            <c:size val="9"/>
            <c:spPr>
              <a:solidFill>
                <a:srgbClr val="858591"/>
              </a:solidFill>
              <a:ln>
                <a:solidFill>
                  <a:srgbClr val="8585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 (más antiguo)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 (más reciente)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12.86</c:v>
                </c:pt>
                <c:pt idx="1">
                  <c:v>11.06</c:v>
                </c:pt>
                <c:pt idx="2">
                  <c:v>10.53</c:v>
                </c:pt>
                <c:pt idx="3">
                  <c:v>9.7799999999999994</c:v>
                </c:pt>
                <c:pt idx="4">
                  <c:v>9.01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0BA-41F9-BE25-C2B18D0F22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Seasonal Naïve</c:v>
                </c:pt>
              </c:strCache>
            </c:strRef>
          </c:tx>
          <c:spPr>
            <a:ln w="44450">
              <a:solidFill>
                <a:srgbClr val="C0C0C8"/>
              </a:solidFill>
              <a:prstDash val="dash"/>
            </a:ln>
          </c:spPr>
          <c:marker>
            <c:symbol val="circle"/>
            <c:size val="9"/>
            <c:spPr>
              <a:solidFill>
                <a:srgbClr val="C0C0C8"/>
              </a:solidFill>
              <a:ln>
                <a:solidFill>
                  <a:srgbClr val="C0C0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s-CO" sz="1600" b="1">
                        <a:solidFill>
                          <a:srgbClr val="858591"/>
                        </a:solidFill>
                        <a:latin typeface="Arial"/>
                      </a:rPr>
                      <a:t>15,0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0BA-41F9-BE25-C2B18D0F225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s-CO" sz="1600" b="1">
                        <a:solidFill>
                          <a:srgbClr val="858591"/>
                        </a:solidFill>
                        <a:latin typeface="Arial"/>
                      </a:rPr>
                      <a:t>12,0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0BA-41F9-BE25-C2B18D0F225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 (más antiguo)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 (más reciente)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14.99</c:v>
                </c:pt>
                <c:pt idx="1">
                  <c:v>14.39</c:v>
                </c:pt>
                <c:pt idx="2">
                  <c:v>12.96</c:v>
                </c:pt>
                <c:pt idx="3">
                  <c:v>11.79</c:v>
                </c:pt>
                <c:pt idx="4">
                  <c:v>11.96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0BA-41F9-BE25-C2B18D0F2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0C0C8"/>
            </a:solidFill>
          </a:ln>
        </c:spPr>
        <c:txPr>
          <a:bodyPr/>
          <a:lstStyle/>
          <a:p>
            <a:pPr>
              <a:defRPr sz="1600">
                <a:solidFill>
                  <a:srgbClr val="00566C"/>
                </a:solidFill>
              </a:defRPr>
            </a:pPr>
            <a:endParaRPr lang="es-CO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6"/>
          <c:min val="6"/>
        </c:scaling>
        <c:delete val="0"/>
        <c:axPos val="l"/>
        <c:majorGridlines>
          <c:spPr>
            <a:ln w="12700">
              <a:solidFill>
                <a:srgbClr val="EFEFF1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858591"/>
                </a:solidFill>
              </a:defRPr>
            </a:pPr>
            <a:endParaRPr lang="es-CO"/>
          </a:p>
        </c:txPr>
        <c:crossAx val="2118791784"/>
        <c:crosses val="autoZero"/>
        <c:crossBetween val="between"/>
        <c:majorUnit val="2"/>
      </c:valAx>
    </c:plotArea>
    <c:legend>
      <c:legendPos val="t"/>
      <c:overlay val="0"/>
      <c:txPr>
        <a:bodyPr/>
        <a:lstStyle/>
        <a:p>
          <a:pPr>
            <a:defRPr sz="1700">
              <a:solidFill>
                <a:srgbClr val="858591"/>
              </a:solidFill>
            </a:defRPr>
          </a:pPr>
          <a:endParaRPr lang="es-CO"/>
        </a:p>
      </c:txPr>
    </c:legend>
    <c:plotVisOnly val="1"/>
    <c:dispBlanksAs val="gap"/>
    <c:showDLblsOverMax val="0"/>
  </c:chart>
  <c:txPr>
    <a:bodyPr/>
    <a:lstStyle/>
    <a:p>
      <a:pPr>
        <a:defRPr sz="1600">
          <a:solidFill>
            <a:srgbClr val="85859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ETS (AutoETS)</c:v>
                </c:pt>
              </c:strCache>
            </c:strRef>
          </c:tx>
          <c:spPr>
            <a:solidFill>
              <a:srgbClr val="00566C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00566C"/>
                        </a:solidFill>
                        <a:latin typeface="Arial"/>
                      </a:rPr>
                      <a:t>14,6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3C3-4A06-A626-367595BA5F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00566C"/>
                        </a:solidFill>
                        <a:latin typeface="Arial"/>
                      </a:rPr>
                      <a:t>8,7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3C3-4A06-A626-367595BA5F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00566C"/>
                        </a:solidFill>
                        <a:latin typeface="Arial"/>
                      </a:rPr>
                      <a:t>7,6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3C3-4A06-A626-367595BA5F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00566C"/>
                        </a:solidFill>
                        <a:latin typeface="Arial"/>
                      </a:rPr>
                      <a:t>12,9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3C3-4A06-A626-367595BA5F0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00566C"/>
                        </a:solidFill>
                        <a:latin typeface="Arial"/>
                      </a:rPr>
                      <a:t>13,3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3C3-4A06-A626-367595BA5F0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00566C"/>
                        </a:solidFill>
                        <a:latin typeface="Arial"/>
                      </a:rPr>
                      <a:t>12,6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3C3-4A06-A626-367595BA5F0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00566C"/>
                        </a:solidFill>
                        <a:latin typeface="Arial"/>
                      </a:rPr>
                      <a:t>8,2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3C3-4A06-A626-367595BA5F0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00566C"/>
                        </a:solidFill>
                        <a:latin typeface="Arial"/>
                      </a:rPr>
                      <a:t>8,6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3C3-4A06-A626-367595BA5F0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00566C"/>
                        </a:solidFill>
                        <a:latin typeface="Arial"/>
                      </a:rPr>
                      <a:t>7,7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A3C3-4A06-A626-367595BA5F06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00566C"/>
                        </a:solidFill>
                        <a:latin typeface="Arial"/>
                      </a:rPr>
                      <a:t>6,9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A3C3-4A06-A626-367595BA5F0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14.6</c:v>
                </c:pt>
                <c:pt idx="1">
                  <c:v>8.6999999999999993</c:v>
                </c:pt>
                <c:pt idx="2">
                  <c:v>7.6</c:v>
                </c:pt>
                <c:pt idx="3">
                  <c:v>12.9</c:v>
                </c:pt>
                <c:pt idx="4">
                  <c:v>13.3</c:v>
                </c:pt>
                <c:pt idx="5">
                  <c:v>12.6</c:v>
                </c:pt>
                <c:pt idx="6">
                  <c:v>8.1999999999999993</c:v>
                </c:pt>
                <c:pt idx="7">
                  <c:v>8.6</c:v>
                </c:pt>
                <c:pt idx="8">
                  <c:v>7.7</c:v>
                </c:pt>
                <c:pt idx="9">
                  <c:v>6.9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A3C3-4A06-A626-367595BA5F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Seasonal Naïve</c:v>
                </c:pt>
              </c:strCache>
            </c:strRef>
          </c:tx>
          <c:spPr>
            <a:solidFill>
              <a:srgbClr val="C0C0C8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858591"/>
                        </a:solidFill>
                        <a:latin typeface="Arial"/>
                      </a:rPr>
                      <a:t>20,0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A3C3-4A06-A626-367595BA5F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858591"/>
                        </a:solidFill>
                        <a:latin typeface="Arial"/>
                      </a:rPr>
                      <a:t>13,3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A3C3-4A06-A626-367595BA5F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858591"/>
                        </a:solidFill>
                        <a:latin typeface="Arial"/>
                      </a:rPr>
                      <a:t>10,2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A3C3-4A06-A626-367595BA5F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858591"/>
                        </a:solidFill>
                        <a:latin typeface="Arial"/>
                      </a:rPr>
                      <a:t>17,2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A3C3-4A06-A626-367595BA5F0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858591"/>
                        </a:solidFill>
                        <a:latin typeface="Arial"/>
                      </a:rPr>
                      <a:t>17,8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A3C3-4A06-A626-367595BA5F0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858591"/>
                        </a:solidFill>
                        <a:latin typeface="Arial"/>
                      </a:rPr>
                      <a:t>16,5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A3C3-4A06-A626-367595BA5F0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858591"/>
                        </a:solidFill>
                        <a:latin typeface="Arial"/>
                      </a:rPr>
                      <a:t>13,4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A3C3-4A06-A626-367595BA5F0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858591"/>
                        </a:solidFill>
                        <a:latin typeface="Arial"/>
                      </a:rPr>
                      <a:t>10,9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A3C3-4A06-A626-367595BA5F0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858591"/>
                        </a:solidFill>
                        <a:latin typeface="Arial"/>
                      </a:rPr>
                      <a:t>10,8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A3C3-4A06-A626-367595BA5F06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s-CO" sz="1300" b="1">
                        <a:solidFill>
                          <a:srgbClr val="858591"/>
                        </a:solidFill>
                        <a:latin typeface="Arial"/>
                      </a:rPr>
                      <a:t>8,6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A3C3-4A06-A626-367595BA5F0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</c:v>
                </c:pt>
                <c:pt idx="1">
                  <c:v>13.3</c:v>
                </c:pt>
                <c:pt idx="2">
                  <c:v>10.199999999999999</c:v>
                </c:pt>
                <c:pt idx="3">
                  <c:v>17.2</c:v>
                </c:pt>
                <c:pt idx="4">
                  <c:v>17.8</c:v>
                </c:pt>
                <c:pt idx="5">
                  <c:v>16.5</c:v>
                </c:pt>
                <c:pt idx="6">
                  <c:v>13.4</c:v>
                </c:pt>
                <c:pt idx="7">
                  <c:v>10.9</c:v>
                </c:pt>
                <c:pt idx="8">
                  <c:v>10.8</c:v>
                </c:pt>
                <c:pt idx="9">
                  <c:v>8.6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5-A3C3-4A06-A626-367595BA5F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0C0C8"/>
            </a:solidFill>
          </a:ln>
        </c:spPr>
        <c:txPr>
          <a:bodyPr/>
          <a:lstStyle/>
          <a:p>
            <a:pPr>
              <a:defRPr sz="1700">
                <a:solidFill>
                  <a:srgbClr val="00566C"/>
                </a:solidFill>
              </a:defRPr>
            </a:pPr>
            <a:endParaRPr lang="es-CO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4"/>
          <c:min val="0"/>
        </c:scaling>
        <c:delete val="0"/>
        <c:axPos val="l"/>
        <c:majorGridlines>
          <c:spPr>
            <a:ln w="12700">
              <a:solidFill>
                <a:srgbClr val="EFEFF1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858591"/>
                </a:solidFill>
              </a:defRPr>
            </a:pPr>
            <a:endParaRPr lang="es-CO"/>
          </a:p>
        </c:txPr>
        <c:crossAx val="-2068027336"/>
        <c:crosses val="autoZero"/>
        <c:crossBetween val="between"/>
        <c:majorUnit val="4"/>
      </c:valAx>
    </c:plotArea>
    <c:legend>
      <c:legendPos val="t"/>
      <c:overlay val="0"/>
      <c:txPr>
        <a:bodyPr/>
        <a:lstStyle/>
        <a:p>
          <a:pPr>
            <a:defRPr sz="1800">
              <a:solidFill>
                <a:srgbClr val="858591"/>
              </a:solidFill>
            </a:defRPr>
          </a:pPr>
          <a:endParaRPr lang="es-CO"/>
        </a:p>
      </c:txPr>
    </c:legend>
    <c:plotVisOnly val="1"/>
    <c:dispBlanksAs val="gap"/>
    <c:showDLblsOverMax val="1"/>
  </c:chart>
  <c:txPr>
    <a:bodyPr/>
    <a:lstStyle/>
    <a:p>
      <a:pPr>
        <a:defRPr sz="1600">
          <a:solidFill>
            <a:srgbClr val="85859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sMAPE (%)</c:v>
                </c:pt>
              </c:strCache>
            </c:strRef>
          </c:tx>
          <c:spPr>
            <a:ln w="38100">
              <a:solidFill>
                <a:srgbClr val="C0C0C8"/>
              </a:solidFill>
            </a:ln>
          </c:spPr>
          <c:marker>
            <c:symbol val="circle"/>
            <c:size val="9"/>
            <c:spPr>
              <a:solidFill>
                <a:srgbClr val="C0C0C8"/>
              </a:solidFill>
              <a:ln>
                <a:solidFill>
                  <a:srgbClr val="C0C0C8"/>
                </a:solidFill>
              </a:ln>
            </c:spPr>
          </c:marker>
          <c:dPt>
            <c:idx val="0"/>
            <c:marker>
              <c:symbol val="circle"/>
              <c:size val="15"/>
            </c:marker>
            <c:bubble3D val="0"/>
            <c:extLst>
              <c:ext xmlns:c16="http://schemas.microsoft.com/office/drawing/2014/chart" uri="{C3380CC4-5D6E-409C-BE32-E72D297353CC}">
                <c16:uniqueId val="{00000000-B0BC-4D73-A1C2-03B364141E35}"/>
              </c:ext>
            </c:extLst>
          </c:dPt>
          <c:dPt>
            <c:idx val="1"/>
            <c:marker>
              <c:symbol val="circle"/>
              <c:size val="15"/>
              <c:spPr>
                <a:solidFill>
                  <a:srgbClr val="219BC3"/>
                </a:solidFill>
                <a:ln>
                  <a:solidFill>
                    <a:srgbClr val="219BC3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B0BC-4D73-A1C2-03B364141E35}"/>
              </c:ext>
            </c:extLst>
          </c:dPt>
          <c:dPt>
            <c:idx val="2"/>
            <c:marker>
              <c:symbol val="circle"/>
              <c:size val="15"/>
              <c:spPr>
                <a:solidFill>
                  <a:srgbClr val="219BC3"/>
                </a:solidFill>
                <a:ln>
                  <a:solidFill>
                    <a:srgbClr val="219BC3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0BC-4D73-A1C2-03B364141E35}"/>
              </c:ext>
            </c:extLst>
          </c:dPt>
          <c:dPt>
            <c:idx val="3"/>
            <c:marker>
              <c:symbol val="circle"/>
              <c:size val="15"/>
              <c:spPr>
                <a:solidFill>
                  <a:srgbClr val="219BC3"/>
                </a:solidFill>
                <a:ln>
                  <a:solidFill>
                    <a:srgbClr val="219BC3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B0BC-4D73-A1C2-03B364141E35}"/>
              </c:ext>
            </c:extLst>
          </c:dPt>
          <c:dPt>
            <c:idx val="4"/>
            <c:marker>
              <c:symbol val="circle"/>
              <c:size val="15"/>
              <c:spPr>
                <a:solidFill>
                  <a:srgbClr val="858591"/>
                </a:solidFill>
                <a:ln>
                  <a:solidFill>
                    <a:srgbClr val="85859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B0BC-4D73-A1C2-03B364141E35}"/>
              </c:ext>
            </c:extLst>
          </c:dPt>
          <c:dPt>
            <c:idx val="5"/>
            <c:marker>
              <c:symbol val="circle"/>
              <c:size val="15"/>
              <c:spPr>
                <a:solidFill>
                  <a:srgbClr val="858591"/>
                </a:solidFill>
                <a:ln>
                  <a:solidFill>
                    <a:srgbClr val="85859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B0BC-4D73-A1C2-03B364141E35}"/>
              </c:ext>
            </c:extLst>
          </c:dPt>
          <c:dPt>
            <c:idx val="6"/>
            <c:marker>
              <c:symbol val="circle"/>
              <c:size val="15"/>
              <c:spPr>
                <a:solidFill>
                  <a:srgbClr val="858591"/>
                </a:solidFill>
                <a:ln>
                  <a:solidFill>
                    <a:srgbClr val="85859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B0BC-4D73-A1C2-03B364141E3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s-CO" sz="2000" b="1">
                        <a:solidFill>
                          <a:srgbClr val="00566C"/>
                        </a:solidFill>
                        <a:latin typeface="Arial"/>
                      </a:rPr>
                      <a:t>13,7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0BC-4D73-A1C2-03B364141E3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s-CO" sz="2000" b="1">
                        <a:solidFill>
                          <a:srgbClr val="00566C"/>
                        </a:solidFill>
                        <a:latin typeface="Arial"/>
                      </a:rPr>
                      <a:t>10,0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0BC-4D73-A1C2-03B364141E3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s-CO" sz="2000" b="1">
                        <a:solidFill>
                          <a:srgbClr val="00566C"/>
                        </a:solidFill>
                        <a:latin typeface="Arial"/>
                      </a:rPr>
                      <a:t>11,2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0BC-4D73-A1C2-03B364141E3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s-CO" sz="2000" b="1">
                        <a:solidFill>
                          <a:srgbClr val="00566C"/>
                        </a:solidFill>
                        <a:latin typeface="Arial"/>
                      </a:rPr>
                      <a:t>10,8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0BC-4D73-A1C2-03B364141E3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s-CO" sz="2000" b="1">
                        <a:solidFill>
                          <a:srgbClr val="00566C"/>
                        </a:solidFill>
                        <a:latin typeface="Arial"/>
                      </a:rPr>
                      <a:t>11,7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0BC-4D73-A1C2-03B364141E3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s-CO" sz="2000" b="1">
                        <a:solidFill>
                          <a:srgbClr val="00566C"/>
                        </a:solidFill>
                        <a:latin typeface="Arial"/>
                      </a:rPr>
                      <a:t>11,8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0BC-4D73-A1C2-03B364141E3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s-CO" sz="2000" b="1">
                        <a:solidFill>
                          <a:srgbClr val="00566C"/>
                        </a:solidFill>
                        <a:latin typeface="Arial"/>
                      </a:rPr>
                      <a:t>12,4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0BC-4D73-A1C2-03B364141E3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Seasonal Naïve</c:v>
                </c:pt>
                <c:pt idx="1">
                  <c:v>ETS</c:v>
                </c:pt>
                <c:pt idx="2">
                  <c:v>Holt-Winters</c:v>
                </c:pt>
                <c:pt idx="3">
                  <c:v>SARIMA</c:v>
                </c:pt>
                <c:pt idx="4">
                  <c:v>LightGBM</c:v>
                </c:pt>
                <c:pt idx="5">
                  <c:v>MLP</c:v>
                </c:pt>
                <c:pt idx="6">
                  <c:v>N-BEATS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13.667</c:v>
                </c:pt>
                <c:pt idx="1">
                  <c:v>10.005000000000001</c:v>
                </c:pt>
                <c:pt idx="2">
                  <c:v>11.157</c:v>
                </c:pt>
                <c:pt idx="3">
                  <c:v>10.824999999999999</c:v>
                </c:pt>
                <c:pt idx="4">
                  <c:v>11.682</c:v>
                </c:pt>
                <c:pt idx="5">
                  <c:v>11.843999999999999</c:v>
                </c:pt>
                <c:pt idx="6">
                  <c:v>12.375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0BC-4D73-A1C2-03B364141E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0C0C8"/>
            </a:solidFill>
          </a:ln>
        </c:spPr>
        <c:txPr>
          <a:bodyPr/>
          <a:lstStyle/>
          <a:p>
            <a:pPr>
              <a:defRPr sz="1600">
                <a:solidFill>
                  <a:srgbClr val="00566C"/>
                </a:solidFill>
              </a:defRPr>
            </a:pPr>
            <a:endParaRPr lang="es-CO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6"/>
          <c:min val="8"/>
        </c:scaling>
        <c:delete val="0"/>
        <c:axPos val="l"/>
        <c:majorGridlines>
          <c:spPr>
            <a:ln w="12700">
              <a:solidFill>
                <a:srgbClr val="EFEFF1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858591"/>
                </a:solidFill>
              </a:defRPr>
            </a:pPr>
            <a:endParaRPr lang="es-CO"/>
          </a:p>
        </c:txPr>
        <c:crossAx val="2118791784"/>
        <c:crosses val="autoZero"/>
        <c:crossBetween val="between"/>
        <c:majorUnit val="2"/>
      </c:valAx>
    </c:plotArea>
    <c:plotVisOnly val="1"/>
    <c:dispBlanksAs val="gap"/>
    <c:showDLblsOverMax val="0"/>
  </c:chart>
  <c:txPr>
    <a:bodyPr/>
    <a:lstStyle/>
    <a:p>
      <a:pPr>
        <a:defRPr sz="1600">
          <a:solidFill>
            <a:srgbClr val="858591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C118A04-1D67-3011-4A1C-ECEF570C3D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BAC381D-9F40-3552-F04F-16309DE41D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EBA66BD-71A6-4C95-8CD6-F4B3B308CA81}" type="datetimeFigureOut">
              <a:rPr lang="es-ES"/>
              <a:pPr>
                <a:defRPr/>
              </a:pPr>
              <a:t>06/10/2026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2F231DE-20F0-891A-DF20-DDBFB5BEBD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370D1A-4896-4016-1ECD-F49067E9AA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D2932F5-BB6F-43F6-A31C-427097110B06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AA08B2-AA1E-3BE4-2C9A-17441B44EE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D8616-0229-7C7D-19A3-8B63EFC8D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4C51C91-BABB-4F26-86BB-90883EA66459}" type="datetimeFigureOut">
              <a:rPr lang="uk-UA"/>
              <a:pPr>
                <a:defRPr/>
              </a:pPr>
              <a:t>06.10.2026</a:t>
            </a:fld>
            <a:endParaRPr lang="uk-UA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D4895D9-2764-C60C-355C-AE0F97B76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uk-UA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DC1C4D1-ABD7-B560-185A-529D22EB1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uk-U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8D4C4-9CB5-0E25-49BA-740CDEEAE0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3506D-1FF6-003E-3A29-F6463C54B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720152C-13EB-4962-A362-2805D937A1F4}" type="slidenum">
              <a:rPr lang="uk-UA"/>
              <a:pPr>
                <a:defRPr/>
              </a:pPr>
              <a:t>‹Nº›</a:t>
            </a:fld>
            <a:endParaRPr lang="uk-U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0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15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52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87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Persona 1   ·   TIEMPO OBJETIVO: 0,5 min</a:t>
            </a:r>
          </a:p>
          <a:p>
            <a:r>
              <a:t>PREGUNTA QUE RESPONDE: ¿De qué trata el trabajo y quién lo presenta?</a:t>
            </a:r>
          </a:p>
          <a:p>
            <a:endParaRPr/>
          </a:p>
          <a:p>
            <a:r>
              <a:t>QUÉ EXPLICAR:</a:t>
            </a:r>
          </a:p>
          <a:p>
            <a:r>
              <a:t>• Saludar al tribunal y presentar el título, a los tres integrantes y a la directora.</a:t>
            </a:r>
          </a:p>
          <a:p>
            <a:r>
              <a:t>• Anunciar la estructura: 30 minutos en tres intervenciones coordinadas, una sola línea argumental.</a:t>
            </a:r>
          </a:p>
          <a:p>
            <a:endParaRPr/>
          </a:p>
          <a:p>
            <a:r>
              <a:t>MENSAJE QUE DEBE RECORDAR EL TRIBUNAL: Es una comparativa experimental de modelos de pronóstico para FP&amp;A, con evaluación rigurosa y conclusiones prudentes.</a:t>
            </a:r>
          </a:p>
          <a:p>
            <a:endParaRPr/>
          </a:p>
          <a:p>
            <a:r>
              <a:t>TRANSICIÓN: Empezamos por el problema que motiva el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Persona 1   ·   TIEMPO OBJETIVO: 0,5 min</a:t>
            </a:r>
          </a:p>
          <a:p>
            <a:r>
              <a:t>PREGUNTA QUE RESPONDE: ¿Cuál es el hilo argumental de la defensa?</a:t>
            </a:r>
          </a:p>
          <a:p>
            <a:endParaRPr/>
          </a:p>
          <a:p>
            <a:r>
              <a:t>QUÉ EXPLICAR:</a:t>
            </a:r>
          </a:p>
          <a:p>
            <a:r>
              <a:t>• Recorrer los cinco apartados: 01 problema y propuesta (Persona 1); 02 diseño del experimento (Persona 2); 03 resultados (Persona 3); 04 interpretación (Persona 1); 05 cierre, con una frase de cada integrante (Persona 2 lidera).</a:t>
            </a:r>
          </a:p>
          <a:p>
            <a:r>
              <a:t>• Decir que cada diapositiva responde a una pregunta natural del tribunal.</a:t>
            </a:r>
          </a:p>
          <a:p>
            <a:endParaRPr/>
          </a:p>
          <a:p>
            <a:r>
              <a:t>MENSAJE QUE DEBE RECORDAR EL TRIBUNAL: La defensa va de la pregunta a la conclusión: problema → diseño → resultados → interpretación → cierre.</a:t>
            </a:r>
          </a:p>
          <a:p>
            <a:endParaRPr/>
          </a:p>
          <a:p>
            <a:r>
              <a:t>TRANSICIÓN: Veamos primero por qué importa 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Persona 1   ·   TIEMPO OBJETIVO: 1,25 min</a:t>
            </a:r>
          </a:p>
          <a:p>
            <a:r>
              <a:t>PREGUNTA QUE RESPONDE: ¿Por qué importa elegir bien el modelo en FP&amp;A?</a:t>
            </a:r>
          </a:p>
          <a:p>
            <a:endParaRPr/>
          </a:p>
          <a:p>
            <a:r>
              <a:t>QUÉ EXPLICAR:</a:t>
            </a:r>
          </a:p>
          <a:p>
            <a:r>
              <a:t>• FP&amp;A traduce los objetivos estratégicos en planes financieros cuantificables (Armstrong, 2001).</a:t>
            </a:r>
          </a:p>
          <a:p>
            <a:r>
              <a:t>• El error de pronóstico tiene consecuencias directas: recurrir a crédito a corto plazo o inmovilizar capital en reservas (Petropoulos et al., 2022).</a:t>
            </a:r>
          </a:p>
          <a:p>
            <a:r>
              <a:t>• La práctica recurre con frecuencia a criterios heurísticos o al juicio del analista.</a:t>
            </a:r>
          </a:p>
          <a:p>
            <a:r>
              <a:t>• El problema NO es 'modelos simples frente a complejos': es elegir sin evidencia comparativa suficiente sobre qué grado de complejidad es adecuado para cada contexto.</a:t>
            </a:r>
          </a:p>
          <a:p>
            <a:r>
              <a:t>• Por eso se usa validación temporal: la validación cruzada estándar puede dar estimaciones optimistas en series temporales (Bergmeir y Benítez, 2012).</a:t>
            </a:r>
          </a:p>
          <a:p>
            <a:endParaRPr/>
          </a:p>
          <a:p>
            <a:r>
              <a:t>MENSAJE QUE DEBE RECORDAR EL TRIBUNAL: El problema es decidir sin evidencia comparativa, no una preferencia por simple o complejo.</a:t>
            </a:r>
          </a:p>
          <a:p>
            <a:endParaRPr/>
          </a:p>
          <a:p>
            <a:r>
              <a:t>TRANSICIÓN: ¿Qué dice la literatura y qué vacíos deja?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Persona 1   ·   TIEMPO OBJETIVO: 1,25 min</a:t>
            </a:r>
          </a:p>
          <a:p>
            <a:r>
              <a:t>PREGUNTA QUE RESPONDE: ¿Qué vacío concreto intenta cubrir el trabajo?</a:t>
            </a:r>
          </a:p>
          <a:p>
            <a:endParaRPr/>
          </a:p>
          <a:p>
            <a:r>
              <a:t>QUÉ EXPLICAR:</a:t>
            </a:r>
          </a:p>
          <a:p>
            <a:r>
              <a:t>• Tres brechas (Tabla 8): pocos estudios con series financieras corporativas; faltan marcos de evaluación orientados al valor; faltan criterios objetivos de selección en FP&amp;A.</a:t>
            </a:r>
          </a:p>
          <a:p>
            <a:r>
              <a:t>• Para cada una, la respuesta del trabajo; subrayar que las tres quedan SOLO PARCIALMENTE cubiertas.</a:t>
            </a:r>
          </a:p>
          <a:p>
            <a:r>
              <a:t>• Cerrar con la pregunta guía, que es el 'núcleo problemático' del §1.2: qué grado de complejidad algorítmica resulta adecuado para cada contexto.</a:t>
            </a:r>
          </a:p>
          <a:p>
            <a:endParaRPr/>
          </a:p>
          <a:p>
            <a:r>
              <a:t>MENSAJE QUE DEBE RECORDAR EL TRIBUNAL: El trabajo aporta evidencia comparativa y un primer criterio de selección, sin pretender cerrar las brechas.</a:t>
            </a:r>
          </a:p>
          <a:p>
            <a:endParaRPr/>
          </a:p>
          <a:p>
            <a:r>
              <a:t>TRANSICIÓN: Para responder la pregunta guía comparamos siete modelos de cuatro niveles de complejidad.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Persona 1   ·   TIEMPO OBJETIVO: 1,5 min</a:t>
            </a:r>
          </a:p>
          <a:p>
            <a:r>
              <a:t>PREGUNTA QUE RESPONDE: ¿Qué se comparó exactamente y es una comparación justa?</a:t>
            </a:r>
          </a:p>
          <a:p>
            <a:endParaRPr/>
          </a:p>
          <a:p>
            <a:r>
              <a:t>QUÉ EXPLICAR:</a:t>
            </a:r>
          </a:p>
          <a:p>
            <a:r>
              <a:t>• Cuatro niveles de complejidad creciente: baseline (Seasonal Naïve), estadísticos clásicos (ETS, Holt-Winters, SARIMA), machine learning (LightGBM) y deep learning (MLP, N-BEATS).</a:t>
            </a:r>
          </a:p>
          <a:p>
            <a:r>
              <a:t>• Local = un ajuste independiente por serie y fold; global = un único modelo por fold sobre todas las series.</a:t>
            </a:r>
          </a:p>
          <a:p>
            <a:r>
              <a:t>• Decir la limitación sin que se la pregunten: AutoETS y AutoARIMA optimizan por AICc y por serie; LightGBM, MLP y N-BEATS usan hiperparámetros fijados manualmente (detalle en la diapositiva de apoyo 27).</a:t>
            </a:r>
          </a:p>
          <a:p>
            <a:r>
              <a:t>• Se eligió un algoritmo representativo por nivel, no el mayor número posible de modelos.</a:t>
            </a:r>
          </a:p>
          <a:p>
            <a:endParaRPr/>
          </a:p>
          <a:p>
            <a:r>
              <a:t>CÓMO LEER EL VISUAL:</a:t>
            </a:r>
          </a:p>
          <a:p>
            <a:r>
              <a:t>• La 'escalera' sube con la complejidad; las llaves inferiores separan locales y globales.</a:t>
            </a:r>
          </a:p>
          <a:p>
            <a:endParaRPr/>
          </a:p>
          <a:p>
            <a:r>
              <a:t>MENSAJE QUE DEBE RECORDAR EL TRIBUNAL: Siete modelos comparables bajo el mismo protocolo, con una asimetría de optimización reconocida.</a:t>
            </a:r>
          </a:p>
          <a:p>
            <a:endParaRPr/>
          </a:p>
          <a:p>
            <a:r>
              <a:t>TRANSICIÓN: Persona 2 explica cómo se diseñó la evaluación para que fuera rigurosa y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1</a:t>
            </a:r>
            <a:r>
              <a:rPr dirty="0"/>
              <a:t>   ·   TIEMPO OBJETIVO: 1,0 min</a:t>
            </a:r>
          </a:p>
          <a:p>
            <a:r>
              <a:rPr dirty="0"/>
              <a:t>PREGUNTA QUE RESPONDE: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objetivos</a:t>
            </a:r>
            <a:r>
              <a:rPr dirty="0"/>
              <a:t> se </a:t>
            </a:r>
            <a:r>
              <a:rPr dirty="0" err="1"/>
              <a:t>plantearon</a:t>
            </a:r>
            <a:r>
              <a:rPr dirty="0"/>
              <a:t> y 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verifican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</a:t>
            </a:r>
            <a:r>
              <a:rPr dirty="0" err="1"/>
              <a:t>Objetivo</a:t>
            </a:r>
            <a:r>
              <a:rPr dirty="0"/>
              <a:t> general: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siete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200 series de M4 Financial Monthly con </a:t>
            </a:r>
            <a:r>
              <a:rPr dirty="0" err="1"/>
              <a:t>backtesting</a:t>
            </a:r>
            <a:r>
              <a:rPr dirty="0"/>
              <a:t> walk-forward y formular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propuesta</a:t>
            </a:r>
            <a:r>
              <a:rPr dirty="0"/>
              <a:t> </a:t>
            </a:r>
            <a:r>
              <a:rPr dirty="0" err="1"/>
              <a:t>preliminar</a:t>
            </a:r>
            <a:r>
              <a:rPr dirty="0"/>
              <a:t> de </a:t>
            </a:r>
            <a:r>
              <a:rPr dirty="0" err="1"/>
              <a:t>criterios</a:t>
            </a:r>
            <a:r>
              <a:rPr dirty="0"/>
              <a:t> </a:t>
            </a:r>
            <a:r>
              <a:rPr dirty="0" err="1"/>
              <a:t>heurísticos</a:t>
            </a:r>
            <a:r>
              <a:rPr dirty="0"/>
              <a:t>.</a:t>
            </a:r>
          </a:p>
          <a:p>
            <a:r>
              <a:rPr dirty="0"/>
              <a:t>• Cinco </a:t>
            </a: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; </a:t>
            </a:r>
            <a:r>
              <a:rPr dirty="0" err="1"/>
              <a:t>avisar</a:t>
            </a:r>
            <a:r>
              <a:rPr dirty="0"/>
              <a:t> de </a:t>
            </a:r>
            <a:r>
              <a:rPr dirty="0" err="1"/>
              <a:t>que</a:t>
            </a:r>
            <a:r>
              <a:rPr dirty="0"/>
              <a:t> al final se </a:t>
            </a:r>
            <a:r>
              <a:rPr dirty="0" err="1"/>
              <a:t>valorará</a:t>
            </a:r>
            <a:r>
              <a:rPr dirty="0"/>
              <a:t> el </a:t>
            </a:r>
            <a:r>
              <a:rPr dirty="0" err="1"/>
              <a:t>grado</a:t>
            </a:r>
            <a:r>
              <a:rPr dirty="0"/>
              <a:t> de </a:t>
            </a:r>
            <a:r>
              <a:rPr dirty="0" err="1"/>
              <a:t>cumplimiento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uno (cuatro </a:t>
            </a:r>
            <a:r>
              <a:rPr dirty="0" err="1"/>
              <a:t>alcanzados</a:t>
            </a:r>
            <a:r>
              <a:rPr dirty="0"/>
              <a:t> y OE5 </a:t>
            </a:r>
            <a:r>
              <a:rPr dirty="0" err="1"/>
              <a:t>parcialmente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MENSAJE QUE DEBE RECORDAR EL TRIBUNAL: Los </a:t>
            </a:r>
            <a:r>
              <a:rPr dirty="0" err="1"/>
              <a:t>objetivos</a:t>
            </a:r>
            <a:r>
              <a:rPr dirty="0"/>
              <a:t> son </a:t>
            </a:r>
            <a:r>
              <a:rPr dirty="0" err="1"/>
              <a:t>verificables</a:t>
            </a:r>
            <a:r>
              <a:rPr dirty="0"/>
              <a:t> y el </a:t>
            </a:r>
            <a:r>
              <a:rPr dirty="0" err="1"/>
              <a:t>cierre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evaluará</a:t>
            </a:r>
            <a:r>
              <a:rPr dirty="0"/>
              <a:t> uno </a:t>
            </a:r>
            <a:r>
              <a:rPr dirty="0" err="1"/>
              <a:t>por</a:t>
            </a:r>
            <a:r>
              <a:rPr dirty="0"/>
              <a:t> uno.</a:t>
            </a:r>
          </a:p>
          <a:p>
            <a:endParaRPr dirty="0"/>
          </a:p>
          <a:p>
            <a:r>
              <a:rPr dirty="0"/>
              <a:t>TRANSICIÓN: Para </a:t>
            </a:r>
            <a:r>
              <a:rPr dirty="0" err="1"/>
              <a:t>cumplirlos</a:t>
            </a:r>
            <a:r>
              <a:rPr dirty="0"/>
              <a:t> se </a:t>
            </a:r>
            <a:r>
              <a:rPr dirty="0" err="1"/>
              <a:t>construyó</a:t>
            </a:r>
            <a:r>
              <a:rPr dirty="0"/>
              <a:t> un pipeline modular.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1</a:t>
            </a:r>
            <a:r>
              <a:rPr dirty="0"/>
              <a:t>   ·   TIEMPO OBJETIVO: 1,0 min</a:t>
            </a:r>
          </a:p>
          <a:p>
            <a:r>
              <a:rPr dirty="0"/>
              <a:t>PREGUNTA QUE RESPONDE: ¿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garantiza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comparación</a:t>
            </a:r>
            <a:r>
              <a:rPr dirty="0"/>
              <a:t> </a:t>
            </a:r>
            <a:r>
              <a:rPr dirty="0" err="1"/>
              <a:t>homogénea</a:t>
            </a:r>
            <a:r>
              <a:rPr dirty="0"/>
              <a:t> y reproducible?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Cuatro </a:t>
            </a:r>
            <a:r>
              <a:rPr dirty="0" err="1"/>
              <a:t>bloques</a:t>
            </a:r>
            <a:r>
              <a:rPr dirty="0"/>
              <a:t>: </a:t>
            </a:r>
            <a:r>
              <a:rPr dirty="0" err="1"/>
              <a:t>datos</a:t>
            </a:r>
            <a:r>
              <a:rPr dirty="0"/>
              <a:t>, </a:t>
            </a:r>
            <a:r>
              <a:rPr dirty="0" err="1"/>
              <a:t>validación</a:t>
            </a:r>
            <a:r>
              <a:rPr dirty="0"/>
              <a:t> temporal, </a:t>
            </a:r>
            <a:r>
              <a:rPr dirty="0" err="1"/>
              <a:t>modelos</a:t>
            </a:r>
            <a:r>
              <a:rPr dirty="0"/>
              <a:t> y </a:t>
            </a:r>
            <a:r>
              <a:rPr dirty="0" err="1"/>
              <a:t>evaluación</a:t>
            </a:r>
            <a:r>
              <a:rPr dirty="0"/>
              <a:t>.</a:t>
            </a:r>
          </a:p>
          <a:p>
            <a:r>
              <a:rPr dirty="0"/>
              <a:t>• Todos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cumplen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interfaz</a:t>
            </a:r>
            <a:r>
              <a:rPr dirty="0"/>
              <a:t> </a:t>
            </a:r>
            <a:r>
              <a:rPr dirty="0" err="1"/>
              <a:t>común</a:t>
            </a:r>
            <a:r>
              <a:rPr dirty="0"/>
              <a:t> (</a:t>
            </a:r>
            <a:r>
              <a:rPr dirty="0" err="1"/>
              <a:t>BaseForecaster</a:t>
            </a:r>
            <a:r>
              <a:rPr dirty="0"/>
              <a:t> / </a:t>
            </a:r>
            <a:r>
              <a:rPr dirty="0" err="1"/>
              <a:t>GlobalBaseForecaster</a:t>
            </a:r>
            <a:r>
              <a:rPr dirty="0"/>
              <a:t>) y se </a:t>
            </a:r>
            <a:r>
              <a:rPr dirty="0" err="1"/>
              <a:t>evalúan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exactamente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mismos</a:t>
            </a:r>
            <a:r>
              <a:rPr dirty="0"/>
              <a:t> folds.</a:t>
            </a:r>
          </a:p>
          <a:p>
            <a:r>
              <a:rPr dirty="0"/>
              <a:t>• </a:t>
            </a:r>
            <a:r>
              <a:rPr dirty="0" err="1"/>
              <a:t>Orquestación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notebooks/</a:t>
            </a:r>
            <a:r>
              <a:rPr dirty="0" err="1"/>
              <a:t>main.ipynb</a:t>
            </a:r>
            <a:r>
              <a:rPr dirty="0"/>
              <a:t> y run_experiment.py;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CSV y PNG; </a:t>
            </a:r>
            <a:r>
              <a:rPr dirty="0" err="1"/>
              <a:t>repositorio</a:t>
            </a:r>
            <a:r>
              <a:rPr dirty="0"/>
              <a:t> </a:t>
            </a:r>
            <a:r>
              <a:rPr dirty="0" err="1"/>
              <a:t>público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GitHub.</a:t>
            </a:r>
          </a:p>
          <a:p>
            <a:endParaRPr dirty="0"/>
          </a:p>
          <a:p>
            <a:r>
              <a:rPr dirty="0"/>
              <a:t>CÓMO LEER EL VISUAL:</a:t>
            </a:r>
          </a:p>
          <a:p>
            <a:r>
              <a:rPr dirty="0"/>
              <a:t>• Las </a:t>
            </a:r>
            <a:r>
              <a:rPr dirty="0" err="1"/>
              <a:t>flechas</a:t>
            </a:r>
            <a:r>
              <a:rPr dirty="0"/>
              <a:t> </a:t>
            </a:r>
            <a:r>
              <a:rPr dirty="0" err="1"/>
              <a:t>muestran</a:t>
            </a:r>
            <a:r>
              <a:rPr dirty="0"/>
              <a:t> el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; la </a:t>
            </a:r>
            <a:r>
              <a:rPr dirty="0" err="1"/>
              <a:t>banda</a:t>
            </a:r>
            <a:r>
              <a:rPr dirty="0"/>
              <a:t> inferior es la </a:t>
            </a:r>
            <a:r>
              <a:rPr dirty="0" err="1"/>
              <a:t>orquestación</a:t>
            </a:r>
            <a:r>
              <a:rPr dirty="0"/>
              <a:t> y las </a:t>
            </a:r>
            <a:r>
              <a:rPr dirty="0" err="1"/>
              <a:t>salidas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Un pipeline modular y </a:t>
            </a:r>
            <a:r>
              <a:rPr dirty="0" err="1"/>
              <a:t>documentado</a:t>
            </a:r>
            <a:r>
              <a:rPr dirty="0"/>
              <a:t>, </a:t>
            </a:r>
            <a:r>
              <a:rPr dirty="0" err="1"/>
              <a:t>diseñado</a:t>
            </a:r>
            <a:r>
              <a:rPr dirty="0"/>
              <a:t> para </a:t>
            </a:r>
            <a:r>
              <a:rPr dirty="0" err="1"/>
              <a:t>favorecer</a:t>
            </a:r>
            <a:r>
              <a:rPr dirty="0"/>
              <a:t> la </a:t>
            </a:r>
            <a:r>
              <a:rPr dirty="0" err="1"/>
              <a:t>reproducibilidad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</a:t>
            </a:r>
            <a:r>
              <a:rPr dirty="0" err="1"/>
              <a:t>Veamos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ejecuta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1</a:t>
            </a:r>
            <a:r>
              <a:rPr dirty="0"/>
              <a:t>   ·   TIEMPO OBJETIVO: 1,25 min</a:t>
            </a:r>
          </a:p>
          <a:p>
            <a:r>
              <a:rPr dirty="0"/>
              <a:t>PREGUNTA QUE RESPONDE: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se </a:t>
            </a:r>
            <a:r>
              <a:rPr dirty="0" err="1"/>
              <a:t>usaron</a:t>
            </a:r>
            <a:r>
              <a:rPr dirty="0"/>
              <a:t> y son </a:t>
            </a:r>
            <a:r>
              <a:rPr dirty="0" err="1"/>
              <a:t>representativos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M4 Financial Monthly: 10.987 series; 8.493 con al </a:t>
            </a:r>
            <a:r>
              <a:rPr dirty="0" err="1"/>
              <a:t>menos</a:t>
            </a:r>
            <a:r>
              <a:rPr dirty="0"/>
              <a:t> 72 meses (77,3 %),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garantiza</a:t>
            </a:r>
            <a:r>
              <a:rPr dirty="0"/>
              <a:t> al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iteración</a:t>
            </a:r>
            <a:r>
              <a:rPr dirty="0"/>
              <a:t> walk-forward; </a:t>
            </a:r>
            <a:r>
              <a:rPr dirty="0" err="1"/>
              <a:t>submuestra</a:t>
            </a:r>
            <a:r>
              <a:rPr dirty="0"/>
              <a:t> </a:t>
            </a:r>
            <a:r>
              <a:rPr dirty="0" err="1"/>
              <a:t>estratificada</a:t>
            </a:r>
            <a:r>
              <a:rPr dirty="0"/>
              <a:t> de 200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cuartil</a:t>
            </a:r>
            <a:r>
              <a:rPr dirty="0"/>
              <a:t> de </a:t>
            </a:r>
            <a:r>
              <a:rPr dirty="0" err="1"/>
              <a:t>longitud</a:t>
            </a:r>
            <a:r>
              <a:rPr dirty="0"/>
              <a:t>, SEED = 42.</a:t>
            </a:r>
          </a:p>
          <a:p>
            <a:r>
              <a:rPr dirty="0"/>
              <a:t>• Se </a:t>
            </a:r>
            <a:r>
              <a:rPr dirty="0" err="1"/>
              <a:t>redujo</a:t>
            </a:r>
            <a:r>
              <a:rPr dirty="0"/>
              <a:t> de 400 a 200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coste</a:t>
            </a:r>
            <a:r>
              <a:rPr dirty="0"/>
              <a:t> </a:t>
            </a:r>
            <a:r>
              <a:rPr dirty="0" err="1"/>
              <a:t>computacional</a:t>
            </a:r>
            <a:r>
              <a:rPr dirty="0"/>
              <a:t> (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estadísticos</a:t>
            </a:r>
            <a:r>
              <a:rPr dirty="0"/>
              <a:t> locales </a:t>
            </a:r>
            <a:r>
              <a:rPr dirty="0" err="1"/>
              <a:t>tardan</a:t>
            </a:r>
            <a:r>
              <a:rPr dirty="0"/>
              <a:t> ≈ 5,7 min con N = 200 </a:t>
            </a:r>
            <a:r>
              <a:rPr dirty="0" err="1"/>
              <a:t>frente</a:t>
            </a:r>
            <a:r>
              <a:rPr dirty="0"/>
              <a:t> a ≈ 11,4 min con N = 400).</a:t>
            </a:r>
          </a:p>
          <a:p>
            <a:r>
              <a:rPr dirty="0"/>
              <a:t>• </a:t>
            </a:r>
            <a:r>
              <a:rPr dirty="0" err="1"/>
              <a:t>Representatividad</a:t>
            </a:r>
            <a:r>
              <a:rPr dirty="0"/>
              <a:t>: el </a:t>
            </a:r>
            <a:r>
              <a:rPr dirty="0" err="1"/>
              <a:t>diseño</a:t>
            </a:r>
            <a:r>
              <a:rPr dirty="0"/>
              <a:t> solo </a:t>
            </a:r>
            <a:r>
              <a:rPr dirty="0" err="1"/>
              <a:t>garantiza</a:t>
            </a:r>
            <a:r>
              <a:rPr dirty="0"/>
              <a:t> la </a:t>
            </a:r>
            <a:r>
              <a:rPr dirty="0" err="1"/>
              <a:t>distribución</a:t>
            </a:r>
            <a:r>
              <a:rPr dirty="0"/>
              <a:t> de longitudes (KS = 0,053; p = 0,63); </a:t>
            </a:r>
            <a:r>
              <a:rPr dirty="0" err="1"/>
              <a:t>escala</a:t>
            </a:r>
            <a:r>
              <a:rPr dirty="0"/>
              <a:t>, </a:t>
            </a:r>
            <a:r>
              <a:rPr dirty="0" err="1"/>
              <a:t>volatilidad</a:t>
            </a:r>
            <a:r>
              <a:rPr dirty="0"/>
              <a:t> y </a:t>
            </a:r>
            <a:r>
              <a:rPr dirty="0" err="1"/>
              <a:t>tendencia</a:t>
            </a:r>
            <a:r>
              <a:rPr dirty="0"/>
              <a:t> </a:t>
            </a:r>
            <a:r>
              <a:rPr dirty="0" err="1"/>
              <a:t>coinciden</a:t>
            </a:r>
            <a:r>
              <a:rPr dirty="0"/>
              <a:t> </a:t>
            </a:r>
            <a:r>
              <a:rPr dirty="0" err="1"/>
              <a:t>empíricamente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diseño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Insistir</a:t>
            </a:r>
            <a:r>
              <a:rPr dirty="0"/>
              <a:t>: es un proxy </a:t>
            </a:r>
            <a:r>
              <a:rPr dirty="0" err="1"/>
              <a:t>metodológico</a:t>
            </a:r>
            <a:r>
              <a:rPr dirty="0"/>
              <a:t>, no </a:t>
            </a:r>
            <a:r>
              <a:rPr dirty="0" err="1"/>
              <a:t>cuentas</a:t>
            </a:r>
            <a:r>
              <a:rPr dirty="0"/>
              <a:t> P&amp;L </a:t>
            </a:r>
            <a:r>
              <a:rPr dirty="0" err="1"/>
              <a:t>corporativas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CÓMO LEER EL VISUAL:</a:t>
            </a:r>
          </a:p>
          <a:p>
            <a:r>
              <a:rPr dirty="0"/>
              <a:t>• De </a:t>
            </a:r>
            <a:r>
              <a:rPr dirty="0" err="1"/>
              <a:t>arriba</a:t>
            </a:r>
            <a:r>
              <a:rPr dirty="0"/>
              <a:t> </a:t>
            </a:r>
            <a:r>
              <a:rPr dirty="0" err="1"/>
              <a:t>abajo</a:t>
            </a:r>
            <a:r>
              <a:rPr dirty="0"/>
              <a:t>, el </a:t>
            </a:r>
            <a:r>
              <a:rPr dirty="0" err="1"/>
              <a:t>embudo</a:t>
            </a:r>
            <a:r>
              <a:rPr dirty="0"/>
              <a:t> de </a:t>
            </a:r>
            <a:r>
              <a:rPr dirty="0" err="1"/>
              <a:t>selección</a:t>
            </a:r>
            <a:r>
              <a:rPr dirty="0"/>
              <a:t>; a la </a:t>
            </a:r>
            <a:r>
              <a:rPr dirty="0" err="1"/>
              <a:t>derecha</a:t>
            </a:r>
            <a:r>
              <a:rPr dirty="0"/>
              <a:t>, la </a:t>
            </a:r>
            <a:r>
              <a:rPr dirty="0" err="1"/>
              <a:t>comparación</a:t>
            </a:r>
            <a:r>
              <a:rPr dirty="0"/>
              <a:t> población / </a:t>
            </a:r>
            <a:r>
              <a:rPr dirty="0" err="1"/>
              <a:t>muestra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Datos </a:t>
            </a:r>
            <a:r>
              <a:rPr dirty="0" err="1"/>
              <a:t>públicos</a:t>
            </a:r>
            <a:r>
              <a:rPr dirty="0"/>
              <a:t> y comparables con </a:t>
            </a:r>
            <a:r>
              <a:rPr dirty="0" err="1"/>
              <a:t>otros</a:t>
            </a:r>
            <a:r>
              <a:rPr dirty="0"/>
              <a:t> </a:t>
            </a:r>
            <a:r>
              <a:rPr dirty="0" err="1"/>
              <a:t>estudios</a:t>
            </a:r>
            <a:r>
              <a:rPr dirty="0"/>
              <a:t>, </a:t>
            </a:r>
            <a:r>
              <a:rPr dirty="0" err="1"/>
              <a:t>usados</a:t>
            </a:r>
            <a:r>
              <a:rPr dirty="0"/>
              <a:t> con la cautela de </a:t>
            </a:r>
            <a:r>
              <a:rPr dirty="0" err="1"/>
              <a:t>que</a:t>
            </a:r>
            <a:r>
              <a:rPr dirty="0"/>
              <a:t> son un proxy.</a:t>
            </a:r>
          </a:p>
          <a:p>
            <a:endParaRPr dirty="0"/>
          </a:p>
          <a:p>
            <a:r>
              <a:rPr dirty="0"/>
              <a:t>TRANSICIÓN: </a:t>
            </a:r>
            <a:r>
              <a:rPr dirty="0" err="1"/>
              <a:t>Ahora</a:t>
            </a:r>
            <a:r>
              <a:rPr dirty="0"/>
              <a:t>, 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evaluó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ellos</a:t>
            </a:r>
            <a:r>
              <a:rPr dirty="0"/>
              <a:t>: el </a:t>
            </a:r>
            <a:r>
              <a:rPr dirty="0" err="1"/>
              <a:t>protocolo</a:t>
            </a:r>
            <a:r>
              <a:rPr dirty="0"/>
              <a:t> walk-forward.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</a:t>
            </a:r>
            <a:r>
              <a:t>Persona    </a:t>
            </a:r>
            <a:r>
              <a:rPr dirty="0"/>
              <a:t>·   TIEMPO OBJETIVO: 1,5 min</a:t>
            </a:r>
          </a:p>
          <a:p>
            <a:r>
              <a:rPr dirty="0"/>
              <a:t>PREGUNTA QUE RESPONDE: ¿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evita</a:t>
            </a:r>
            <a:r>
              <a:rPr dirty="0"/>
              <a:t> la </a:t>
            </a:r>
            <a:r>
              <a:rPr dirty="0" err="1"/>
              <a:t>fuga</a:t>
            </a:r>
            <a:r>
              <a:rPr dirty="0"/>
              <a:t> de </a:t>
            </a:r>
            <a:r>
              <a:rPr dirty="0" err="1"/>
              <a:t>información</a:t>
            </a:r>
            <a:r>
              <a:rPr dirty="0"/>
              <a:t> y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significan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cinco</a:t>
            </a:r>
            <a:r>
              <a:rPr dirty="0"/>
              <a:t> folds?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Ventana de </a:t>
            </a:r>
            <a:r>
              <a:rPr dirty="0" err="1"/>
              <a:t>entrenamiento</a:t>
            </a:r>
            <a:r>
              <a:rPr dirty="0"/>
              <a:t> </a:t>
            </a:r>
            <a:r>
              <a:rPr dirty="0" err="1"/>
              <a:t>creciente</a:t>
            </a:r>
            <a:r>
              <a:rPr dirty="0"/>
              <a:t> (expanding window): 54 meses </a:t>
            </a:r>
            <a:r>
              <a:rPr dirty="0" err="1"/>
              <a:t>iniciales</a:t>
            </a:r>
            <a:r>
              <a:rPr dirty="0"/>
              <a:t>, </a:t>
            </a:r>
            <a:r>
              <a:rPr dirty="0" err="1"/>
              <a:t>horizonte</a:t>
            </a:r>
            <a:r>
              <a:rPr dirty="0"/>
              <a:t> de 18 y paso de 12; se </a:t>
            </a:r>
            <a:r>
              <a:rPr dirty="0" err="1"/>
              <a:t>retienen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máximo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5 folds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recientes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serie</a:t>
            </a:r>
            <a:r>
              <a:rPr dirty="0"/>
              <a:t>.</a:t>
            </a:r>
          </a:p>
          <a:p>
            <a:r>
              <a:rPr dirty="0"/>
              <a:t>• El </a:t>
            </a:r>
            <a:r>
              <a:rPr dirty="0" err="1"/>
              <a:t>horizonte</a:t>
            </a:r>
            <a:r>
              <a:rPr dirty="0"/>
              <a:t> de </a:t>
            </a:r>
            <a:r>
              <a:rPr dirty="0" err="1"/>
              <a:t>evaluación</a:t>
            </a:r>
            <a:r>
              <a:rPr dirty="0"/>
              <a:t> es </a:t>
            </a:r>
            <a:r>
              <a:rPr dirty="0" err="1"/>
              <a:t>siempre</a:t>
            </a:r>
            <a:r>
              <a:rPr dirty="0"/>
              <a:t> posterior al </a:t>
            </a:r>
            <a:r>
              <a:rPr dirty="0" err="1"/>
              <a:t>entrenamiento</a:t>
            </a:r>
            <a:r>
              <a:rPr dirty="0"/>
              <a:t>: </a:t>
            </a:r>
            <a:r>
              <a:rPr dirty="0" err="1"/>
              <a:t>nunca</a:t>
            </a:r>
            <a:r>
              <a:rPr dirty="0"/>
              <a:t> se </a:t>
            </a:r>
            <a:r>
              <a:rPr dirty="0" err="1"/>
              <a:t>usan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del </a:t>
            </a:r>
            <a:r>
              <a:rPr dirty="0" err="1"/>
              <a:t>futuro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ajuste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Distribución</a:t>
            </a:r>
            <a:r>
              <a:rPr dirty="0"/>
              <a:t> real: 173 series con </a:t>
            </a:r>
            <a:r>
              <a:rPr dirty="0" err="1"/>
              <a:t>los</a:t>
            </a:r>
            <a:r>
              <a:rPr dirty="0"/>
              <a:t> 5 folds (86,5 %), 5 con 4, </a:t>
            </a:r>
            <a:r>
              <a:rPr dirty="0" err="1"/>
              <a:t>ninguna</a:t>
            </a:r>
            <a:r>
              <a:rPr dirty="0"/>
              <a:t> con 3, 2 con 2 y 20 con un solo fold; </a:t>
            </a:r>
            <a:r>
              <a:rPr dirty="0" err="1"/>
              <a:t>estas</a:t>
            </a:r>
            <a:r>
              <a:rPr dirty="0"/>
              <a:t> 20 se </a:t>
            </a:r>
            <a:r>
              <a:rPr dirty="0" err="1"/>
              <a:t>excluyen</a:t>
            </a:r>
            <a:r>
              <a:rPr dirty="0"/>
              <a:t> del CV temporal </a:t>
            </a:r>
            <a:r>
              <a:rPr dirty="0" err="1"/>
              <a:t>porque</a:t>
            </a:r>
            <a:r>
              <a:rPr dirty="0"/>
              <a:t> la </a:t>
            </a:r>
            <a:r>
              <a:rPr dirty="0" err="1"/>
              <a:t>desviación</a:t>
            </a:r>
            <a:r>
              <a:rPr dirty="0"/>
              <a:t> </a:t>
            </a:r>
            <a:r>
              <a:rPr dirty="0" err="1"/>
              <a:t>típica</a:t>
            </a:r>
            <a:r>
              <a:rPr dirty="0"/>
              <a:t> no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definida</a:t>
            </a:r>
            <a:r>
              <a:rPr dirty="0"/>
              <a:t> con n = 1.</a:t>
            </a:r>
          </a:p>
          <a:p>
            <a:endParaRPr dirty="0"/>
          </a:p>
          <a:p>
            <a:r>
              <a:rPr dirty="0"/>
              <a:t>CÓMO LEER EL VISUAL:</a:t>
            </a:r>
          </a:p>
          <a:p>
            <a:r>
              <a:rPr dirty="0"/>
              <a:t>• Cada fila es un fold: </a:t>
            </a:r>
            <a:r>
              <a:rPr dirty="0" err="1"/>
              <a:t>azul</a:t>
            </a:r>
            <a:r>
              <a:rPr dirty="0"/>
              <a:t> = </a:t>
            </a:r>
            <a:r>
              <a:rPr dirty="0" err="1"/>
              <a:t>entrenamiento</a:t>
            </a:r>
            <a:r>
              <a:rPr dirty="0"/>
              <a:t> (</a:t>
            </a:r>
            <a:r>
              <a:rPr dirty="0" err="1"/>
              <a:t>crece</a:t>
            </a:r>
            <a:r>
              <a:rPr dirty="0"/>
              <a:t> 12 meses </a:t>
            </a:r>
            <a:r>
              <a:rPr dirty="0" err="1"/>
              <a:t>por</a:t>
            </a:r>
            <a:r>
              <a:rPr dirty="0"/>
              <a:t> fold); </a:t>
            </a:r>
            <a:r>
              <a:rPr dirty="0" err="1"/>
              <a:t>verde</a:t>
            </a:r>
            <a:r>
              <a:rPr dirty="0"/>
              <a:t> </a:t>
            </a:r>
            <a:r>
              <a:rPr dirty="0" err="1"/>
              <a:t>azulado</a:t>
            </a:r>
            <a:r>
              <a:rPr dirty="0"/>
              <a:t> </a:t>
            </a:r>
            <a:r>
              <a:rPr dirty="0" err="1"/>
              <a:t>oscuro</a:t>
            </a:r>
            <a:r>
              <a:rPr dirty="0"/>
              <a:t> = </a:t>
            </a:r>
            <a:r>
              <a:rPr dirty="0" err="1"/>
              <a:t>horizonte</a:t>
            </a:r>
            <a:r>
              <a:rPr dirty="0"/>
              <a:t> de 18 meses.</a:t>
            </a:r>
          </a:p>
          <a:p>
            <a:r>
              <a:rPr dirty="0"/>
              <a:t>• Los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recuadros</a:t>
            </a:r>
            <a:r>
              <a:rPr dirty="0"/>
              <a:t> </a:t>
            </a:r>
            <a:r>
              <a:rPr dirty="0" err="1"/>
              <a:t>inferiores</a:t>
            </a:r>
            <a:r>
              <a:rPr dirty="0"/>
              <a:t> </a:t>
            </a:r>
            <a:r>
              <a:rPr dirty="0" err="1"/>
              <a:t>cuentan</a:t>
            </a:r>
            <a:r>
              <a:rPr dirty="0"/>
              <a:t> series </a:t>
            </a:r>
            <a:r>
              <a:rPr dirty="0" err="1"/>
              <a:t>según</a:t>
            </a:r>
            <a:r>
              <a:rPr dirty="0"/>
              <a:t> folds </a:t>
            </a:r>
            <a:r>
              <a:rPr dirty="0" err="1"/>
              <a:t>retenidos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El </a:t>
            </a:r>
            <a:r>
              <a:rPr dirty="0" err="1"/>
              <a:t>protocolo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ver</a:t>
            </a:r>
            <a:r>
              <a:rPr dirty="0"/>
              <a:t> el </a:t>
            </a:r>
            <a:r>
              <a:rPr dirty="0" err="1"/>
              <a:t>desempeño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varios</a:t>
            </a:r>
            <a:r>
              <a:rPr dirty="0"/>
              <a:t> </a:t>
            </a:r>
            <a:r>
              <a:rPr dirty="0" err="1"/>
              <a:t>orígenes</a:t>
            </a:r>
            <a:r>
              <a:rPr dirty="0"/>
              <a:t> de </a:t>
            </a:r>
            <a:r>
              <a:rPr dirty="0" err="1"/>
              <a:t>pronóstico</a:t>
            </a:r>
            <a:r>
              <a:rPr dirty="0"/>
              <a:t> y no solo </a:t>
            </a:r>
            <a:r>
              <a:rPr dirty="0" err="1"/>
              <a:t>en</a:t>
            </a:r>
            <a:r>
              <a:rPr dirty="0"/>
              <a:t> un corte.</a:t>
            </a:r>
          </a:p>
          <a:p>
            <a:endParaRPr dirty="0"/>
          </a:p>
          <a:p>
            <a:r>
              <a:rPr dirty="0"/>
              <a:t>TRANSICIÓN: Este </a:t>
            </a:r>
            <a:r>
              <a:rPr dirty="0" err="1"/>
              <a:t>diseño</a:t>
            </a:r>
            <a:r>
              <a:rPr dirty="0"/>
              <a:t> se </a:t>
            </a:r>
            <a:r>
              <a:rPr dirty="0" err="1"/>
              <a:t>verifica</a:t>
            </a:r>
            <a:r>
              <a:rPr dirty="0"/>
              <a:t> de forma </a:t>
            </a:r>
            <a:r>
              <a:rPr dirty="0" err="1"/>
              <a:t>automática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2   ·   TIEMPO OBJETIVO: 1,0 min</a:t>
            </a:r>
          </a:p>
          <a:p>
            <a:r>
              <a:rPr dirty="0"/>
              <a:t>PREGUNTA QUE RESPONDE: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garantías</a:t>
            </a:r>
            <a:r>
              <a:rPr dirty="0"/>
              <a:t> hay de </a:t>
            </a:r>
            <a:r>
              <a:rPr dirty="0" err="1"/>
              <a:t>que</a:t>
            </a:r>
            <a:r>
              <a:rPr dirty="0"/>
              <a:t> el pipeline es </a:t>
            </a:r>
            <a:r>
              <a:rPr dirty="0" err="1"/>
              <a:t>correcto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</a:t>
            </a:r>
            <a:r>
              <a:rPr dirty="0" err="1"/>
              <a:t>verify_no_leakage</a:t>
            </a:r>
            <a:r>
              <a:rPr dirty="0"/>
              <a:t> se </a:t>
            </a:r>
            <a:r>
              <a:rPr dirty="0" err="1"/>
              <a:t>ejecutó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las 200 series (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predepósito</a:t>
            </a:r>
            <a:r>
              <a:rPr dirty="0"/>
              <a:t> se </a:t>
            </a:r>
            <a:r>
              <a:rPr dirty="0" err="1"/>
              <a:t>hizo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de 10) y no </a:t>
            </a:r>
            <a:r>
              <a:rPr dirty="0" err="1"/>
              <a:t>detectó</a:t>
            </a:r>
            <a:r>
              <a:rPr dirty="0"/>
              <a:t> </a:t>
            </a:r>
            <a:r>
              <a:rPr dirty="0" err="1"/>
              <a:t>fuga</a:t>
            </a:r>
            <a:r>
              <a:rPr dirty="0"/>
              <a:t>.</a:t>
            </a:r>
          </a:p>
          <a:p>
            <a:r>
              <a:rPr dirty="0"/>
              <a:t>• 20/20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automatizadas</a:t>
            </a:r>
            <a:r>
              <a:rPr dirty="0"/>
              <a:t>: 14 de </a:t>
            </a:r>
            <a:r>
              <a:rPr dirty="0" err="1"/>
              <a:t>métricas</a:t>
            </a:r>
            <a:r>
              <a:rPr dirty="0"/>
              <a:t> (</a:t>
            </a:r>
            <a:r>
              <a:rPr dirty="0" err="1"/>
              <a:t>validadas</a:t>
            </a:r>
            <a:r>
              <a:rPr dirty="0"/>
              <a:t> contra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manuales</a:t>
            </a:r>
            <a:r>
              <a:rPr dirty="0"/>
              <a:t>) y 6 de </a:t>
            </a:r>
            <a:r>
              <a:rPr dirty="0" err="1"/>
              <a:t>backtesting</a:t>
            </a:r>
            <a:r>
              <a:rPr dirty="0"/>
              <a:t>.</a:t>
            </a:r>
          </a:p>
          <a:p>
            <a:r>
              <a:rPr dirty="0"/>
              <a:t>• Semilla </a:t>
            </a:r>
            <a:r>
              <a:rPr dirty="0" err="1"/>
              <a:t>fija</a:t>
            </a:r>
            <a:r>
              <a:rPr dirty="0"/>
              <a:t> y </a:t>
            </a:r>
            <a:r>
              <a:rPr dirty="0" err="1"/>
              <a:t>versiones</a:t>
            </a:r>
            <a:r>
              <a:rPr dirty="0"/>
              <a:t> </a:t>
            </a:r>
            <a:r>
              <a:rPr dirty="0" err="1"/>
              <a:t>documentadas</a:t>
            </a:r>
            <a:r>
              <a:rPr dirty="0"/>
              <a:t>; la </a:t>
            </a:r>
            <a:r>
              <a:rPr dirty="0" err="1"/>
              <a:t>reproducibilidad</a:t>
            </a:r>
            <a:r>
              <a:rPr dirty="0"/>
              <a:t> es '</a:t>
            </a:r>
            <a:r>
              <a:rPr dirty="0" err="1"/>
              <a:t>favorecida</a:t>
            </a:r>
            <a:r>
              <a:rPr dirty="0"/>
              <a:t>', </a:t>
            </a:r>
            <a:r>
              <a:rPr dirty="0" err="1"/>
              <a:t>sujeta</a:t>
            </a:r>
            <a:r>
              <a:rPr dirty="0"/>
              <a:t> al </a:t>
            </a:r>
            <a:r>
              <a:rPr dirty="0" err="1"/>
              <a:t>determinismo</a:t>
            </a:r>
            <a:r>
              <a:rPr dirty="0"/>
              <a:t> de las </a:t>
            </a:r>
            <a:r>
              <a:rPr dirty="0" err="1"/>
              <a:t>librerías</a:t>
            </a:r>
            <a:r>
              <a:rPr dirty="0"/>
              <a:t> y del </a:t>
            </a:r>
            <a:r>
              <a:rPr dirty="0" err="1"/>
              <a:t>entorno</a:t>
            </a:r>
            <a:r>
              <a:rPr dirty="0"/>
              <a:t> (no se </a:t>
            </a:r>
            <a:r>
              <a:rPr dirty="0" err="1"/>
              <a:t>afirma</a:t>
            </a:r>
            <a:r>
              <a:rPr dirty="0"/>
              <a:t> </a:t>
            </a:r>
            <a:r>
              <a:rPr dirty="0" err="1"/>
              <a:t>reproducibilidad</a:t>
            </a:r>
            <a:r>
              <a:rPr dirty="0"/>
              <a:t> </a:t>
            </a:r>
            <a:r>
              <a:rPr dirty="0" err="1"/>
              <a:t>idéntica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MENSAJE QUE DEBE RECORDAR EL TRIBUNAL: Rigor </a:t>
            </a:r>
            <a:r>
              <a:rPr dirty="0" err="1"/>
              <a:t>comprobable</a:t>
            </a:r>
            <a:r>
              <a:rPr dirty="0"/>
              <a:t>: sin </a:t>
            </a:r>
            <a:r>
              <a:rPr dirty="0" err="1"/>
              <a:t>fuga</a:t>
            </a:r>
            <a:r>
              <a:rPr dirty="0"/>
              <a:t>,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superadas</a:t>
            </a:r>
            <a:r>
              <a:rPr dirty="0"/>
              <a:t> y </a:t>
            </a:r>
            <a:r>
              <a:rPr dirty="0" err="1"/>
              <a:t>entorno</a:t>
            </a:r>
            <a:r>
              <a:rPr dirty="0"/>
              <a:t> </a:t>
            </a:r>
            <a:r>
              <a:rPr dirty="0" err="1"/>
              <a:t>documentado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Falta </a:t>
            </a:r>
            <a:r>
              <a:rPr dirty="0" err="1"/>
              <a:t>fijar</a:t>
            </a:r>
            <a:r>
              <a:rPr dirty="0"/>
              <a:t> con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criterios</a:t>
            </a:r>
            <a:r>
              <a:rPr dirty="0"/>
              <a:t> se </a:t>
            </a:r>
            <a:r>
              <a:rPr dirty="0" err="1"/>
              <a:t>juzgará</a:t>
            </a:r>
            <a:r>
              <a:rPr dirty="0"/>
              <a:t> el </a:t>
            </a:r>
            <a:r>
              <a:rPr dirty="0" err="1"/>
              <a:t>éxito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2   ·   TIEMPO OBJETIVO: 1,0 min</a:t>
            </a:r>
          </a:p>
          <a:p>
            <a:r>
              <a:rPr dirty="0"/>
              <a:t>PREGUNTA QUE RESPONDE: ¿Con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criterio</a:t>
            </a:r>
            <a:r>
              <a:rPr dirty="0"/>
              <a:t> se decide </a:t>
            </a:r>
            <a:r>
              <a:rPr dirty="0" err="1"/>
              <a:t>que</a:t>
            </a:r>
            <a:r>
              <a:rPr dirty="0"/>
              <a:t> un </a:t>
            </a:r>
            <a:r>
              <a:rPr dirty="0" err="1"/>
              <a:t>modelo</a:t>
            </a:r>
            <a:r>
              <a:rPr dirty="0"/>
              <a:t> '</a:t>
            </a:r>
            <a:r>
              <a:rPr dirty="0" err="1"/>
              <a:t>gana</a:t>
            </a:r>
            <a:r>
              <a:rPr dirty="0"/>
              <a:t>'?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Cinco </a:t>
            </a:r>
            <a:r>
              <a:rPr dirty="0" err="1"/>
              <a:t>criterios</a:t>
            </a:r>
            <a:r>
              <a:rPr dirty="0"/>
              <a:t> </a:t>
            </a:r>
            <a:r>
              <a:rPr dirty="0" err="1"/>
              <a:t>fijados</a:t>
            </a:r>
            <a:r>
              <a:rPr dirty="0"/>
              <a:t> antes de </a:t>
            </a:r>
            <a:r>
              <a:rPr dirty="0" err="1"/>
              <a:t>ejecutar</a:t>
            </a:r>
            <a:r>
              <a:rPr dirty="0"/>
              <a:t>: </a:t>
            </a:r>
            <a:r>
              <a:rPr dirty="0" err="1"/>
              <a:t>sMAPE</a:t>
            </a:r>
            <a:r>
              <a:rPr dirty="0"/>
              <a:t>, MASE, WAPE </a:t>
            </a:r>
            <a:r>
              <a:rPr dirty="0" err="1"/>
              <a:t>en</a:t>
            </a:r>
            <a:r>
              <a:rPr dirty="0"/>
              <a:t> D8–D10, </a:t>
            </a:r>
            <a:r>
              <a:rPr dirty="0" err="1"/>
              <a:t>estabilidad</a:t>
            </a:r>
            <a:r>
              <a:rPr dirty="0"/>
              <a:t> y </a:t>
            </a:r>
            <a:r>
              <a:rPr dirty="0" err="1"/>
              <a:t>significación</a:t>
            </a:r>
            <a:r>
              <a:rPr dirty="0"/>
              <a:t>.</a:t>
            </a:r>
          </a:p>
          <a:p>
            <a:r>
              <a:rPr dirty="0"/>
              <a:t>• Matiz </a:t>
            </a:r>
            <a:r>
              <a:rPr dirty="0" err="1"/>
              <a:t>honesto</a:t>
            </a:r>
            <a:r>
              <a:rPr dirty="0"/>
              <a:t>: la </a:t>
            </a:r>
            <a:r>
              <a:rPr dirty="0" err="1"/>
              <a:t>referencia</a:t>
            </a:r>
            <a:r>
              <a:rPr dirty="0"/>
              <a:t> </a:t>
            </a:r>
            <a:r>
              <a:rPr dirty="0" err="1"/>
              <a:t>numérica</a:t>
            </a:r>
            <a:r>
              <a:rPr dirty="0"/>
              <a:t> del Seasonal Naïve (13,667 %) es </a:t>
            </a:r>
            <a:r>
              <a:rPr dirty="0" err="1"/>
              <a:t>resultado</a:t>
            </a:r>
            <a:r>
              <a:rPr dirty="0"/>
              <a:t> del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experimento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conocerse</a:t>
            </a:r>
            <a:r>
              <a:rPr dirty="0"/>
              <a:t> antes de </a:t>
            </a:r>
            <a:r>
              <a:rPr dirty="0" err="1"/>
              <a:t>ejecutar</a:t>
            </a:r>
            <a:r>
              <a:rPr dirty="0"/>
              <a:t> el baseline; lo </a:t>
            </a:r>
            <a:r>
              <a:rPr dirty="0" err="1"/>
              <a:t>predefinido</a:t>
            </a:r>
            <a:r>
              <a:rPr dirty="0"/>
              <a:t> es la </a:t>
            </a:r>
            <a:r>
              <a:rPr dirty="0" err="1"/>
              <a:t>regla</a:t>
            </a:r>
            <a:r>
              <a:rPr dirty="0"/>
              <a:t>.</a:t>
            </a:r>
          </a:p>
          <a:p>
            <a:r>
              <a:rPr dirty="0"/>
              <a:t>• CV &lt; 25 % es un </a:t>
            </a:r>
            <a:r>
              <a:rPr dirty="0" err="1"/>
              <a:t>criterio</a:t>
            </a:r>
            <a:r>
              <a:rPr dirty="0"/>
              <a:t> </a:t>
            </a:r>
            <a:r>
              <a:rPr dirty="0" err="1"/>
              <a:t>exploratorio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; no </a:t>
            </a:r>
            <a:r>
              <a:rPr dirty="0" err="1"/>
              <a:t>existe</a:t>
            </a:r>
            <a:r>
              <a:rPr dirty="0"/>
              <a:t> un </a:t>
            </a:r>
            <a:r>
              <a:rPr dirty="0" err="1"/>
              <a:t>consenso</a:t>
            </a:r>
            <a:r>
              <a:rPr dirty="0"/>
              <a:t> </a:t>
            </a:r>
            <a:r>
              <a:rPr dirty="0" err="1"/>
              <a:t>publicado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lo </a:t>
            </a:r>
            <a:r>
              <a:rPr dirty="0" err="1"/>
              <a:t>avale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estándar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</a:t>
            </a:r>
            <a:r>
              <a:rPr dirty="0" err="1"/>
              <a:t>Criterios</a:t>
            </a:r>
            <a:r>
              <a:rPr dirty="0"/>
              <a:t> </a:t>
            </a:r>
            <a:r>
              <a:rPr dirty="0" err="1"/>
              <a:t>explícitos</a:t>
            </a:r>
            <a:r>
              <a:rPr dirty="0"/>
              <a:t> y a priori; el umbral de </a:t>
            </a:r>
            <a:r>
              <a:rPr dirty="0" err="1"/>
              <a:t>estabilidad</a:t>
            </a:r>
            <a:r>
              <a:rPr dirty="0"/>
              <a:t> es </a:t>
            </a:r>
            <a:r>
              <a:rPr dirty="0" err="1"/>
              <a:t>exploratorio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Persona 3 </a:t>
            </a:r>
            <a:r>
              <a:rPr dirty="0" err="1"/>
              <a:t>presenta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2</a:t>
            </a:r>
            <a:r>
              <a:rPr dirty="0"/>
              <a:t>   ·   TIEMPO OBJETIVO: 1,0 min</a:t>
            </a:r>
          </a:p>
          <a:p>
            <a:r>
              <a:rPr dirty="0"/>
              <a:t>PREGUNTA QUE RESPONDE: ¿</a:t>
            </a:r>
            <a:r>
              <a:rPr dirty="0" err="1"/>
              <a:t>Qué</a:t>
            </a:r>
            <a:r>
              <a:rPr dirty="0"/>
              <a:t> se </a:t>
            </a:r>
            <a:r>
              <a:rPr dirty="0" err="1"/>
              <a:t>mide</a:t>
            </a:r>
            <a:r>
              <a:rPr dirty="0"/>
              <a:t> y </a:t>
            </a:r>
            <a:r>
              <a:rPr dirty="0" err="1"/>
              <a:t>qué</a:t>
            </a:r>
            <a:r>
              <a:rPr dirty="0"/>
              <a:t> NO </a:t>
            </a:r>
            <a:r>
              <a:rPr dirty="0" err="1"/>
              <a:t>mide</a:t>
            </a:r>
            <a:r>
              <a:rPr dirty="0"/>
              <a:t> la </a:t>
            </a:r>
            <a:r>
              <a:rPr dirty="0" err="1"/>
              <a:t>métrica</a:t>
            </a:r>
            <a:r>
              <a:rPr dirty="0"/>
              <a:t> </a:t>
            </a:r>
            <a:r>
              <a:rPr dirty="0" err="1"/>
              <a:t>ponderada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Cinco </a:t>
            </a:r>
            <a:r>
              <a:rPr dirty="0" err="1"/>
              <a:t>métricas</a:t>
            </a:r>
            <a:r>
              <a:rPr dirty="0"/>
              <a:t> de error </a:t>
            </a:r>
            <a:r>
              <a:rPr dirty="0" err="1"/>
              <a:t>estadístico</a:t>
            </a:r>
            <a:r>
              <a:rPr dirty="0"/>
              <a:t> (MAE, RMSE, MAPE, </a:t>
            </a:r>
            <a:r>
              <a:rPr dirty="0" err="1"/>
              <a:t>sMAPE</a:t>
            </a:r>
            <a:r>
              <a:rPr dirty="0"/>
              <a:t>, MASE); </a:t>
            </a:r>
            <a:r>
              <a:rPr dirty="0" err="1"/>
              <a:t>sMAPE</a:t>
            </a:r>
            <a:r>
              <a:rPr dirty="0"/>
              <a:t> es la principal, </a:t>
            </a:r>
            <a:r>
              <a:rPr dirty="0" err="1"/>
              <a:t>estándar</a:t>
            </a:r>
            <a:r>
              <a:rPr dirty="0"/>
              <a:t> M4.</a:t>
            </a:r>
          </a:p>
          <a:p>
            <a:r>
              <a:rPr dirty="0"/>
              <a:t>• WAPE </a:t>
            </a:r>
            <a:r>
              <a:rPr dirty="0" err="1"/>
              <a:t>pondera</a:t>
            </a:r>
            <a:r>
              <a:rPr dirty="0"/>
              <a:t> el error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volumen</a:t>
            </a:r>
            <a:r>
              <a:rPr dirty="0"/>
              <a:t> de la </a:t>
            </a:r>
            <a:r>
              <a:rPr dirty="0" err="1"/>
              <a:t>serie</a:t>
            </a:r>
            <a:r>
              <a:rPr dirty="0"/>
              <a:t>: es un proxy de </a:t>
            </a:r>
            <a:r>
              <a:rPr dirty="0" err="1"/>
              <a:t>materialidad</a:t>
            </a:r>
            <a:r>
              <a:rPr dirty="0"/>
              <a:t>, no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medición</a:t>
            </a:r>
            <a:r>
              <a:rPr dirty="0"/>
              <a:t> </a:t>
            </a:r>
            <a:r>
              <a:rPr dirty="0" err="1"/>
              <a:t>directa</a:t>
            </a:r>
            <a:r>
              <a:rPr dirty="0"/>
              <a:t> del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económico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unidades</a:t>
            </a:r>
            <a:r>
              <a:rPr dirty="0"/>
              <a:t> </a:t>
            </a:r>
            <a:r>
              <a:rPr dirty="0" err="1"/>
              <a:t>monetarias</a:t>
            </a:r>
            <a:r>
              <a:rPr dirty="0"/>
              <a:t> comparables.</a:t>
            </a:r>
          </a:p>
          <a:p>
            <a:r>
              <a:rPr dirty="0"/>
              <a:t>• MAE y RMSE se </a:t>
            </a:r>
            <a:r>
              <a:rPr dirty="0" err="1"/>
              <a:t>promedian</a:t>
            </a:r>
            <a:r>
              <a:rPr dirty="0"/>
              <a:t> entre series de </a:t>
            </a:r>
            <a:r>
              <a:rPr dirty="0" err="1"/>
              <a:t>escalas</a:t>
            </a:r>
            <a:r>
              <a:rPr dirty="0"/>
              <a:t> </a:t>
            </a:r>
            <a:r>
              <a:rPr dirty="0" err="1"/>
              <a:t>distintas</a:t>
            </a:r>
            <a:r>
              <a:rPr dirty="0"/>
              <a:t>: son </a:t>
            </a:r>
            <a:r>
              <a:rPr dirty="0" err="1"/>
              <a:t>descriptivas</a:t>
            </a:r>
            <a:r>
              <a:rPr dirty="0"/>
              <a:t> para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misma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WAPE y el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volumen</a:t>
            </a:r>
            <a:r>
              <a:rPr dirty="0"/>
              <a:t> </a:t>
            </a:r>
            <a:r>
              <a:rPr dirty="0" err="1"/>
              <a:t>aproximan</a:t>
            </a:r>
            <a:r>
              <a:rPr dirty="0"/>
              <a:t> la </a:t>
            </a:r>
            <a:r>
              <a:rPr dirty="0" err="1"/>
              <a:t>materialidad</a:t>
            </a:r>
            <a:r>
              <a:rPr dirty="0"/>
              <a:t>; no </a:t>
            </a:r>
            <a:r>
              <a:rPr dirty="0" err="1"/>
              <a:t>miden</a:t>
            </a:r>
            <a:r>
              <a:rPr dirty="0"/>
              <a:t>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económico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Con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métricas</a:t>
            </a:r>
            <a:r>
              <a:rPr dirty="0"/>
              <a:t>, el </a:t>
            </a:r>
            <a:r>
              <a:rPr dirty="0" err="1"/>
              <a:t>resultado</a:t>
            </a:r>
            <a:r>
              <a:rPr dirty="0"/>
              <a:t>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2</a:t>
            </a:r>
            <a:r>
              <a:rPr dirty="0"/>
              <a:t>  ·   TIEMPO OBJETIVO: 1,0 min</a:t>
            </a:r>
          </a:p>
          <a:p>
            <a:r>
              <a:rPr dirty="0"/>
              <a:t>PREGUNTA QUE RESPONDE: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funcionó</a:t>
            </a:r>
            <a:r>
              <a:rPr dirty="0"/>
              <a:t> </a:t>
            </a:r>
            <a:r>
              <a:rPr dirty="0" err="1"/>
              <a:t>mejor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cuánto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ETS (</a:t>
            </a:r>
            <a:r>
              <a:rPr dirty="0" err="1"/>
              <a:t>AutoETS</a:t>
            </a:r>
            <a:r>
              <a:rPr dirty="0"/>
              <a:t>) </a:t>
            </a:r>
            <a:r>
              <a:rPr dirty="0" err="1"/>
              <a:t>obtiene</a:t>
            </a:r>
            <a:r>
              <a:rPr dirty="0"/>
              <a:t> el </a:t>
            </a:r>
            <a:r>
              <a:rPr dirty="0" err="1"/>
              <a:t>menor</a:t>
            </a:r>
            <a:r>
              <a:rPr dirty="0"/>
              <a:t> error </a:t>
            </a:r>
            <a:r>
              <a:rPr dirty="0" err="1"/>
              <a:t>en</a:t>
            </a:r>
            <a:r>
              <a:rPr dirty="0"/>
              <a:t> las seis </a:t>
            </a:r>
            <a:r>
              <a:rPr dirty="0" err="1"/>
              <a:t>métricas</a:t>
            </a:r>
            <a:r>
              <a:rPr dirty="0"/>
              <a:t>: </a:t>
            </a:r>
            <a:r>
              <a:rPr dirty="0" err="1"/>
              <a:t>sMAPE</a:t>
            </a:r>
            <a:r>
              <a:rPr dirty="0"/>
              <a:t> 10,0 % </a:t>
            </a:r>
            <a:r>
              <a:rPr dirty="0" err="1"/>
              <a:t>frente</a:t>
            </a:r>
            <a:r>
              <a:rPr dirty="0"/>
              <a:t> a 13,7 % del Seasonal Naïve.</a:t>
            </a:r>
          </a:p>
          <a:p>
            <a:r>
              <a:rPr dirty="0"/>
              <a:t>• </a:t>
            </a:r>
            <a:r>
              <a:rPr dirty="0" err="1"/>
              <a:t>Diferencia</a:t>
            </a:r>
            <a:r>
              <a:rPr dirty="0"/>
              <a:t> media </a:t>
            </a:r>
            <a:r>
              <a:rPr dirty="0" err="1"/>
              <a:t>pareada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serie</a:t>
            </a:r>
            <a:r>
              <a:rPr dirty="0"/>
              <a:t>: −3,85 pp, IC bootstrap al 95 % [−4,52; −3,26] pp.</a:t>
            </a:r>
          </a:p>
          <a:p>
            <a:r>
              <a:rPr dirty="0"/>
              <a:t>• Si </a:t>
            </a:r>
            <a:r>
              <a:rPr dirty="0" err="1"/>
              <a:t>preguntan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−3,66 pp: es la </a:t>
            </a:r>
            <a:r>
              <a:rPr dirty="0" err="1"/>
              <a:t>diferencia</a:t>
            </a:r>
            <a:r>
              <a:rPr dirty="0"/>
              <a:t> entre medias </a:t>
            </a:r>
            <a:r>
              <a:rPr dirty="0" err="1"/>
              <a:t>globales</a:t>
            </a:r>
            <a:r>
              <a:rPr dirty="0"/>
              <a:t> fold × </a:t>
            </a:r>
            <a:r>
              <a:rPr dirty="0" err="1"/>
              <a:t>serie</a:t>
            </a:r>
            <a:r>
              <a:rPr dirty="0"/>
              <a:t> (</a:t>
            </a:r>
            <a:r>
              <a:rPr dirty="0" err="1"/>
              <a:t>Tabla</a:t>
            </a:r>
            <a:r>
              <a:rPr dirty="0"/>
              <a:t> 21); la </a:t>
            </a:r>
            <a:r>
              <a:rPr dirty="0" err="1"/>
              <a:t>pareada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serie</a:t>
            </a:r>
            <a:r>
              <a:rPr dirty="0"/>
              <a:t> (−3,85) </a:t>
            </a:r>
            <a:r>
              <a:rPr dirty="0" err="1"/>
              <a:t>pondera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serie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 y es la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sustenta</a:t>
            </a:r>
            <a:r>
              <a:rPr dirty="0"/>
              <a:t> el bootstrap. Ambas son </a:t>
            </a:r>
            <a:r>
              <a:rPr dirty="0" err="1"/>
              <a:t>correctas</a:t>
            </a:r>
            <a:r>
              <a:rPr dirty="0"/>
              <a:t>, solo cambia el </a:t>
            </a:r>
            <a:r>
              <a:rPr dirty="0" err="1"/>
              <a:t>orden</a:t>
            </a:r>
            <a:r>
              <a:rPr dirty="0"/>
              <a:t> de </a:t>
            </a:r>
            <a:r>
              <a:rPr dirty="0" err="1"/>
              <a:t>agregación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ETS </a:t>
            </a:r>
            <a:r>
              <a:rPr dirty="0" err="1"/>
              <a:t>lidera</a:t>
            </a:r>
            <a:r>
              <a:rPr dirty="0"/>
              <a:t> las seis </a:t>
            </a:r>
            <a:r>
              <a:rPr dirty="0" err="1"/>
              <a:t>métricas</a:t>
            </a:r>
            <a:r>
              <a:rPr dirty="0"/>
              <a:t> y la </a:t>
            </a:r>
            <a:r>
              <a:rPr dirty="0" err="1"/>
              <a:t>mejora</a:t>
            </a:r>
            <a:r>
              <a:rPr dirty="0"/>
              <a:t> es </a:t>
            </a:r>
            <a:r>
              <a:rPr dirty="0" err="1"/>
              <a:t>significativa</a:t>
            </a:r>
            <a:r>
              <a:rPr dirty="0"/>
              <a:t>, bajo las </a:t>
            </a:r>
            <a:r>
              <a:rPr dirty="0" err="1"/>
              <a:t>condiciones</a:t>
            </a:r>
            <a:r>
              <a:rPr dirty="0"/>
              <a:t> del </a:t>
            </a:r>
            <a:r>
              <a:rPr dirty="0" err="1"/>
              <a:t>estudio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</a:t>
            </a:r>
            <a:r>
              <a:rPr dirty="0" err="1"/>
              <a:t>Veamos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el ranking </a:t>
            </a:r>
            <a:r>
              <a:rPr dirty="0" err="1"/>
              <a:t>completo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2</a:t>
            </a:r>
            <a:r>
              <a:rPr dirty="0"/>
              <a:t>   ·   TIEMPO OBJETIVO: 1,0 min</a:t>
            </a:r>
          </a:p>
          <a:p>
            <a:r>
              <a:rPr dirty="0"/>
              <a:t>PREGUNTA QUE RESPONDE: ¿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ordenan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siete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Orden de </a:t>
            </a:r>
            <a:r>
              <a:rPr dirty="0" err="1"/>
              <a:t>menor</a:t>
            </a:r>
            <a:r>
              <a:rPr dirty="0"/>
              <a:t> a mayor </a:t>
            </a:r>
            <a:r>
              <a:rPr dirty="0" err="1"/>
              <a:t>sMAPE</a:t>
            </a:r>
            <a:r>
              <a:rPr dirty="0"/>
              <a:t>: ETS 10,0; SARIMA 10,8; Holt-Winters 11,2; </a:t>
            </a:r>
            <a:r>
              <a:rPr dirty="0" err="1"/>
              <a:t>LightGBM</a:t>
            </a:r>
            <a:r>
              <a:rPr dirty="0"/>
              <a:t> 11,7; MLP 11,8; N-BEATS 12,4; Seasonal Naïve 13,7.</a:t>
            </a:r>
          </a:p>
          <a:p>
            <a:r>
              <a:rPr dirty="0"/>
              <a:t>• Los </a:t>
            </a:r>
            <a:r>
              <a:rPr dirty="0" err="1"/>
              <a:t>estadísticos</a:t>
            </a:r>
            <a:r>
              <a:rPr dirty="0"/>
              <a:t> </a:t>
            </a:r>
            <a:r>
              <a:rPr dirty="0" err="1"/>
              <a:t>clásicos</a:t>
            </a:r>
            <a:r>
              <a:rPr dirty="0"/>
              <a:t> </a:t>
            </a:r>
            <a:r>
              <a:rPr dirty="0" err="1"/>
              <a:t>promedian</a:t>
            </a:r>
            <a:r>
              <a:rPr dirty="0"/>
              <a:t> 10,662 %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ML/DL 11,967 %.</a:t>
            </a:r>
          </a:p>
          <a:p>
            <a:r>
              <a:rPr dirty="0"/>
              <a:t>• La </a:t>
            </a:r>
            <a:r>
              <a:rPr dirty="0" err="1"/>
              <a:t>dispersión</a:t>
            </a:r>
            <a:r>
              <a:rPr dirty="0"/>
              <a:t> entre series es grande (la </a:t>
            </a:r>
            <a:r>
              <a:rPr dirty="0" err="1"/>
              <a:t>desviación</a:t>
            </a:r>
            <a:r>
              <a:rPr dirty="0"/>
              <a:t> </a:t>
            </a:r>
            <a:r>
              <a:rPr dirty="0" err="1"/>
              <a:t>típica</a:t>
            </a:r>
            <a:r>
              <a:rPr dirty="0"/>
              <a:t> del </a:t>
            </a:r>
            <a:r>
              <a:rPr dirty="0" err="1"/>
              <a:t>sMAPE</a:t>
            </a:r>
            <a:r>
              <a:rPr dirty="0"/>
              <a:t> es del </a:t>
            </a:r>
            <a:r>
              <a:rPr dirty="0" err="1"/>
              <a:t>orden</a:t>
            </a:r>
            <a:r>
              <a:rPr dirty="0"/>
              <a:t> de la media),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eso</a:t>
            </a:r>
            <a:r>
              <a:rPr dirty="0"/>
              <a:t> se </a:t>
            </a:r>
            <a:r>
              <a:rPr dirty="0" err="1"/>
              <a:t>complementa</a:t>
            </a:r>
            <a:r>
              <a:rPr dirty="0"/>
              <a:t> con </a:t>
            </a:r>
            <a:r>
              <a:rPr dirty="0" err="1"/>
              <a:t>inferencia</a:t>
            </a:r>
            <a:r>
              <a:rPr dirty="0"/>
              <a:t> </a:t>
            </a:r>
            <a:r>
              <a:rPr dirty="0" err="1"/>
              <a:t>pareada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CÓMO LEER EL VISUAL:</a:t>
            </a:r>
          </a:p>
          <a:p>
            <a:r>
              <a:rPr dirty="0"/>
              <a:t>• Colores: </a:t>
            </a:r>
            <a:r>
              <a:rPr dirty="0" err="1"/>
              <a:t>azul</a:t>
            </a:r>
            <a:r>
              <a:rPr dirty="0"/>
              <a:t> </a:t>
            </a:r>
            <a:r>
              <a:rPr dirty="0" err="1"/>
              <a:t>oscuro</a:t>
            </a:r>
            <a:r>
              <a:rPr dirty="0"/>
              <a:t> = ETS; </a:t>
            </a:r>
            <a:r>
              <a:rPr dirty="0" err="1"/>
              <a:t>azul</a:t>
            </a:r>
            <a:r>
              <a:rPr dirty="0"/>
              <a:t> = </a:t>
            </a:r>
            <a:r>
              <a:rPr dirty="0" err="1"/>
              <a:t>otros</a:t>
            </a:r>
            <a:r>
              <a:rPr dirty="0"/>
              <a:t> </a:t>
            </a:r>
            <a:r>
              <a:rPr dirty="0" err="1"/>
              <a:t>estadísticos</a:t>
            </a:r>
            <a:r>
              <a:rPr dirty="0"/>
              <a:t>; gris = ML/DL; gris claro = baseline.</a:t>
            </a:r>
          </a:p>
          <a:p>
            <a:endParaRPr dirty="0"/>
          </a:p>
          <a:p>
            <a:r>
              <a:rPr dirty="0"/>
              <a:t>MENSAJE QUE DEBE RECORDAR EL TRIBUNAL: Los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estadísticos</a:t>
            </a:r>
            <a:r>
              <a:rPr dirty="0"/>
              <a:t> </a:t>
            </a:r>
            <a:r>
              <a:rPr dirty="0" err="1"/>
              <a:t>clásicos</a:t>
            </a:r>
            <a:r>
              <a:rPr dirty="0"/>
              <a:t> </a:t>
            </a:r>
            <a:r>
              <a:rPr dirty="0" err="1"/>
              <a:t>quedan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delante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de ML y DL.</a:t>
            </a:r>
          </a:p>
          <a:p>
            <a:endParaRPr dirty="0"/>
          </a:p>
          <a:p>
            <a:r>
              <a:rPr dirty="0"/>
              <a:t>TRANSICIÓN: ¿Se </a:t>
            </a:r>
            <a:r>
              <a:rPr dirty="0" err="1"/>
              <a:t>repite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orden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resto de </a:t>
            </a:r>
            <a:r>
              <a:rPr dirty="0" err="1"/>
              <a:t>métricas</a:t>
            </a:r>
            <a:r>
              <a:rPr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2</a:t>
            </a:r>
            <a:r>
              <a:rPr dirty="0"/>
              <a:t>   ·   TIEMPO OBJETIVO: 1,0 min</a:t>
            </a:r>
          </a:p>
          <a:p>
            <a:r>
              <a:rPr dirty="0"/>
              <a:t>PREGUNTA QUE RESPONDE: ¿La </a:t>
            </a:r>
            <a:r>
              <a:rPr dirty="0" err="1"/>
              <a:t>ventaja</a:t>
            </a:r>
            <a:r>
              <a:rPr dirty="0"/>
              <a:t> de ETS </a:t>
            </a:r>
            <a:r>
              <a:rPr dirty="0" err="1"/>
              <a:t>depende</a:t>
            </a:r>
            <a:r>
              <a:rPr dirty="0"/>
              <a:t> de la </a:t>
            </a:r>
            <a:r>
              <a:rPr dirty="0" err="1"/>
              <a:t>métrica</a:t>
            </a:r>
            <a:r>
              <a:rPr dirty="0"/>
              <a:t> </a:t>
            </a:r>
            <a:r>
              <a:rPr dirty="0" err="1"/>
              <a:t>elegida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No: ETS </a:t>
            </a:r>
            <a:r>
              <a:rPr dirty="0" err="1"/>
              <a:t>tiene</a:t>
            </a:r>
            <a:r>
              <a:rPr dirty="0"/>
              <a:t> el </a:t>
            </a:r>
            <a:r>
              <a:rPr dirty="0" err="1"/>
              <a:t>menor</a:t>
            </a:r>
            <a:r>
              <a:rPr dirty="0"/>
              <a:t> valor </a:t>
            </a:r>
            <a:r>
              <a:rPr dirty="0" err="1"/>
              <a:t>en</a:t>
            </a:r>
            <a:r>
              <a:rPr dirty="0"/>
              <a:t> MAE, RMSE, MAPE, </a:t>
            </a:r>
            <a:r>
              <a:rPr dirty="0" err="1"/>
              <a:t>sMAPE</a:t>
            </a:r>
            <a:r>
              <a:rPr dirty="0"/>
              <a:t>, MASE y WAPE.</a:t>
            </a:r>
          </a:p>
          <a:p>
            <a:r>
              <a:rPr dirty="0"/>
              <a:t>• Resto de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rango</a:t>
            </a:r>
            <a:r>
              <a:rPr dirty="0"/>
              <a:t> </a:t>
            </a:r>
            <a:r>
              <a:rPr dirty="0" err="1"/>
              <a:t>intermedio</a:t>
            </a:r>
            <a:r>
              <a:rPr dirty="0"/>
              <a:t>, con el Seasonal Naïve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peor</a:t>
            </a:r>
            <a:r>
              <a:rPr dirty="0"/>
              <a:t> extremo.</a:t>
            </a:r>
          </a:p>
          <a:p>
            <a:r>
              <a:rPr dirty="0"/>
              <a:t>• </a:t>
            </a:r>
            <a:r>
              <a:rPr dirty="0" err="1"/>
              <a:t>Recordar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MAE y RMSE </a:t>
            </a:r>
            <a:r>
              <a:rPr dirty="0" err="1"/>
              <a:t>mezclan</a:t>
            </a:r>
            <a:r>
              <a:rPr dirty="0"/>
              <a:t> </a:t>
            </a:r>
            <a:r>
              <a:rPr dirty="0" err="1"/>
              <a:t>escalas</a:t>
            </a:r>
            <a:r>
              <a:rPr dirty="0"/>
              <a:t> y se </a:t>
            </a:r>
            <a:r>
              <a:rPr dirty="0" err="1"/>
              <a:t>leen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descriptivas</a:t>
            </a:r>
            <a:r>
              <a:rPr dirty="0"/>
              <a:t>.</a:t>
            </a:r>
          </a:p>
          <a:p>
            <a:r>
              <a:rPr dirty="0"/>
              <a:t>• Si </a:t>
            </a:r>
            <a:r>
              <a:rPr dirty="0" err="1"/>
              <a:t>preguntan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 </a:t>
            </a:r>
            <a:r>
              <a:rPr dirty="0" err="1"/>
              <a:t>Figura</a:t>
            </a:r>
            <a:r>
              <a:rPr dirty="0"/>
              <a:t> 5 del </a:t>
            </a:r>
            <a:r>
              <a:rPr dirty="0" err="1"/>
              <a:t>documento</a:t>
            </a:r>
            <a:r>
              <a:rPr dirty="0"/>
              <a:t>: sus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anotados</a:t>
            </a:r>
            <a:r>
              <a:rPr dirty="0"/>
              <a:t> </a:t>
            </a:r>
            <a:r>
              <a:rPr dirty="0" err="1"/>
              <a:t>proceden</a:t>
            </a:r>
            <a:r>
              <a:rPr dirty="0"/>
              <a:t> de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ejecución</a:t>
            </a:r>
            <a:r>
              <a:rPr dirty="0"/>
              <a:t>; las </a:t>
            </a:r>
            <a:r>
              <a:rPr dirty="0" err="1"/>
              <a:t>cifras</a:t>
            </a:r>
            <a:r>
              <a:rPr dirty="0"/>
              <a:t> de </a:t>
            </a:r>
            <a:r>
              <a:rPr dirty="0" err="1"/>
              <a:t>referencia</a:t>
            </a:r>
            <a:r>
              <a:rPr dirty="0"/>
              <a:t> son las de las </a:t>
            </a:r>
            <a:r>
              <a:rPr dirty="0" err="1"/>
              <a:t>Tablas</a:t>
            </a:r>
            <a:r>
              <a:rPr dirty="0"/>
              <a:t> 17–19, </a:t>
            </a:r>
            <a:r>
              <a:rPr dirty="0" err="1"/>
              <a:t>que</a:t>
            </a:r>
            <a:r>
              <a:rPr dirty="0"/>
              <a:t> son las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muestran</a:t>
            </a:r>
            <a:r>
              <a:rPr dirty="0"/>
              <a:t> </a:t>
            </a:r>
            <a:r>
              <a:rPr dirty="0" err="1"/>
              <a:t>aquí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CÓMO LEER EL VISUAL:</a:t>
            </a:r>
          </a:p>
          <a:p>
            <a:r>
              <a:rPr dirty="0"/>
              <a:t>• Cada columna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normalizada</a:t>
            </a:r>
            <a:r>
              <a:rPr dirty="0"/>
              <a:t>: </a:t>
            </a:r>
            <a:r>
              <a:rPr dirty="0" err="1"/>
              <a:t>azul</a:t>
            </a:r>
            <a:r>
              <a:rPr dirty="0"/>
              <a:t> </a:t>
            </a:r>
            <a:r>
              <a:rPr dirty="0" err="1"/>
              <a:t>oscuro</a:t>
            </a:r>
            <a:r>
              <a:rPr dirty="0"/>
              <a:t> = </a:t>
            </a:r>
            <a:r>
              <a:rPr dirty="0" err="1"/>
              <a:t>menor</a:t>
            </a:r>
            <a:r>
              <a:rPr dirty="0"/>
              <a:t> error, claro = mayor error.</a:t>
            </a:r>
          </a:p>
          <a:p>
            <a:r>
              <a:rPr dirty="0"/>
              <a:t>• Las </a:t>
            </a:r>
            <a:r>
              <a:rPr dirty="0" err="1"/>
              <a:t>cifras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celda</a:t>
            </a:r>
            <a:r>
              <a:rPr dirty="0"/>
              <a:t> son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medios</a:t>
            </a:r>
            <a:r>
              <a:rPr dirty="0"/>
              <a:t> de las </a:t>
            </a:r>
            <a:r>
              <a:rPr dirty="0" err="1"/>
              <a:t>tablas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La </a:t>
            </a:r>
            <a:r>
              <a:rPr dirty="0" err="1"/>
              <a:t>superioridad</a:t>
            </a:r>
            <a:r>
              <a:rPr dirty="0"/>
              <a:t> de ETS no es un </a:t>
            </a:r>
            <a:r>
              <a:rPr dirty="0" err="1"/>
              <a:t>artefacto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métrica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Queda </a:t>
            </a:r>
            <a:r>
              <a:rPr dirty="0" err="1"/>
              <a:t>comprobar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se </a:t>
            </a:r>
            <a:r>
              <a:rPr dirty="0" err="1"/>
              <a:t>debe</a:t>
            </a:r>
            <a:r>
              <a:rPr dirty="0"/>
              <a:t> al 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2</a:t>
            </a:r>
            <a:r>
              <a:rPr dirty="0"/>
              <a:t>   ·   TIEMPO OBJETIVO: 1,5 min</a:t>
            </a:r>
          </a:p>
          <a:p>
            <a:r>
              <a:rPr dirty="0"/>
              <a:t>PREGUNTA QUE RESPONDE: ¿La </a:t>
            </a:r>
            <a:r>
              <a:rPr dirty="0" err="1"/>
              <a:t>mejora</a:t>
            </a:r>
            <a:r>
              <a:rPr dirty="0"/>
              <a:t> es </a:t>
            </a:r>
            <a:r>
              <a:rPr dirty="0" err="1"/>
              <a:t>estadísticamente</a:t>
            </a:r>
            <a:r>
              <a:rPr dirty="0"/>
              <a:t> </a:t>
            </a:r>
            <a:r>
              <a:rPr dirty="0" err="1"/>
              <a:t>significativa</a:t>
            </a:r>
            <a:r>
              <a:rPr dirty="0"/>
              <a:t> y </a:t>
            </a:r>
            <a:r>
              <a:rPr dirty="0" err="1"/>
              <a:t>resiste</a:t>
            </a:r>
            <a:r>
              <a:rPr dirty="0"/>
              <a:t> </a:t>
            </a:r>
            <a:r>
              <a:rPr dirty="0" err="1"/>
              <a:t>comparaciones</a:t>
            </a:r>
            <a:r>
              <a:rPr dirty="0"/>
              <a:t> </a:t>
            </a:r>
            <a:r>
              <a:rPr dirty="0" err="1"/>
              <a:t>múltiples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Bootstrap </a:t>
            </a:r>
            <a:r>
              <a:rPr dirty="0" err="1"/>
              <a:t>percentil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diferencias</a:t>
            </a:r>
            <a:r>
              <a:rPr dirty="0"/>
              <a:t> </a:t>
            </a:r>
            <a:r>
              <a:rPr dirty="0" err="1"/>
              <a:t>pareadas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serie</a:t>
            </a:r>
            <a:r>
              <a:rPr dirty="0"/>
              <a:t> (B = 1.000, N = 200; </a:t>
            </a:r>
            <a:r>
              <a:rPr dirty="0" err="1"/>
              <a:t>unidad</a:t>
            </a:r>
            <a:r>
              <a:rPr dirty="0"/>
              <a:t> de </a:t>
            </a:r>
            <a:r>
              <a:rPr dirty="0" err="1"/>
              <a:t>remuestreo</a:t>
            </a:r>
            <a:r>
              <a:rPr dirty="0"/>
              <a:t> = la </a:t>
            </a:r>
            <a:r>
              <a:rPr dirty="0" err="1"/>
              <a:t>serie</a:t>
            </a:r>
            <a:r>
              <a:rPr dirty="0"/>
              <a:t>).</a:t>
            </a:r>
          </a:p>
          <a:p>
            <a:r>
              <a:rPr dirty="0"/>
              <a:t>• </a:t>
            </a:r>
            <a:r>
              <a:rPr dirty="0" err="1"/>
              <a:t>Frente</a:t>
            </a:r>
            <a:r>
              <a:rPr dirty="0"/>
              <a:t> al Seasonal Naïve, </a:t>
            </a:r>
            <a:r>
              <a:rPr dirty="0" err="1"/>
              <a:t>los</a:t>
            </a:r>
            <a:r>
              <a:rPr dirty="0"/>
              <a:t> seis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tienen</a:t>
            </a:r>
            <a:r>
              <a:rPr dirty="0"/>
              <a:t> un IC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contiene</a:t>
            </a:r>
            <a:r>
              <a:rPr dirty="0"/>
              <a:t> el cero, tanto al 95 % </a:t>
            </a:r>
            <a:r>
              <a:rPr dirty="0" err="1"/>
              <a:t>como</a:t>
            </a:r>
            <a:r>
              <a:rPr dirty="0"/>
              <a:t> al 99,5 % </a:t>
            </a:r>
            <a:r>
              <a:rPr dirty="0" err="1"/>
              <a:t>tras</a:t>
            </a:r>
            <a:r>
              <a:rPr dirty="0"/>
              <a:t> la </a:t>
            </a:r>
            <a:r>
              <a:rPr dirty="0" err="1"/>
              <a:t>corrección</a:t>
            </a:r>
            <a:r>
              <a:rPr dirty="0"/>
              <a:t> de Bonferroni (</a:t>
            </a:r>
            <a:r>
              <a:rPr dirty="0" err="1"/>
              <a:t>diez</a:t>
            </a:r>
            <a:r>
              <a:rPr dirty="0"/>
              <a:t> </a:t>
            </a:r>
            <a:r>
              <a:rPr dirty="0" err="1"/>
              <a:t>comparaciones</a:t>
            </a:r>
            <a:r>
              <a:rPr dirty="0"/>
              <a:t>, α = 0,005).</a:t>
            </a:r>
          </a:p>
          <a:p>
            <a:r>
              <a:rPr dirty="0"/>
              <a:t>• Entre </a:t>
            </a:r>
            <a:r>
              <a:rPr dirty="0" err="1"/>
              <a:t>modelos</a:t>
            </a:r>
            <a:r>
              <a:rPr dirty="0"/>
              <a:t>: ETS es </a:t>
            </a:r>
            <a:r>
              <a:rPr dirty="0" err="1"/>
              <a:t>significativamente</a:t>
            </a:r>
            <a:r>
              <a:rPr dirty="0"/>
              <a:t>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SARIMA, Holt-Winters y </a:t>
            </a:r>
            <a:r>
              <a:rPr dirty="0" err="1"/>
              <a:t>LightGBM</a:t>
            </a:r>
            <a:r>
              <a:rPr dirty="0"/>
              <a:t>; SARIMA y Holt-Winters son </a:t>
            </a:r>
            <a:r>
              <a:rPr dirty="0" err="1"/>
              <a:t>estadísticamente</a:t>
            </a:r>
            <a:r>
              <a:rPr dirty="0"/>
              <a:t> </a:t>
            </a:r>
            <a:r>
              <a:rPr dirty="0" err="1"/>
              <a:t>equivalentes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experimento</a:t>
            </a:r>
            <a:r>
              <a:rPr dirty="0"/>
              <a:t>.</a:t>
            </a:r>
          </a:p>
          <a:p>
            <a:r>
              <a:rPr dirty="0"/>
              <a:t>• Esto </a:t>
            </a:r>
            <a:r>
              <a:rPr dirty="0" err="1"/>
              <a:t>respalda</a:t>
            </a:r>
            <a:r>
              <a:rPr dirty="0"/>
              <a:t> </a:t>
            </a:r>
            <a:r>
              <a:rPr dirty="0" err="1"/>
              <a:t>llamar</a:t>
            </a:r>
            <a:r>
              <a:rPr dirty="0"/>
              <a:t> '</a:t>
            </a:r>
            <a:r>
              <a:rPr dirty="0" err="1"/>
              <a:t>ganador</a:t>
            </a:r>
            <a:r>
              <a:rPr dirty="0"/>
              <a:t> global' a ETS </a:t>
            </a:r>
            <a:r>
              <a:rPr dirty="0" err="1"/>
              <a:t>frente</a:t>
            </a:r>
            <a:r>
              <a:rPr dirty="0"/>
              <a:t> a sus </a:t>
            </a:r>
            <a:r>
              <a:rPr dirty="0" err="1"/>
              <a:t>competidores</a:t>
            </a:r>
            <a:r>
              <a:rPr dirty="0"/>
              <a:t> </a:t>
            </a:r>
            <a:r>
              <a:rPr dirty="0" err="1"/>
              <a:t>directos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CÓMO LEER EL VISUAL:</a:t>
            </a:r>
          </a:p>
          <a:p>
            <a:r>
              <a:rPr dirty="0"/>
              <a:t>• Barra </a:t>
            </a:r>
            <a:r>
              <a:rPr dirty="0" err="1"/>
              <a:t>gruesa</a:t>
            </a:r>
            <a:r>
              <a:rPr dirty="0"/>
              <a:t> = IC 95 %; </a:t>
            </a:r>
            <a:r>
              <a:rPr dirty="0" err="1"/>
              <a:t>línea</a:t>
            </a:r>
            <a:r>
              <a:rPr dirty="0"/>
              <a:t> </a:t>
            </a:r>
            <a:r>
              <a:rPr dirty="0" err="1"/>
              <a:t>fina</a:t>
            </a:r>
            <a:r>
              <a:rPr dirty="0"/>
              <a:t> = IC 99,5 %; punto = </a:t>
            </a:r>
            <a:r>
              <a:rPr dirty="0" err="1"/>
              <a:t>diferencia</a:t>
            </a:r>
            <a:r>
              <a:rPr dirty="0"/>
              <a:t> media.</a:t>
            </a:r>
          </a:p>
          <a:p>
            <a:r>
              <a:rPr dirty="0"/>
              <a:t>• Todo a la </a:t>
            </a:r>
            <a:r>
              <a:rPr dirty="0" err="1"/>
              <a:t>izquierda</a:t>
            </a:r>
            <a:r>
              <a:rPr dirty="0"/>
              <a:t> del cero = </a:t>
            </a:r>
            <a:r>
              <a:rPr dirty="0" err="1"/>
              <a:t>menor</a:t>
            </a:r>
            <a:r>
              <a:rPr dirty="0"/>
              <a:t> error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referencia</a:t>
            </a:r>
            <a:r>
              <a:rPr dirty="0"/>
              <a:t>.</a:t>
            </a:r>
          </a:p>
          <a:p>
            <a:r>
              <a:rPr dirty="0"/>
              <a:t>• La </a:t>
            </a:r>
            <a:r>
              <a:rPr dirty="0" err="1"/>
              <a:t>única</a:t>
            </a:r>
            <a:r>
              <a:rPr dirty="0"/>
              <a:t> barra gris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cruza</a:t>
            </a:r>
            <a:r>
              <a:rPr dirty="0"/>
              <a:t> el cero es SARIMA </a:t>
            </a:r>
            <a:r>
              <a:rPr dirty="0" err="1"/>
              <a:t>frente</a:t>
            </a:r>
            <a:r>
              <a:rPr dirty="0"/>
              <a:t> a Holt-Winters.</a:t>
            </a:r>
          </a:p>
          <a:p>
            <a:endParaRPr dirty="0"/>
          </a:p>
          <a:p>
            <a:r>
              <a:rPr dirty="0"/>
              <a:t>MENSAJE QUE DEBE RECORDAR EL TRIBUNAL: La </a:t>
            </a:r>
            <a:r>
              <a:rPr dirty="0" err="1"/>
              <a:t>ventaja</a:t>
            </a:r>
            <a:r>
              <a:rPr dirty="0"/>
              <a:t> de ETS es </a:t>
            </a:r>
            <a:r>
              <a:rPr dirty="0" err="1"/>
              <a:t>significativa</a:t>
            </a:r>
            <a:r>
              <a:rPr dirty="0"/>
              <a:t> y </a:t>
            </a:r>
            <a:r>
              <a:rPr dirty="0" err="1"/>
              <a:t>resiste</a:t>
            </a:r>
            <a:r>
              <a:rPr dirty="0"/>
              <a:t> la </a:t>
            </a:r>
            <a:r>
              <a:rPr dirty="0" err="1"/>
              <a:t>corrección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comparaciones</a:t>
            </a:r>
            <a:r>
              <a:rPr dirty="0"/>
              <a:t> </a:t>
            </a:r>
            <a:r>
              <a:rPr dirty="0" err="1"/>
              <a:t>múltiples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</a:t>
            </a:r>
            <a:r>
              <a:rPr dirty="0" err="1"/>
              <a:t>Pasamos</a:t>
            </a:r>
            <a:r>
              <a:rPr dirty="0"/>
              <a:t> a la </a:t>
            </a:r>
            <a:r>
              <a:rPr dirty="0" err="1"/>
              <a:t>segunda</a:t>
            </a:r>
            <a:r>
              <a:rPr dirty="0"/>
              <a:t> </a:t>
            </a:r>
            <a:r>
              <a:rPr dirty="0" err="1"/>
              <a:t>dimensión</a:t>
            </a:r>
            <a:r>
              <a:rPr dirty="0"/>
              <a:t>: la </a:t>
            </a:r>
            <a:r>
              <a:rPr dirty="0" err="1"/>
              <a:t>estabilidad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tiempo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2</a:t>
            </a:r>
            <a:r>
              <a:rPr dirty="0"/>
              <a:t>  ·   TIEMPO OBJETIVO: 1,5 min</a:t>
            </a:r>
          </a:p>
          <a:p>
            <a:r>
              <a:rPr dirty="0"/>
              <a:t>PREGUNTA QUE RESPONDE: ¿Son </a:t>
            </a:r>
            <a:r>
              <a:rPr dirty="0" err="1"/>
              <a:t>estables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a lo largo del </a:t>
            </a:r>
            <a:r>
              <a:rPr dirty="0" err="1"/>
              <a:t>tiempo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Izquierda: </a:t>
            </a:r>
            <a:r>
              <a:rPr dirty="0" err="1"/>
              <a:t>sMAPE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posición</a:t>
            </a:r>
            <a:r>
              <a:rPr dirty="0"/>
              <a:t> de fold con las 173 series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cinco</a:t>
            </a:r>
            <a:r>
              <a:rPr dirty="0"/>
              <a:t> folds (</a:t>
            </a:r>
            <a:r>
              <a:rPr dirty="0" err="1"/>
              <a:t>composición</a:t>
            </a:r>
            <a:r>
              <a:rPr dirty="0"/>
              <a:t> </a:t>
            </a:r>
            <a:r>
              <a:rPr dirty="0" err="1"/>
              <a:t>constante</a:t>
            </a:r>
            <a:r>
              <a:rPr dirty="0"/>
              <a:t>). ETS, Holt-Winters y SARIMA </a:t>
            </a:r>
            <a:r>
              <a:rPr dirty="0" err="1"/>
              <a:t>mejoran</a:t>
            </a:r>
            <a:r>
              <a:rPr dirty="0"/>
              <a:t> de forma </a:t>
            </a:r>
            <a:r>
              <a:rPr dirty="0" err="1"/>
              <a:t>sostenida</a:t>
            </a:r>
            <a:r>
              <a:rPr dirty="0"/>
              <a:t>; el Seasonal Naïve se </a:t>
            </a:r>
            <a:r>
              <a:rPr dirty="0" err="1"/>
              <a:t>aplana</a:t>
            </a:r>
            <a:r>
              <a:rPr dirty="0"/>
              <a:t> (11,79 % y 11,96 %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dos </a:t>
            </a:r>
            <a:r>
              <a:rPr dirty="0" err="1"/>
              <a:t>últimos</a:t>
            </a:r>
            <a:r>
              <a:rPr dirty="0"/>
              <a:t>).</a:t>
            </a:r>
          </a:p>
          <a:p>
            <a:r>
              <a:rPr dirty="0"/>
              <a:t>• </a:t>
            </a:r>
            <a:r>
              <a:rPr dirty="0" err="1"/>
              <a:t>Coherente</a:t>
            </a:r>
            <a:r>
              <a:rPr dirty="0"/>
              <a:t> con la </a:t>
            </a:r>
            <a:r>
              <a:rPr dirty="0" err="1"/>
              <a:t>ventana</a:t>
            </a:r>
            <a:r>
              <a:rPr dirty="0"/>
              <a:t> </a:t>
            </a:r>
            <a:r>
              <a:rPr dirty="0" err="1"/>
              <a:t>creciente</a:t>
            </a:r>
            <a:r>
              <a:rPr dirty="0"/>
              <a:t> (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historial</a:t>
            </a:r>
            <a:r>
              <a:rPr dirty="0"/>
              <a:t>),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causa </a:t>
            </a:r>
            <a:r>
              <a:rPr dirty="0" err="1"/>
              <a:t>única</a:t>
            </a:r>
            <a:r>
              <a:rPr dirty="0"/>
              <a:t>: también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influir</a:t>
            </a:r>
            <a:r>
              <a:rPr dirty="0"/>
              <a:t> </a:t>
            </a:r>
            <a:r>
              <a:rPr dirty="0" err="1"/>
              <a:t>cambios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dificultad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periodos</a:t>
            </a:r>
            <a:r>
              <a:rPr dirty="0"/>
              <a:t> </a:t>
            </a:r>
            <a:r>
              <a:rPr dirty="0" err="1"/>
              <a:t>evaluados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Derecha</a:t>
            </a:r>
            <a:r>
              <a:rPr dirty="0"/>
              <a:t>: CV temporal </a:t>
            </a:r>
            <a:r>
              <a:rPr dirty="0" err="1"/>
              <a:t>calculado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serie</a:t>
            </a:r>
            <a:r>
              <a:rPr dirty="0"/>
              <a:t>: media entre 47,2 % y 55,1 %; entre el 84,4 % y el 90,6 % de las series </a:t>
            </a:r>
            <a:r>
              <a:rPr dirty="0" err="1"/>
              <a:t>superan</a:t>
            </a:r>
            <a:r>
              <a:rPr dirty="0"/>
              <a:t> el 25 %.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cumple</a:t>
            </a:r>
            <a:r>
              <a:rPr dirty="0"/>
              <a:t>.</a:t>
            </a:r>
          </a:p>
          <a:p>
            <a:r>
              <a:rPr dirty="0"/>
              <a:t>• El umbral CV &lt; 25 % es </a:t>
            </a:r>
            <a:r>
              <a:rPr dirty="0" err="1"/>
              <a:t>exploratorio</a:t>
            </a:r>
            <a:r>
              <a:rPr dirty="0"/>
              <a:t> y </a:t>
            </a:r>
            <a:r>
              <a:rPr dirty="0" err="1"/>
              <a:t>propio</a:t>
            </a:r>
            <a:r>
              <a:rPr dirty="0"/>
              <a:t>: el </a:t>
            </a:r>
            <a:r>
              <a:rPr dirty="0" err="1"/>
              <a:t>resultado</a:t>
            </a:r>
            <a:r>
              <a:rPr dirty="0"/>
              <a:t> no </a:t>
            </a:r>
            <a:r>
              <a:rPr dirty="0" err="1"/>
              <a:t>invalida</a:t>
            </a:r>
            <a:r>
              <a:rPr dirty="0"/>
              <a:t> el ranking.</a:t>
            </a:r>
          </a:p>
          <a:p>
            <a:endParaRPr dirty="0"/>
          </a:p>
          <a:p>
            <a:r>
              <a:rPr dirty="0"/>
              <a:t>MENSAJE QUE DEBE RECORDAR EL TRIBUNAL: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alcanza</a:t>
            </a:r>
            <a:r>
              <a:rPr dirty="0"/>
              <a:t> el umbral </a:t>
            </a:r>
            <a:r>
              <a:rPr dirty="0" err="1"/>
              <a:t>exploratorio</a:t>
            </a:r>
            <a:r>
              <a:rPr dirty="0"/>
              <a:t> de </a:t>
            </a:r>
            <a:r>
              <a:rPr dirty="0" err="1"/>
              <a:t>estabilidad</a:t>
            </a:r>
            <a:r>
              <a:rPr dirty="0"/>
              <a:t>; el </a:t>
            </a:r>
            <a:r>
              <a:rPr dirty="0" err="1"/>
              <a:t>patrón</a:t>
            </a:r>
            <a:r>
              <a:rPr dirty="0"/>
              <a:t> se </a:t>
            </a:r>
            <a:r>
              <a:rPr dirty="0" err="1"/>
              <a:t>interpreta</a:t>
            </a:r>
            <a:r>
              <a:rPr dirty="0"/>
              <a:t> con cautela.</a:t>
            </a:r>
          </a:p>
          <a:p>
            <a:endParaRPr dirty="0"/>
          </a:p>
          <a:p>
            <a:r>
              <a:rPr dirty="0"/>
              <a:t>TRANSICIÓN: Falta </a:t>
            </a:r>
            <a:r>
              <a:rPr dirty="0" err="1"/>
              <a:t>incorporar</a:t>
            </a:r>
            <a:r>
              <a:rPr dirty="0"/>
              <a:t> la </a:t>
            </a:r>
            <a:r>
              <a:rPr dirty="0" err="1"/>
              <a:t>dimensión</a:t>
            </a:r>
            <a:r>
              <a:rPr dirty="0"/>
              <a:t> de </a:t>
            </a:r>
            <a:r>
              <a:rPr dirty="0" err="1"/>
              <a:t>materialidad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2</a:t>
            </a:r>
            <a:r>
              <a:rPr dirty="0"/>
              <a:t>  ·   TIEMPO OBJETIVO: 1,5 min</a:t>
            </a:r>
          </a:p>
          <a:p>
            <a:r>
              <a:rPr dirty="0"/>
              <a:t>PREGUNTA QUE RESPONDE: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ocurre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se </a:t>
            </a:r>
            <a:r>
              <a:rPr dirty="0" err="1"/>
              <a:t>pondera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volumen</a:t>
            </a:r>
            <a:r>
              <a:rPr dirty="0"/>
              <a:t> (</a:t>
            </a:r>
            <a:r>
              <a:rPr dirty="0" err="1"/>
              <a:t>materialidad</a:t>
            </a:r>
            <a:r>
              <a:rPr dirty="0"/>
              <a:t>)?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Los deciles se </a:t>
            </a:r>
            <a:r>
              <a:rPr dirty="0" err="1"/>
              <a:t>calculan</a:t>
            </a:r>
            <a:r>
              <a:rPr dirty="0"/>
              <a:t> con </a:t>
            </a:r>
            <a:r>
              <a:rPr dirty="0" err="1"/>
              <a:t>los</a:t>
            </a:r>
            <a:r>
              <a:rPr dirty="0"/>
              <a:t> primeros 54 meses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serie</a:t>
            </a:r>
            <a:r>
              <a:rPr dirty="0"/>
              <a:t> (</a:t>
            </a:r>
            <a:r>
              <a:rPr dirty="0" err="1"/>
              <a:t>ventana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), sin </a:t>
            </a:r>
            <a:r>
              <a:rPr dirty="0" err="1"/>
              <a:t>información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periodos</a:t>
            </a:r>
            <a:r>
              <a:rPr dirty="0"/>
              <a:t> de </a:t>
            </a:r>
            <a:r>
              <a:rPr dirty="0" err="1"/>
              <a:t>evaluación</a:t>
            </a:r>
            <a:r>
              <a:rPr dirty="0"/>
              <a:t>; </a:t>
            </a:r>
            <a:r>
              <a:rPr dirty="0" err="1"/>
              <a:t>esto</a:t>
            </a:r>
            <a:r>
              <a:rPr dirty="0"/>
              <a:t> </a:t>
            </a:r>
            <a:r>
              <a:rPr dirty="0" err="1"/>
              <a:t>corrige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versión</a:t>
            </a:r>
            <a:r>
              <a:rPr dirty="0"/>
              <a:t> previa y </a:t>
            </a:r>
            <a:r>
              <a:rPr dirty="0" err="1"/>
              <a:t>cambió</a:t>
            </a:r>
            <a:r>
              <a:rPr dirty="0"/>
              <a:t> el </a:t>
            </a:r>
            <a:r>
              <a:rPr dirty="0" err="1"/>
              <a:t>decil</a:t>
            </a:r>
            <a:r>
              <a:rPr dirty="0"/>
              <a:t> del 71,5 % de las series.</a:t>
            </a:r>
          </a:p>
          <a:p>
            <a:r>
              <a:rPr dirty="0"/>
              <a:t>• El error </a:t>
            </a:r>
            <a:r>
              <a:rPr dirty="0" err="1"/>
              <a:t>absoluto</a:t>
            </a:r>
            <a:r>
              <a:rPr dirty="0"/>
              <a:t> se </a:t>
            </a:r>
            <a:r>
              <a:rPr dirty="0" err="1"/>
              <a:t>concentra</a:t>
            </a:r>
            <a:r>
              <a:rPr dirty="0"/>
              <a:t> </a:t>
            </a:r>
            <a:r>
              <a:rPr dirty="0" err="1"/>
              <a:t>moderadamente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deciles de mayor </a:t>
            </a:r>
            <a:r>
              <a:rPr dirty="0" err="1"/>
              <a:t>volumen</a:t>
            </a:r>
            <a:r>
              <a:rPr dirty="0"/>
              <a:t>: 35,7 % </a:t>
            </a:r>
            <a:r>
              <a:rPr dirty="0" err="1"/>
              <a:t>en</a:t>
            </a:r>
            <a:r>
              <a:rPr dirty="0"/>
              <a:t> D8–D10 </a:t>
            </a:r>
            <a:r>
              <a:rPr dirty="0" err="1"/>
              <a:t>frente</a:t>
            </a:r>
            <a:r>
              <a:rPr dirty="0"/>
              <a:t> a 22,1 % </a:t>
            </a:r>
            <a:r>
              <a:rPr dirty="0" err="1"/>
              <a:t>en</a:t>
            </a:r>
            <a:r>
              <a:rPr dirty="0"/>
              <a:t> D1–D3.</a:t>
            </a:r>
          </a:p>
          <a:p>
            <a:r>
              <a:rPr dirty="0"/>
              <a:t>• ETS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menor</a:t>
            </a:r>
            <a:r>
              <a:rPr dirty="0"/>
              <a:t> WAPE </a:t>
            </a:r>
            <a:r>
              <a:rPr dirty="0" err="1"/>
              <a:t>que</a:t>
            </a:r>
            <a:r>
              <a:rPr dirty="0"/>
              <a:t> el Seasonal Naïve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diez</a:t>
            </a:r>
            <a:r>
              <a:rPr dirty="0"/>
              <a:t> deciles; </a:t>
            </a:r>
            <a:r>
              <a:rPr dirty="0" err="1"/>
              <a:t>en</a:t>
            </a:r>
            <a:r>
              <a:rPr dirty="0"/>
              <a:t> D8–D10, 7,7 % </a:t>
            </a:r>
            <a:r>
              <a:rPr dirty="0" err="1"/>
              <a:t>frente</a:t>
            </a:r>
            <a:r>
              <a:rPr dirty="0"/>
              <a:t> a 10,0 % (−22,9 %).</a:t>
            </a:r>
          </a:p>
          <a:p>
            <a:r>
              <a:rPr dirty="0"/>
              <a:t>•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aproximación</a:t>
            </a:r>
            <a:r>
              <a:rPr dirty="0"/>
              <a:t> a la </a:t>
            </a:r>
            <a:r>
              <a:rPr dirty="0" err="1"/>
              <a:t>materialidad</a:t>
            </a:r>
            <a:r>
              <a:rPr dirty="0"/>
              <a:t>, no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medición</a:t>
            </a:r>
            <a:r>
              <a:rPr dirty="0"/>
              <a:t> del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económico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CÓMO LEER EL VISUAL:</a:t>
            </a:r>
          </a:p>
          <a:p>
            <a:r>
              <a:rPr dirty="0"/>
              <a:t>• Barras </a:t>
            </a:r>
            <a:r>
              <a:rPr dirty="0" err="1"/>
              <a:t>oscuras</a:t>
            </a:r>
            <a:r>
              <a:rPr dirty="0"/>
              <a:t> = ETS; </a:t>
            </a:r>
            <a:r>
              <a:rPr dirty="0" err="1"/>
              <a:t>claras</a:t>
            </a:r>
            <a:r>
              <a:rPr dirty="0"/>
              <a:t> = Seasonal Naïve; </a:t>
            </a:r>
            <a:r>
              <a:rPr dirty="0" err="1"/>
              <a:t>menor</a:t>
            </a:r>
            <a:r>
              <a:rPr dirty="0"/>
              <a:t> es </a:t>
            </a:r>
            <a:r>
              <a:rPr dirty="0" err="1"/>
              <a:t>mejor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La </a:t>
            </a:r>
            <a:r>
              <a:rPr dirty="0" err="1"/>
              <a:t>ventaja</a:t>
            </a:r>
            <a:r>
              <a:rPr dirty="0"/>
              <a:t> de ETS no se </a:t>
            </a:r>
            <a:r>
              <a:rPr dirty="0" err="1"/>
              <a:t>circunscribe</a:t>
            </a:r>
            <a:r>
              <a:rPr dirty="0"/>
              <a:t> a las series de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cuantía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</a:t>
            </a:r>
            <a:r>
              <a:rPr dirty="0" err="1"/>
              <a:t>Sintetizamos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criterios</a:t>
            </a:r>
            <a:r>
              <a:rPr dirty="0"/>
              <a:t> se </a:t>
            </a:r>
            <a:r>
              <a:rPr dirty="0" err="1"/>
              <a:t>cumplen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3   ·   TIEMPO OBJETIVO: 1,0 min</a:t>
            </a:r>
          </a:p>
          <a:p>
            <a:r>
              <a:rPr dirty="0"/>
              <a:t>PREGUNTA QUE RESPONDE: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criterios</a:t>
            </a:r>
            <a:r>
              <a:rPr dirty="0"/>
              <a:t> de </a:t>
            </a:r>
            <a:r>
              <a:rPr dirty="0" err="1"/>
              <a:t>éxito</a:t>
            </a:r>
            <a:r>
              <a:rPr dirty="0"/>
              <a:t> se </a:t>
            </a:r>
            <a:r>
              <a:rPr dirty="0" err="1"/>
              <a:t>cumplen</a:t>
            </a:r>
            <a:r>
              <a:rPr dirty="0"/>
              <a:t> y </a:t>
            </a:r>
            <a:r>
              <a:rPr dirty="0" err="1"/>
              <a:t>cuáles</a:t>
            </a:r>
            <a:r>
              <a:rPr dirty="0"/>
              <a:t> no?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Cumplidos: </a:t>
            </a:r>
            <a:r>
              <a:rPr dirty="0" err="1"/>
              <a:t>sMAPE</a:t>
            </a:r>
            <a:r>
              <a:rPr dirty="0"/>
              <a:t> (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reducen</a:t>
            </a:r>
            <a:r>
              <a:rPr dirty="0"/>
              <a:t> ≥ 1,065 pp), WAPE </a:t>
            </a:r>
            <a:r>
              <a:rPr dirty="0" err="1"/>
              <a:t>en</a:t>
            </a:r>
            <a:r>
              <a:rPr dirty="0"/>
              <a:t> D8–D10 y </a:t>
            </a:r>
            <a:r>
              <a:rPr dirty="0" err="1"/>
              <a:t>significación</a:t>
            </a:r>
            <a:r>
              <a:rPr dirty="0"/>
              <a:t>.</a:t>
            </a:r>
          </a:p>
          <a:p>
            <a:r>
              <a:rPr dirty="0"/>
              <a:t>• No </a:t>
            </a:r>
            <a:r>
              <a:rPr dirty="0" err="1"/>
              <a:t>cumplidos</a:t>
            </a:r>
            <a:r>
              <a:rPr dirty="0"/>
              <a:t>: MASE &lt; 1,0 (</a:t>
            </a:r>
            <a:r>
              <a:rPr dirty="0" err="1"/>
              <a:t>mejor</a:t>
            </a:r>
            <a:r>
              <a:rPr dirty="0"/>
              <a:t> valor 1,017) y </a:t>
            </a:r>
            <a:r>
              <a:rPr dirty="0" err="1"/>
              <a:t>estabilidad</a:t>
            </a:r>
            <a:r>
              <a:rPr dirty="0"/>
              <a:t> (</a:t>
            </a:r>
            <a:r>
              <a:rPr dirty="0" err="1"/>
              <a:t>aspiracional</a:t>
            </a:r>
            <a:r>
              <a:rPr dirty="0"/>
              <a:t>).</a:t>
            </a:r>
          </a:p>
          <a:p>
            <a:r>
              <a:rPr dirty="0"/>
              <a:t>• Matiz del </a:t>
            </a:r>
            <a:r>
              <a:rPr dirty="0" err="1"/>
              <a:t>subcriterio</a:t>
            </a:r>
            <a:r>
              <a:rPr dirty="0"/>
              <a:t> de </a:t>
            </a:r>
            <a:r>
              <a:rPr dirty="0" err="1"/>
              <a:t>consistencia</a:t>
            </a:r>
            <a:r>
              <a:rPr dirty="0"/>
              <a:t> (&gt; 60 % de folds): ETS 71,4 %, SARIMA 68,2 %, Holt-Winters 64,6 % y </a:t>
            </a:r>
            <a:r>
              <a:rPr dirty="0" err="1"/>
              <a:t>LightGBM</a:t>
            </a:r>
            <a:r>
              <a:rPr dirty="0"/>
              <a:t> 62,5 % lo </a:t>
            </a:r>
            <a:r>
              <a:rPr dirty="0" err="1"/>
              <a:t>superan</a:t>
            </a:r>
            <a:r>
              <a:rPr dirty="0"/>
              <a:t>; N-BEATS 59,0 % y MLP 57,8 % no.</a:t>
            </a:r>
          </a:p>
          <a:p>
            <a:r>
              <a:rPr dirty="0"/>
              <a:t>• MASE ≥ 1 no equivale a '</a:t>
            </a:r>
            <a:r>
              <a:rPr dirty="0" err="1"/>
              <a:t>peor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naïve':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denominador</a:t>
            </a:r>
            <a:r>
              <a:rPr dirty="0"/>
              <a:t> 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y el </a:t>
            </a:r>
            <a:r>
              <a:rPr dirty="0" err="1"/>
              <a:t>sMAPE</a:t>
            </a:r>
            <a:r>
              <a:rPr dirty="0"/>
              <a:t> del baseline es fuera de </a:t>
            </a:r>
            <a:r>
              <a:rPr dirty="0" err="1"/>
              <a:t>muestra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mixto</a:t>
            </a:r>
            <a:r>
              <a:rPr dirty="0"/>
              <a:t>, </a:t>
            </a:r>
            <a:r>
              <a:rPr dirty="0" err="1"/>
              <a:t>presentado</a:t>
            </a:r>
            <a:r>
              <a:rPr dirty="0"/>
              <a:t> sin </a:t>
            </a:r>
            <a:r>
              <a:rPr dirty="0" err="1"/>
              <a:t>maquillar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Persona 1 </a:t>
            </a:r>
            <a:r>
              <a:rPr dirty="0" err="1"/>
              <a:t>interpreta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significan</a:t>
            </a:r>
            <a:r>
              <a:rPr dirty="0"/>
              <a:t> </a:t>
            </a:r>
            <a:r>
              <a:rPr dirty="0" err="1"/>
              <a:t>estos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3</a:t>
            </a:r>
            <a:r>
              <a:rPr dirty="0"/>
              <a:t>   ·   TIEMPO OBJETIVO: 1,5 min</a:t>
            </a:r>
          </a:p>
          <a:p>
            <a:r>
              <a:rPr dirty="0"/>
              <a:t>PREGUNTA QUE RESPONDE: ¿</a:t>
            </a:r>
            <a:r>
              <a:rPr dirty="0" err="1"/>
              <a:t>Confirman</a:t>
            </a:r>
            <a:r>
              <a:rPr dirty="0"/>
              <a:t> </a:t>
            </a:r>
            <a:r>
              <a:rPr dirty="0" err="1"/>
              <a:t>estos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complejidad</a:t>
            </a:r>
            <a:r>
              <a:rPr dirty="0"/>
              <a:t>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rendimiento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No de forma </a:t>
            </a:r>
            <a:r>
              <a:rPr dirty="0" err="1"/>
              <a:t>monótona</a:t>
            </a:r>
            <a:r>
              <a:rPr dirty="0"/>
              <a:t>: el baseline es el </a:t>
            </a:r>
            <a:r>
              <a:rPr dirty="0" err="1"/>
              <a:t>peor</a:t>
            </a:r>
            <a:r>
              <a:rPr dirty="0"/>
              <a:t>,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estadísticos</a:t>
            </a:r>
            <a:r>
              <a:rPr dirty="0"/>
              <a:t> </a:t>
            </a:r>
            <a:r>
              <a:rPr dirty="0" err="1"/>
              <a:t>clásicos</a:t>
            </a:r>
            <a:r>
              <a:rPr dirty="0"/>
              <a:t> </a:t>
            </a:r>
            <a:r>
              <a:rPr dirty="0" err="1"/>
              <a:t>mejoran</a:t>
            </a:r>
            <a:r>
              <a:rPr dirty="0"/>
              <a:t>, y ML y DL </a:t>
            </a:r>
            <a:r>
              <a:rPr dirty="0" err="1"/>
              <a:t>quedan</a:t>
            </a:r>
            <a:r>
              <a:rPr dirty="0"/>
              <a:t> entre ambos (medias 10,662 % y 11,967 %).</a:t>
            </a:r>
          </a:p>
          <a:p>
            <a:r>
              <a:rPr dirty="0"/>
              <a:t>• Es </a:t>
            </a:r>
            <a:r>
              <a:rPr dirty="0" err="1"/>
              <a:t>coherente</a:t>
            </a:r>
            <a:r>
              <a:rPr dirty="0"/>
              <a:t> con la </a:t>
            </a:r>
            <a:r>
              <a:rPr dirty="0" err="1"/>
              <a:t>literatura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cuestiona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'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complejo</a:t>
            </a:r>
            <a:r>
              <a:rPr dirty="0"/>
              <a:t> </a:t>
            </a:r>
            <a:r>
              <a:rPr dirty="0" err="1"/>
              <a:t>siempre</a:t>
            </a:r>
            <a:r>
              <a:rPr dirty="0"/>
              <a:t> es </a:t>
            </a:r>
            <a:r>
              <a:rPr dirty="0" err="1"/>
              <a:t>mejor</a:t>
            </a:r>
            <a:r>
              <a:rPr dirty="0"/>
              <a:t>' (M5; </a:t>
            </a:r>
            <a:r>
              <a:rPr dirty="0" err="1"/>
              <a:t>en</a:t>
            </a:r>
            <a:r>
              <a:rPr dirty="0"/>
              <a:t> M4 original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método</a:t>
            </a:r>
            <a:r>
              <a:rPr dirty="0"/>
              <a:t> de ML puro </a:t>
            </a:r>
            <a:r>
              <a:rPr dirty="0" err="1"/>
              <a:t>superó</a:t>
            </a:r>
            <a:r>
              <a:rPr dirty="0"/>
              <a:t> a la </a:t>
            </a:r>
            <a:r>
              <a:rPr dirty="0" err="1"/>
              <a:t>combinación</a:t>
            </a:r>
            <a:r>
              <a:rPr dirty="0"/>
              <a:t> </a:t>
            </a:r>
            <a:r>
              <a:rPr dirty="0" err="1"/>
              <a:t>estadística</a:t>
            </a:r>
            <a:r>
              <a:rPr dirty="0"/>
              <a:t>), </a:t>
            </a:r>
            <a:r>
              <a:rPr dirty="0" err="1"/>
              <a:t>pero</a:t>
            </a:r>
            <a:r>
              <a:rPr dirty="0"/>
              <a:t> con cautela: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protocolos</a:t>
            </a:r>
            <a:r>
              <a:rPr dirty="0"/>
              <a:t> y </a:t>
            </a:r>
            <a:r>
              <a:rPr dirty="0" err="1"/>
              <a:t>datos</a:t>
            </a:r>
            <a:r>
              <a:rPr dirty="0"/>
              <a:t> no son </a:t>
            </a:r>
            <a:r>
              <a:rPr dirty="0" err="1"/>
              <a:t>idénticos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Cautelas</a:t>
            </a:r>
            <a:r>
              <a:rPr dirty="0"/>
              <a:t> del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: </a:t>
            </a:r>
            <a:r>
              <a:rPr dirty="0" err="1"/>
              <a:t>hiperparámetros</a:t>
            </a:r>
            <a:r>
              <a:rPr dirty="0"/>
              <a:t> </a:t>
            </a:r>
            <a:r>
              <a:rPr dirty="0" err="1"/>
              <a:t>manuales</a:t>
            </a:r>
            <a:r>
              <a:rPr dirty="0"/>
              <a:t>, CPU y </a:t>
            </a:r>
            <a:r>
              <a:rPr dirty="0" err="1"/>
              <a:t>épocas</a:t>
            </a:r>
            <a:r>
              <a:rPr dirty="0"/>
              <a:t> </a:t>
            </a:r>
            <a:r>
              <a:rPr dirty="0" err="1"/>
              <a:t>limitadas</a:t>
            </a:r>
            <a:r>
              <a:rPr dirty="0"/>
              <a:t>, N-BEATS </a:t>
            </a:r>
            <a:r>
              <a:rPr dirty="0" err="1"/>
              <a:t>simplificado</a:t>
            </a:r>
            <a:r>
              <a:rPr dirty="0"/>
              <a:t>, N = 200 </a:t>
            </a:r>
            <a:r>
              <a:rPr dirty="0" err="1"/>
              <a:t>heterogéneas</a:t>
            </a:r>
            <a:r>
              <a:rPr dirty="0"/>
              <a:t>. Los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globales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aprender</a:t>
            </a:r>
            <a:r>
              <a:rPr dirty="0"/>
              <a:t> de series </a:t>
            </a:r>
            <a:r>
              <a:rPr dirty="0" err="1"/>
              <a:t>cortas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comparten</a:t>
            </a:r>
            <a:r>
              <a:rPr dirty="0"/>
              <a:t> </a:t>
            </a:r>
            <a:r>
              <a:rPr dirty="0" err="1"/>
              <a:t>patrones</a:t>
            </a:r>
            <a:r>
              <a:rPr dirty="0"/>
              <a:t>, </a:t>
            </a:r>
            <a:r>
              <a:rPr dirty="0" err="1"/>
              <a:t>condición</a:t>
            </a:r>
            <a:r>
              <a:rPr dirty="0"/>
              <a:t> no </a:t>
            </a:r>
            <a:r>
              <a:rPr dirty="0" err="1"/>
              <a:t>verificada</a:t>
            </a:r>
            <a:r>
              <a:rPr dirty="0"/>
              <a:t> </a:t>
            </a:r>
            <a:r>
              <a:rPr dirty="0" err="1"/>
              <a:t>aquí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Decirlo</a:t>
            </a:r>
            <a:r>
              <a:rPr dirty="0"/>
              <a:t> </a:t>
            </a:r>
            <a:r>
              <a:rPr dirty="0" err="1"/>
              <a:t>claramente</a:t>
            </a:r>
            <a:r>
              <a:rPr dirty="0"/>
              <a:t>: no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lo simple </a:t>
            </a:r>
            <a:r>
              <a:rPr dirty="0" err="1"/>
              <a:t>siempre</a:t>
            </a:r>
            <a:r>
              <a:rPr dirty="0"/>
              <a:t> </a:t>
            </a:r>
            <a:r>
              <a:rPr dirty="0" err="1"/>
              <a:t>gane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complejidad</a:t>
            </a:r>
            <a:r>
              <a:rPr dirty="0"/>
              <a:t> sea </a:t>
            </a:r>
            <a:r>
              <a:rPr dirty="0" err="1"/>
              <a:t>inútil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CÓMO LEER EL VISUAL:</a:t>
            </a:r>
          </a:p>
          <a:p>
            <a:r>
              <a:rPr dirty="0"/>
              <a:t>• Los puntos van de </a:t>
            </a:r>
            <a:r>
              <a:rPr dirty="0" err="1"/>
              <a:t>izquierda</a:t>
            </a:r>
            <a:r>
              <a:rPr dirty="0"/>
              <a:t> a </a:t>
            </a:r>
            <a:r>
              <a:rPr dirty="0" err="1"/>
              <a:t>derecha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complejidad</a:t>
            </a:r>
            <a:r>
              <a:rPr dirty="0"/>
              <a:t>; el color indica el </a:t>
            </a:r>
            <a:r>
              <a:rPr dirty="0" err="1"/>
              <a:t>nivel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Bajo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condiciones</a:t>
            </a:r>
            <a:r>
              <a:rPr dirty="0"/>
              <a:t>,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complejidad</a:t>
            </a:r>
            <a:r>
              <a:rPr dirty="0"/>
              <a:t> no se </a:t>
            </a:r>
            <a:r>
              <a:rPr dirty="0" err="1"/>
              <a:t>tradujo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precisión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¿Y el </a:t>
            </a:r>
            <a:r>
              <a:rPr dirty="0" err="1"/>
              <a:t>coste</a:t>
            </a:r>
            <a:r>
              <a:rPr dirty="0"/>
              <a:t> </a:t>
            </a:r>
            <a:r>
              <a:rPr dirty="0" err="1"/>
              <a:t>computacional</a:t>
            </a:r>
            <a:r>
              <a:rPr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3</a:t>
            </a:r>
            <a:r>
              <a:rPr dirty="0"/>
              <a:t>   ·   TIEMPO OBJETIVO: 1,25 min</a:t>
            </a:r>
          </a:p>
          <a:p>
            <a:r>
              <a:rPr dirty="0"/>
              <a:t>PREGUNTA QUE RESPONDE: ¿</a:t>
            </a:r>
            <a:r>
              <a:rPr dirty="0" err="1"/>
              <a:t>Compensa</a:t>
            </a:r>
            <a:r>
              <a:rPr dirty="0"/>
              <a:t> el </a:t>
            </a:r>
            <a:r>
              <a:rPr dirty="0" err="1"/>
              <a:t>coste</a:t>
            </a:r>
            <a:r>
              <a:rPr dirty="0"/>
              <a:t> </a:t>
            </a:r>
            <a:r>
              <a:rPr dirty="0" err="1"/>
              <a:t>computacional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complejos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</a:t>
            </a:r>
            <a:r>
              <a:rPr dirty="0" err="1"/>
              <a:t>LightGBM</a:t>
            </a:r>
            <a:r>
              <a:rPr dirty="0"/>
              <a:t> es el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 de </a:t>
            </a:r>
            <a:r>
              <a:rPr dirty="0" err="1"/>
              <a:t>ajustar</a:t>
            </a:r>
            <a:r>
              <a:rPr dirty="0"/>
              <a:t> (1,0 s para las 200 series, </a:t>
            </a:r>
            <a:r>
              <a:rPr dirty="0" err="1"/>
              <a:t>frente</a:t>
            </a:r>
            <a:r>
              <a:rPr dirty="0"/>
              <a:t> a 24,1 s de ETS) gracias al </a:t>
            </a:r>
            <a:r>
              <a:rPr dirty="0" err="1"/>
              <a:t>entrenamiento</a:t>
            </a:r>
            <a:r>
              <a:rPr dirty="0"/>
              <a:t> global y al </a:t>
            </a:r>
            <a:r>
              <a:rPr dirty="0" err="1"/>
              <a:t>paralelismo</a:t>
            </a:r>
            <a:r>
              <a:rPr dirty="0"/>
              <a:t> </a:t>
            </a:r>
            <a:r>
              <a:rPr dirty="0" err="1"/>
              <a:t>multinúcleo</a:t>
            </a:r>
            <a:r>
              <a:rPr dirty="0"/>
              <a:t> (CPU medio 641 %).</a:t>
            </a:r>
          </a:p>
          <a:p>
            <a:r>
              <a:rPr dirty="0"/>
              <a:t>• N-BEATS es el </a:t>
            </a:r>
            <a:r>
              <a:rPr dirty="0" err="1"/>
              <a:t>más</a:t>
            </a:r>
            <a:r>
              <a:rPr dirty="0"/>
              <a:t> lento (80,8 s,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SARIMA con 46,5 s) y el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pesado</a:t>
            </a:r>
            <a:r>
              <a:rPr dirty="0"/>
              <a:t>: 859 MB de </a:t>
            </a:r>
            <a:r>
              <a:rPr dirty="0" err="1"/>
              <a:t>pico</a:t>
            </a:r>
            <a:r>
              <a:rPr dirty="0"/>
              <a:t> y 1.345,1 KB </a:t>
            </a:r>
            <a:r>
              <a:rPr dirty="0" err="1"/>
              <a:t>serializados</a:t>
            </a:r>
            <a:r>
              <a:rPr dirty="0"/>
              <a:t>.</a:t>
            </a:r>
          </a:p>
          <a:p>
            <a:r>
              <a:rPr dirty="0"/>
              <a:t>• Estadísticos: ≈ 100 % de CPU, es </a:t>
            </a:r>
            <a:r>
              <a:rPr dirty="0" err="1"/>
              <a:t>decir</a:t>
            </a:r>
            <a:r>
              <a:rPr dirty="0"/>
              <a:t>, un </a:t>
            </a:r>
            <a:r>
              <a:rPr dirty="0" err="1"/>
              <a:t>núcleo</a:t>
            </a:r>
            <a:r>
              <a:rPr dirty="0"/>
              <a:t> </a:t>
            </a:r>
            <a:r>
              <a:rPr dirty="0" err="1"/>
              <a:t>lógico</a:t>
            </a:r>
            <a:r>
              <a:rPr dirty="0"/>
              <a:t>. Redes: 709 % y 838 % de media.</a:t>
            </a:r>
          </a:p>
          <a:p>
            <a:r>
              <a:rPr dirty="0"/>
              <a:t>• </a:t>
            </a:r>
            <a:r>
              <a:rPr dirty="0" err="1"/>
              <a:t>Aclarar</a:t>
            </a:r>
            <a:r>
              <a:rPr dirty="0"/>
              <a:t>: la memoria es el RSS total del </a:t>
            </a:r>
            <a:r>
              <a:rPr dirty="0" err="1"/>
              <a:t>proceso</a:t>
            </a:r>
            <a:r>
              <a:rPr dirty="0"/>
              <a:t> e </a:t>
            </a:r>
            <a:r>
              <a:rPr dirty="0" err="1"/>
              <a:t>incluye</a:t>
            </a:r>
            <a:r>
              <a:rPr dirty="0"/>
              <a:t> ≈ 635 MB de </a:t>
            </a:r>
            <a:r>
              <a:rPr dirty="0" err="1"/>
              <a:t>entorno</a:t>
            </a:r>
            <a:r>
              <a:rPr dirty="0"/>
              <a:t> base; la CPU de Seasonal Naïve no se </a:t>
            </a:r>
            <a:r>
              <a:rPr dirty="0" err="1"/>
              <a:t>registró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terminó</a:t>
            </a:r>
            <a:r>
              <a:rPr dirty="0"/>
              <a:t> antes del primer </a:t>
            </a:r>
            <a:r>
              <a:rPr dirty="0" err="1"/>
              <a:t>muestreo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El </a:t>
            </a:r>
            <a:r>
              <a:rPr dirty="0" err="1"/>
              <a:t>paradigma</a:t>
            </a:r>
            <a:r>
              <a:rPr dirty="0"/>
              <a:t> global no </a:t>
            </a:r>
            <a:r>
              <a:rPr dirty="0" err="1"/>
              <a:t>garantiza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coste</a:t>
            </a:r>
            <a:r>
              <a:rPr dirty="0"/>
              <a:t>; </a:t>
            </a:r>
            <a:r>
              <a:rPr dirty="0" err="1"/>
              <a:t>depende</a:t>
            </a:r>
            <a:r>
              <a:rPr dirty="0"/>
              <a:t> de la </a:t>
            </a:r>
            <a:r>
              <a:rPr dirty="0" err="1"/>
              <a:t>arquitectura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Con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esto</a:t>
            </a:r>
            <a:r>
              <a:rPr dirty="0"/>
              <a:t>,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podemos</a:t>
            </a:r>
            <a:r>
              <a:rPr dirty="0"/>
              <a:t> </a:t>
            </a:r>
            <a:r>
              <a:rPr dirty="0" err="1"/>
              <a:t>proponer</a:t>
            </a:r>
            <a:r>
              <a:rPr dirty="0"/>
              <a:t> para </a:t>
            </a:r>
            <a:r>
              <a:rPr dirty="0" err="1"/>
              <a:t>decidir</a:t>
            </a:r>
            <a:r>
              <a:rPr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3</a:t>
            </a:r>
            <a:r>
              <a:rPr dirty="0"/>
              <a:t>   ·   TIEMPO OBJETIVO: 1,25 min</a:t>
            </a:r>
          </a:p>
          <a:p>
            <a:r>
              <a:rPr dirty="0"/>
              <a:t>PREGUNTA QUE RESPONDE: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criterio</a:t>
            </a:r>
            <a:r>
              <a:rPr dirty="0"/>
              <a:t> </a:t>
            </a:r>
            <a:r>
              <a:rPr dirty="0" err="1"/>
              <a:t>práctico</a:t>
            </a:r>
            <a:r>
              <a:rPr dirty="0"/>
              <a:t> se </a:t>
            </a:r>
            <a:r>
              <a:rPr dirty="0" err="1"/>
              <a:t>deriva</a:t>
            </a:r>
            <a:r>
              <a:rPr dirty="0"/>
              <a:t> y con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fiabilidad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Tres </a:t>
            </a:r>
            <a:r>
              <a:rPr dirty="0" err="1"/>
              <a:t>reglas</a:t>
            </a:r>
            <a:r>
              <a:rPr dirty="0"/>
              <a:t> </a:t>
            </a:r>
            <a:r>
              <a:rPr dirty="0" err="1"/>
              <a:t>orientativas</a:t>
            </a:r>
            <a:r>
              <a:rPr dirty="0"/>
              <a:t>: R1 </a:t>
            </a:r>
            <a:r>
              <a:rPr dirty="0" err="1"/>
              <a:t>longitud</a:t>
            </a:r>
            <a:r>
              <a:rPr dirty="0"/>
              <a:t> de </a:t>
            </a:r>
            <a:r>
              <a:rPr dirty="0" err="1"/>
              <a:t>serie</a:t>
            </a:r>
            <a:r>
              <a:rPr dirty="0"/>
              <a:t>, R2 </a:t>
            </a:r>
            <a:r>
              <a:rPr dirty="0" err="1"/>
              <a:t>volumen</a:t>
            </a:r>
            <a:r>
              <a:rPr dirty="0"/>
              <a:t> y </a:t>
            </a:r>
            <a:r>
              <a:rPr dirty="0" err="1"/>
              <a:t>criticidad</a:t>
            </a:r>
            <a:r>
              <a:rPr dirty="0"/>
              <a:t>, R3 </a:t>
            </a:r>
            <a:r>
              <a:rPr dirty="0" err="1"/>
              <a:t>datos</a:t>
            </a:r>
            <a:r>
              <a:rPr dirty="0"/>
              <a:t> cross-series; se </a:t>
            </a:r>
            <a:r>
              <a:rPr dirty="0" err="1"/>
              <a:t>aplican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secuencia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el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planificación</a:t>
            </a:r>
            <a:r>
              <a:rPr dirty="0"/>
              <a:t>.</a:t>
            </a:r>
          </a:p>
          <a:p>
            <a:r>
              <a:rPr dirty="0"/>
              <a:t>• Decir con </a:t>
            </a:r>
            <a:r>
              <a:rPr dirty="0" err="1"/>
              <a:t>claridad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propuesta</a:t>
            </a:r>
            <a:r>
              <a:rPr dirty="0"/>
              <a:t> </a:t>
            </a:r>
            <a:r>
              <a:rPr dirty="0" err="1"/>
              <a:t>preliminar</a:t>
            </a:r>
            <a:r>
              <a:rPr dirty="0"/>
              <a:t> NO </a:t>
            </a:r>
            <a:r>
              <a:rPr dirty="0" err="1"/>
              <a:t>validada</a:t>
            </a:r>
            <a:r>
              <a:rPr dirty="0"/>
              <a:t> </a:t>
            </a:r>
            <a:r>
              <a:rPr dirty="0" err="1"/>
              <a:t>externamente</a:t>
            </a:r>
            <a:r>
              <a:rPr dirty="0"/>
              <a:t> y </a:t>
            </a:r>
            <a:r>
              <a:rPr dirty="0" err="1"/>
              <a:t>que</a:t>
            </a:r>
            <a:r>
              <a:rPr dirty="0"/>
              <a:t> la confianza es baja (R1, R2) y baja-media (R3).</a:t>
            </a:r>
          </a:p>
          <a:p>
            <a:r>
              <a:rPr dirty="0"/>
              <a:t>• R1: el </a:t>
            </a:r>
            <a:r>
              <a:rPr dirty="0" err="1"/>
              <a:t>experimento</a:t>
            </a:r>
            <a:r>
              <a:rPr dirty="0"/>
              <a:t> no </a:t>
            </a:r>
            <a:r>
              <a:rPr dirty="0" err="1"/>
              <a:t>comparó</a:t>
            </a:r>
            <a:r>
              <a:rPr dirty="0"/>
              <a:t> </a:t>
            </a:r>
            <a:r>
              <a:rPr dirty="0" err="1"/>
              <a:t>segmentos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encima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debajo</a:t>
            </a:r>
            <a:r>
              <a:rPr dirty="0"/>
              <a:t> de 120 </a:t>
            </a:r>
            <a:r>
              <a:rPr dirty="0" err="1"/>
              <a:t>observaciones</a:t>
            </a:r>
            <a:r>
              <a:rPr dirty="0"/>
              <a:t>; la </a:t>
            </a:r>
            <a:r>
              <a:rPr dirty="0" err="1"/>
              <a:t>cifra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convención</a:t>
            </a:r>
            <a:r>
              <a:rPr dirty="0"/>
              <a:t> </a:t>
            </a:r>
            <a:r>
              <a:rPr dirty="0" err="1"/>
              <a:t>práctica</a:t>
            </a:r>
            <a:r>
              <a:rPr dirty="0"/>
              <a:t>. R2: no hay </a:t>
            </a:r>
            <a:r>
              <a:rPr dirty="0" err="1"/>
              <a:t>literatura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demuestre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un </a:t>
            </a:r>
            <a:r>
              <a:rPr dirty="0" err="1"/>
              <a:t>menor</a:t>
            </a:r>
            <a:r>
              <a:rPr dirty="0"/>
              <a:t> CV </a:t>
            </a:r>
            <a:r>
              <a:rPr dirty="0" err="1"/>
              <a:t>mejore</a:t>
            </a:r>
            <a:r>
              <a:rPr dirty="0"/>
              <a:t> las </a:t>
            </a:r>
            <a:r>
              <a:rPr dirty="0" err="1"/>
              <a:t>decisiones</a:t>
            </a:r>
            <a:r>
              <a:rPr dirty="0"/>
              <a:t> de FP&amp;A. R3: sin umbral </a:t>
            </a:r>
            <a:r>
              <a:rPr dirty="0" err="1"/>
              <a:t>numérico</a:t>
            </a:r>
            <a:r>
              <a:rPr dirty="0"/>
              <a:t> </a:t>
            </a:r>
            <a:r>
              <a:rPr dirty="0" err="1"/>
              <a:t>fijo</a:t>
            </a:r>
            <a:r>
              <a:rPr dirty="0"/>
              <a:t> </a:t>
            </a:r>
            <a:r>
              <a:rPr dirty="0" err="1"/>
              <a:t>derivado</a:t>
            </a:r>
            <a:r>
              <a:rPr dirty="0"/>
              <a:t> del </a:t>
            </a:r>
            <a:r>
              <a:rPr dirty="0" err="1"/>
              <a:t>experimento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propuesta</a:t>
            </a:r>
            <a:r>
              <a:rPr dirty="0"/>
              <a:t> </a:t>
            </a:r>
            <a:r>
              <a:rPr dirty="0" err="1"/>
              <a:t>heurística</a:t>
            </a:r>
            <a:r>
              <a:rPr dirty="0"/>
              <a:t> </a:t>
            </a:r>
            <a:r>
              <a:rPr dirty="0" err="1"/>
              <a:t>preliminar</a:t>
            </a:r>
            <a:r>
              <a:rPr dirty="0"/>
              <a:t>, no un framework </a:t>
            </a:r>
            <a:r>
              <a:rPr dirty="0" err="1"/>
              <a:t>validado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Persona 2 </a:t>
            </a:r>
            <a:r>
              <a:rPr dirty="0" err="1"/>
              <a:t>cierra</a:t>
            </a:r>
            <a:r>
              <a:rPr dirty="0"/>
              <a:t> con las </a:t>
            </a:r>
            <a:r>
              <a:rPr dirty="0" err="1"/>
              <a:t>limitaciones</a:t>
            </a:r>
            <a:r>
              <a:rPr dirty="0"/>
              <a:t> y las </a:t>
            </a:r>
            <a:r>
              <a:rPr dirty="0" err="1"/>
              <a:t>conclusiones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3</a:t>
            </a:r>
            <a:r>
              <a:rPr dirty="0"/>
              <a:t>   ·   TIEMPO OBJETIVO: 1,25 min</a:t>
            </a:r>
          </a:p>
          <a:p>
            <a:r>
              <a:rPr dirty="0"/>
              <a:t>PREGUNTA QUE RESPONDE: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límites</a:t>
            </a:r>
            <a:r>
              <a:rPr dirty="0"/>
              <a:t> </a:t>
            </a:r>
            <a:r>
              <a:rPr dirty="0" err="1"/>
              <a:t>condicionan</a:t>
            </a:r>
            <a:r>
              <a:rPr dirty="0"/>
              <a:t>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conclusiones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Datos: M4 es un proxy; N = 200 (</a:t>
            </a:r>
            <a:r>
              <a:rPr dirty="0" err="1"/>
              <a:t>desde</a:t>
            </a:r>
            <a:r>
              <a:rPr dirty="0"/>
              <a:t> 400) y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frecuencia</a:t>
            </a:r>
            <a:r>
              <a:rPr dirty="0"/>
              <a:t> </a:t>
            </a:r>
            <a:r>
              <a:rPr dirty="0" err="1"/>
              <a:t>mensual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Configuración</a:t>
            </a:r>
            <a:r>
              <a:rPr dirty="0"/>
              <a:t>: </a:t>
            </a:r>
            <a:r>
              <a:rPr dirty="0" err="1"/>
              <a:t>hiperparámetros</a:t>
            </a:r>
            <a:r>
              <a:rPr dirty="0"/>
              <a:t> </a:t>
            </a:r>
            <a:r>
              <a:rPr dirty="0" err="1"/>
              <a:t>manuales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a </a:t>
            </a:r>
            <a:r>
              <a:rPr dirty="0" err="1"/>
              <a:t>búsqueda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; </a:t>
            </a:r>
            <a:r>
              <a:rPr dirty="0" err="1"/>
              <a:t>épocas</a:t>
            </a:r>
            <a:r>
              <a:rPr dirty="0"/>
              <a:t> </a:t>
            </a:r>
            <a:r>
              <a:rPr dirty="0" err="1"/>
              <a:t>limitadas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CPU.</a:t>
            </a:r>
          </a:p>
          <a:p>
            <a:r>
              <a:rPr dirty="0"/>
              <a:t>• </a:t>
            </a:r>
            <a:r>
              <a:rPr dirty="0" err="1"/>
              <a:t>Métricas</a:t>
            </a:r>
            <a:r>
              <a:rPr dirty="0"/>
              <a:t>: MAE y RMSE </a:t>
            </a:r>
            <a:r>
              <a:rPr dirty="0" err="1"/>
              <a:t>mezclan</a:t>
            </a:r>
            <a:r>
              <a:rPr dirty="0"/>
              <a:t> </a:t>
            </a:r>
            <a:r>
              <a:rPr dirty="0" err="1"/>
              <a:t>escalas</a:t>
            </a:r>
            <a:r>
              <a:rPr dirty="0"/>
              <a:t>; WAPE y </a:t>
            </a:r>
            <a:r>
              <a:rPr dirty="0" err="1"/>
              <a:t>volumen</a:t>
            </a:r>
            <a:r>
              <a:rPr dirty="0"/>
              <a:t> </a:t>
            </a:r>
            <a:r>
              <a:rPr dirty="0" err="1"/>
              <a:t>aproximan</a:t>
            </a:r>
            <a:r>
              <a:rPr dirty="0"/>
              <a:t> la </a:t>
            </a:r>
            <a:r>
              <a:rPr dirty="0" err="1"/>
              <a:t>materialidad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Alcance</a:t>
            </a:r>
            <a:r>
              <a:rPr dirty="0"/>
              <a:t>: sin variables </a:t>
            </a:r>
            <a:r>
              <a:rPr dirty="0" err="1"/>
              <a:t>exógenas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intervalos</a:t>
            </a:r>
            <a:r>
              <a:rPr dirty="0"/>
              <a:t> de </a:t>
            </a:r>
            <a:r>
              <a:rPr dirty="0" err="1"/>
              <a:t>predicción</a:t>
            </a:r>
            <a:r>
              <a:rPr dirty="0"/>
              <a:t>; sin </a:t>
            </a:r>
            <a:r>
              <a:rPr dirty="0" err="1"/>
              <a:t>validación</a:t>
            </a:r>
            <a:r>
              <a:rPr dirty="0"/>
              <a:t> con </a:t>
            </a:r>
            <a:r>
              <a:rPr dirty="0" err="1"/>
              <a:t>profesionales</a:t>
            </a:r>
            <a:r>
              <a:rPr dirty="0"/>
              <a:t> de FP&amp;A.</a:t>
            </a:r>
          </a:p>
          <a:p>
            <a:r>
              <a:rPr dirty="0"/>
              <a:t>• </a:t>
            </a:r>
            <a:r>
              <a:rPr dirty="0" err="1"/>
              <a:t>Además</a:t>
            </a:r>
            <a:r>
              <a:rPr dirty="0"/>
              <a:t>: CV temporal con 20 series de un solo fold </a:t>
            </a:r>
            <a:r>
              <a:rPr dirty="0" err="1"/>
              <a:t>excluidas</a:t>
            </a:r>
            <a:r>
              <a:rPr dirty="0"/>
              <a:t>; memoria </a:t>
            </a:r>
            <a:r>
              <a:rPr dirty="0" err="1"/>
              <a:t>como</a:t>
            </a:r>
            <a:r>
              <a:rPr dirty="0"/>
              <a:t> RSS total; CPU de </a:t>
            </a:r>
            <a:r>
              <a:rPr dirty="0" err="1"/>
              <a:t>SNaive</a:t>
            </a:r>
            <a:r>
              <a:rPr dirty="0"/>
              <a:t> no </a:t>
            </a:r>
            <a:r>
              <a:rPr dirty="0" err="1"/>
              <a:t>registrada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Las </a:t>
            </a:r>
            <a:r>
              <a:rPr dirty="0" err="1"/>
              <a:t>conclusiones</a:t>
            </a:r>
            <a:r>
              <a:rPr dirty="0"/>
              <a:t> </a:t>
            </a:r>
            <a:r>
              <a:rPr dirty="0" err="1"/>
              <a:t>valen</a:t>
            </a:r>
            <a:r>
              <a:rPr dirty="0"/>
              <a:t> bajo las </a:t>
            </a:r>
            <a:r>
              <a:rPr dirty="0" err="1"/>
              <a:t>condiciones</a:t>
            </a:r>
            <a:r>
              <a:rPr dirty="0"/>
              <a:t> del </a:t>
            </a:r>
            <a:r>
              <a:rPr dirty="0" err="1"/>
              <a:t>estudio</a:t>
            </a:r>
            <a:r>
              <a:rPr dirty="0"/>
              <a:t>, y el </a:t>
            </a:r>
            <a:r>
              <a:rPr dirty="0" err="1"/>
              <a:t>trabajo</a:t>
            </a:r>
            <a:r>
              <a:rPr dirty="0"/>
              <a:t> lo </a:t>
            </a:r>
            <a:r>
              <a:rPr dirty="0" err="1"/>
              <a:t>declara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Con </a:t>
            </a:r>
            <a:r>
              <a:rPr dirty="0" err="1"/>
              <a:t>estos</a:t>
            </a:r>
            <a:r>
              <a:rPr dirty="0"/>
              <a:t> </a:t>
            </a:r>
            <a:r>
              <a:rPr dirty="0" err="1"/>
              <a:t>límites</a:t>
            </a:r>
            <a:r>
              <a:rPr dirty="0"/>
              <a:t>, las </a:t>
            </a:r>
            <a:r>
              <a:rPr dirty="0" err="1"/>
              <a:t>conclusiones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 </a:t>
            </a:r>
            <a:r>
              <a:rPr lang="es-ES" dirty="0"/>
              <a:t>3</a:t>
            </a:r>
            <a:r>
              <a:rPr dirty="0"/>
              <a:t>·   TIEMPO OBJETIVO: 1,25 min</a:t>
            </a:r>
          </a:p>
          <a:p>
            <a:r>
              <a:rPr dirty="0"/>
              <a:t>PREGUNTA QUE RESPONDE: ¿Se </a:t>
            </a:r>
            <a:r>
              <a:rPr dirty="0" err="1"/>
              <a:t>cumplieron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objetivos</a:t>
            </a:r>
            <a:r>
              <a:rPr dirty="0"/>
              <a:t> y </a:t>
            </a:r>
            <a:r>
              <a:rPr dirty="0" err="1"/>
              <a:t>cuál</a:t>
            </a:r>
            <a:r>
              <a:rPr dirty="0"/>
              <a:t> es el </a:t>
            </a:r>
            <a:r>
              <a:rPr dirty="0" err="1"/>
              <a:t>mensaje</a:t>
            </a:r>
            <a:r>
              <a:rPr dirty="0"/>
              <a:t> final?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Persona 2: OE1–OE4 </a:t>
            </a:r>
            <a:r>
              <a:rPr dirty="0" err="1"/>
              <a:t>alcanzados</a:t>
            </a:r>
            <a:r>
              <a:rPr dirty="0"/>
              <a:t>; OE5 </a:t>
            </a:r>
            <a:r>
              <a:rPr dirty="0" err="1"/>
              <a:t>parcialmente</a:t>
            </a:r>
            <a:r>
              <a:rPr dirty="0"/>
              <a:t> </a:t>
            </a:r>
            <a:r>
              <a:rPr dirty="0" err="1"/>
              <a:t>alcanzado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la </a:t>
            </a:r>
            <a:r>
              <a:rPr dirty="0" err="1"/>
              <a:t>propuesta</a:t>
            </a:r>
            <a:r>
              <a:rPr dirty="0"/>
              <a:t> es </a:t>
            </a:r>
            <a:r>
              <a:rPr dirty="0" err="1"/>
              <a:t>heurística</a:t>
            </a:r>
            <a:r>
              <a:rPr dirty="0"/>
              <a:t> y </a:t>
            </a:r>
            <a:r>
              <a:rPr dirty="0" err="1"/>
              <a:t>preliminar</a:t>
            </a:r>
            <a:r>
              <a:rPr dirty="0"/>
              <a:t>.</a:t>
            </a:r>
          </a:p>
          <a:p>
            <a:r>
              <a:rPr dirty="0"/>
              <a:t>• Persona 3: </a:t>
            </a:r>
            <a:r>
              <a:rPr dirty="0" err="1"/>
              <a:t>hallazgo</a:t>
            </a:r>
            <a:r>
              <a:rPr dirty="0"/>
              <a:t> — ETS (10,0 % </a:t>
            </a:r>
            <a:r>
              <a:rPr dirty="0" err="1"/>
              <a:t>frente</a:t>
            </a:r>
            <a:r>
              <a:rPr dirty="0"/>
              <a:t> a 13,7 %)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estadísticos</a:t>
            </a:r>
            <a:r>
              <a:rPr dirty="0"/>
              <a:t> </a:t>
            </a:r>
            <a:r>
              <a:rPr dirty="0" err="1"/>
              <a:t>clásicos</a:t>
            </a:r>
            <a:r>
              <a:rPr dirty="0"/>
              <a:t> </a:t>
            </a:r>
            <a:r>
              <a:rPr dirty="0" err="1"/>
              <a:t>lideran</a:t>
            </a:r>
            <a:r>
              <a:rPr dirty="0"/>
              <a:t> bajo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condiciones</a:t>
            </a:r>
            <a:r>
              <a:rPr dirty="0"/>
              <a:t>;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alcanza</a:t>
            </a:r>
            <a:r>
              <a:rPr dirty="0"/>
              <a:t> el umbral </a:t>
            </a:r>
            <a:r>
              <a:rPr dirty="0" err="1"/>
              <a:t>exploratorio</a:t>
            </a:r>
            <a:r>
              <a:rPr dirty="0"/>
              <a:t> de </a:t>
            </a:r>
            <a:r>
              <a:rPr dirty="0" err="1"/>
              <a:t>estabilidad</a:t>
            </a:r>
            <a:r>
              <a:rPr dirty="0"/>
              <a:t>.</a:t>
            </a:r>
          </a:p>
          <a:p>
            <a:r>
              <a:rPr dirty="0"/>
              <a:t>• Persona 1: cautela — no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lo simple </a:t>
            </a:r>
            <a:r>
              <a:rPr dirty="0" err="1"/>
              <a:t>siempre</a:t>
            </a:r>
            <a:r>
              <a:rPr dirty="0"/>
              <a:t> </a:t>
            </a:r>
            <a:r>
              <a:rPr dirty="0" err="1"/>
              <a:t>gane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complejidad</a:t>
            </a:r>
            <a:r>
              <a:rPr dirty="0"/>
              <a:t> sea </a:t>
            </a:r>
            <a:r>
              <a:rPr dirty="0" err="1"/>
              <a:t>inútil</a:t>
            </a:r>
            <a:r>
              <a:rPr dirty="0"/>
              <a:t>; </a:t>
            </a:r>
            <a:r>
              <a:rPr dirty="0" err="1"/>
              <a:t>falta</a:t>
            </a:r>
            <a:r>
              <a:rPr dirty="0"/>
              <a:t> </a:t>
            </a:r>
            <a:r>
              <a:rPr dirty="0" err="1"/>
              <a:t>validar</a:t>
            </a:r>
            <a:r>
              <a:rPr dirty="0"/>
              <a:t> con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corporativos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</a:t>
            </a: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cumplidos</a:t>
            </a:r>
            <a:r>
              <a:rPr dirty="0"/>
              <a:t> con </a:t>
            </a:r>
            <a:r>
              <a:rPr dirty="0" err="1"/>
              <a:t>honestidad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validar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Persona 2 </a:t>
            </a:r>
            <a:r>
              <a:rPr dirty="0" err="1"/>
              <a:t>presenta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pasos </a:t>
            </a:r>
            <a:r>
              <a:rPr dirty="0" err="1"/>
              <a:t>siguientes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</a:t>
            </a:r>
            <a:r>
              <a:rPr lang="es-ES" dirty="0"/>
              <a:t> 3</a:t>
            </a:r>
            <a:r>
              <a:rPr dirty="0"/>
              <a:t>·   TIEMPO OBJETIVO: 1,0 min</a:t>
            </a:r>
          </a:p>
          <a:p>
            <a:r>
              <a:rPr dirty="0"/>
              <a:t>PREGUNTA QUE RESPONDE: ¿</a:t>
            </a:r>
            <a:r>
              <a:rPr dirty="0" err="1"/>
              <a:t>Qué</a:t>
            </a:r>
            <a:r>
              <a:rPr dirty="0"/>
              <a:t> hay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Primero lo </a:t>
            </a:r>
            <a:r>
              <a:rPr dirty="0" err="1"/>
              <a:t>imprescindible</a:t>
            </a:r>
            <a:r>
              <a:rPr dirty="0"/>
              <a:t> para </a:t>
            </a:r>
            <a:r>
              <a:rPr dirty="0" err="1"/>
              <a:t>validar</a:t>
            </a:r>
            <a:r>
              <a:rPr dirty="0"/>
              <a:t> el framework: </a:t>
            </a:r>
            <a:r>
              <a:rPr dirty="0" err="1"/>
              <a:t>despliegue</a:t>
            </a:r>
            <a:r>
              <a:rPr dirty="0"/>
              <a:t> longitudinal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organización</a:t>
            </a:r>
            <a:r>
              <a:rPr dirty="0"/>
              <a:t> real, panel de </a:t>
            </a:r>
            <a:r>
              <a:rPr dirty="0" err="1"/>
              <a:t>expertos</a:t>
            </a:r>
            <a:r>
              <a:rPr dirty="0"/>
              <a:t> de FP&amp;A y </a:t>
            </a: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viabilidad</a:t>
            </a:r>
            <a:r>
              <a:rPr dirty="0"/>
              <a:t> </a:t>
            </a:r>
            <a:r>
              <a:rPr dirty="0" err="1"/>
              <a:t>económica</a:t>
            </a:r>
            <a:r>
              <a:rPr dirty="0"/>
              <a:t> y </a:t>
            </a:r>
            <a:r>
              <a:rPr dirty="0" err="1"/>
              <a:t>costes</a:t>
            </a:r>
            <a:r>
              <a:rPr dirty="0"/>
              <a:t> de </a:t>
            </a:r>
            <a:r>
              <a:rPr dirty="0" err="1"/>
              <a:t>implantación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Después</a:t>
            </a:r>
            <a:r>
              <a:rPr dirty="0"/>
              <a:t> las </a:t>
            </a:r>
            <a:r>
              <a:rPr dirty="0" err="1"/>
              <a:t>ampliaciones</a:t>
            </a:r>
            <a:r>
              <a:rPr dirty="0"/>
              <a:t> </a:t>
            </a:r>
            <a:r>
              <a:rPr dirty="0" err="1"/>
              <a:t>técnicas</a:t>
            </a:r>
            <a:r>
              <a:rPr dirty="0"/>
              <a:t>: </a:t>
            </a:r>
            <a:r>
              <a:rPr dirty="0" err="1"/>
              <a:t>ensamblado</a:t>
            </a:r>
            <a:r>
              <a:rPr dirty="0"/>
              <a:t> y </a:t>
            </a:r>
            <a:r>
              <a:rPr dirty="0" err="1"/>
              <a:t>selección</a:t>
            </a:r>
            <a:r>
              <a:rPr dirty="0"/>
              <a:t> </a:t>
            </a:r>
            <a:r>
              <a:rPr dirty="0" err="1"/>
              <a:t>dinámica</a:t>
            </a:r>
            <a:r>
              <a:rPr dirty="0"/>
              <a:t>,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fundacionales</a:t>
            </a:r>
            <a:r>
              <a:rPr dirty="0"/>
              <a:t> (Chronos, </a:t>
            </a:r>
            <a:r>
              <a:rPr dirty="0" err="1"/>
              <a:t>FinCast</a:t>
            </a:r>
            <a:r>
              <a:rPr dirty="0"/>
              <a:t>), </a:t>
            </a:r>
            <a:r>
              <a:rPr dirty="0" err="1"/>
              <a:t>optimización</a:t>
            </a:r>
            <a:r>
              <a:rPr dirty="0"/>
              <a:t> </a:t>
            </a:r>
            <a:r>
              <a:rPr dirty="0" err="1"/>
              <a:t>bayesiana</a:t>
            </a:r>
            <a:r>
              <a:rPr dirty="0"/>
              <a:t>, </a:t>
            </a:r>
            <a:r>
              <a:rPr dirty="0" err="1"/>
              <a:t>horizontes</a:t>
            </a:r>
            <a:r>
              <a:rPr dirty="0"/>
              <a:t> </a:t>
            </a:r>
            <a:r>
              <a:rPr dirty="0" err="1"/>
              <a:t>múltiples</a:t>
            </a:r>
            <a:r>
              <a:rPr dirty="0"/>
              <a:t> y variables </a:t>
            </a:r>
            <a:r>
              <a:rPr dirty="0" err="1"/>
              <a:t>exógenas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MENSAJE QUE DEBE RECORDAR EL TRIBUNAL: Primero </a:t>
            </a:r>
            <a:r>
              <a:rPr dirty="0" err="1"/>
              <a:t>validar</a:t>
            </a:r>
            <a:r>
              <a:rPr dirty="0"/>
              <a:t>, </a:t>
            </a:r>
            <a:r>
              <a:rPr dirty="0" err="1"/>
              <a:t>después</a:t>
            </a:r>
            <a:r>
              <a:rPr dirty="0"/>
              <a:t> </a:t>
            </a:r>
            <a:r>
              <a:rPr dirty="0" err="1"/>
              <a:t>ampliar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Persona 1 </a:t>
            </a:r>
            <a:r>
              <a:rPr dirty="0" err="1"/>
              <a:t>cierra</a:t>
            </a:r>
            <a:r>
              <a:rPr dirty="0"/>
              <a:t> la defensa y </a:t>
            </a:r>
            <a:r>
              <a:rPr dirty="0" err="1"/>
              <a:t>abre</a:t>
            </a:r>
            <a:r>
              <a:rPr dirty="0"/>
              <a:t> el </a:t>
            </a:r>
            <a:r>
              <a:rPr dirty="0" err="1"/>
              <a:t>turno</a:t>
            </a:r>
            <a:r>
              <a:rPr dirty="0"/>
              <a:t> de </a:t>
            </a:r>
            <a:r>
              <a:rPr dirty="0" err="1"/>
              <a:t>preguntas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PRESENTA: Persona</a:t>
            </a:r>
            <a:r>
              <a:rPr lang="es-ES" dirty="0"/>
              <a:t> 3</a:t>
            </a:r>
            <a:r>
              <a:rPr dirty="0"/>
              <a:t>·   TIEMPO OBJETIVO: 0,25 min</a:t>
            </a:r>
          </a:p>
          <a:p>
            <a:r>
              <a:rPr dirty="0"/>
              <a:t>PREGUNTA QUE RESPONDE: —</a:t>
            </a:r>
          </a:p>
          <a:p>
            <a:endParaRPr dirty="0"/>
          </a:p>
          <a:p>
            <a:r>
              <a:rPr dirty="0"/>
              <a:t>QUÉ EXPLICAR:</a:t>
            </a:r>
          </a:p>
          <a:p>
            <a:r>
              <a:rPr dirty="0"/>
              <a:t>• </a:t>
            </a:r>
            <a:r>
              <a:rPr dirty="0" err="1"/>
              <a:t>Agradecer</a:t>
            </a:r>
            <a:r>
              <a:rPr dirty="0"/>
              <a:t> al tribunal y a la </a:t>
            </a:r>
            <a:r>
              <a:rPr dirty="0" err="1"/>
              <a:t>directora</a:t>
            </a:r>
            <a:r>
              <a:rPr dirty="0"/>
              <a:t>; </a:t>
            </a:r>
            <a:r>
              <a:rPr dirty="0" err="1"/>
              <a:t>abrir</a:t>
            </a:r>
            <a:r>
              <a:rPr dirty="0"/>
              <a:t> el </a:t>
            </a:r>
            <a:r>
              <a:rPr dirty="0" err="1"/>
              <a:t>turno</a:t>
            </a:r>
            <a:r>
              <a:rPr dirty="0"/>
              <a:t> de </a:t>
            </a:r>
            <a:r>
              <a:rPr dirty="0" err="1"/>
              <a:t>preguntas</a:t>
            </a:r>
            <a:r>
              <a:rPr dirty="0"/>
              <a:t>.</a:t>
            </a:r>
          </a:p>
          <a:p>
            <a:r>
              <a:rPr dirty="0"/>
              <a:t>• Si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, </a:t>
            </a:r>
            <a:r>
              <a:rPr dirty="0" err="1"/>
              <a:t>apoyarse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diapositivas</a:t>
            </a:r>
            <a:r>
              <a:rPr dirty="0"/>
              <a:t> de </a:t>
            </a:r>
            <a:r>
              <a:rPr dirty="0" err="1"/>
              <a:t>apoyo</a:t>
            </a:r>
            <a:r>
              <a:rPr dirty="0"/>
              <a:t> (27–30): </a:t>
            </a:r>
            <a:r>
              <a:rPr dirty="0" err="1"/>
              <a:t>hiperparámetros</a:t>
            </a:r>
            <a:r>
              <a:rPr dirty="0"/>
              <a:t>, Bonferroni </a:t>
            </a:r>
            <a:r>
              <a:rPr dirty="0" err="1"/>
              <a:t>completo</a:t>
            </a:r>
            <a:r>
              <a:rPr dirty="0"/>
              <a:t>, WAPE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decil</a:t>
            </a:r>
            <a:r>
              <a:rPr dirty="0"/>
              <a:t> y CV temporal.</a:t>
            </a:r>
          </a:p>
          <a:p>
            <a:endParaRPr dirty="0"/>
          </a:p>
          <a:p>
            <a:r>
              <a:rPr dirty="0"/>
              <a:t>MENSAJE QUE DEBE RECORDAR EL TRIBUNAL: Gracias; </a:t>
            </a:r>
            <a:r>
              <a:rPr dirty="0" err="1"/>
              <a:t>disponibles</a:t>
            </a:r>
            <a:r>
              <a:rPr dirty="0"/>
              <a:t> para </a:t>
            </a:r>
            <a:r>
              <a:rPr dirty="0" err="1"/>
              <a:t>preguntas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TRANSICIÓN: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Cualquiera (apoyo)   ·   TIEMPO OBJETIVO: No se presenta salvo pregunta</a:t>
            </a:r>
          </a:p>
          <a:p>
            <a:r>
              <a:t>PREGUNTA QUE RESPONDE: ¿Qué hiperparámetros se usaron y fueron razonables?</a:t>
            </a:r>
          </a:p>
          <a:p>
            <a:endParaRPr/>
          </a:p>
          <a:p>
            <a:r>
              <a:t>QUÉ EXPLICAR:</a:t>
            </a:r>
          </a:p>
          <a:p>
            <a:r>
              <a:t>• Valores efectivos de LightGBM, MLP y N-BEATS (Tabla 13).</a:t>
            </a:r>
          </a:p>
          <a:p>
            <a:r>
              <a:t>• Recordar la asimetría: los estadísticos se optimizan automáticamente por AICc; estos modelos se fijaron manualmente, sin búsqueda automatizada; el ajuste se hizo solo con datos de entrenamiento.</a:t>
            </a:r>
          </a:p>
          <a:p>
            <a:endParaRPr/>
          </a:p>
          <a:p>
            <a:r>
              <a:t>MENSAJE QUE DEBE RECORDAR EL TRIBUNAL: Configuración transparente; la asimetría de optimización está reconocida como limitación.</a:t>
            </a:r>
          </a:p>
          <a:p>
            <a:endParaRPr/>
          </a:p>
          <a:p>
            <a:r>
              <a:t>TRANSICIÓN: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Cualquiera (apoyo)   ·   TIEMPO OBJETIVO: No se presenta salvo pregunta</a:t>
            </a:r>
          </a:p>
          <a:p>
            <a:r>
              <a:t>PREGUNTA QUE RESPONDE: ¿Resiste la significación la corrección por comparaciones múltiples?</a:t>
            </a:r>
          </a:p>
          <a:p>
            <a:endParaRPr/>
          </a:p>
          <a:p>
            <a:r>
              <a:t>QUÉ EXPLICAR:</a:t>
            </a:r>
          </a:p>
          <a:p>
            <a:r>
              <a:t>• Diez comparaciones (seis frente al baseline y cuatro entre modelos), α ajustado = 0,005 (IC 99,5 %).</a:t>
            </a:r>
          </a:p>
          <a:p>
            <a:r>
              <a:t>• Las nueve significativas al 95 % lo siguen siendo; SARIMA frente a Holt-Winters no lo es en ninguno de los dos niveles.</a:t>
            </a:r>
          </a:p>
          <a:p>
            <a:endParaRPr/>
          </a:p>
          <a:p>
            <a:r>
              <a:t>MENSAJE QUE DEBE RECORDAR EL TRIBUNAL: La corrección de Bonferroni no altera el patrón de significación.</a:t>
            </a:r>
          </a:p>
          <a:p>
            <a:endParaRPr/>
          </a:p>
          <a:p>
            <a:r>
              <a:t>TRANSICIÓN: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Cualquiera (apoyo)   ·   TIEMPO OBJETIVO: No se presenta salvo pregunta</a:t>
            </a:r>
          </a:p>
          <a:p>
            <a:r>
              <a:t>PREGUNTA QUE RESPONDE: ¿Cómo varía el error ponderado por volumen según el decil?</a:t>
            </a:r>
          </a:p>
          <a:p>
            <a:endParaRPr/>
          </a:p>
          <a:p>
            <a:r>
              <a:t>QUÉ EXPLICAR:</a:t>
            </a:r>
          </a:p>
          <a:p>
            <a:r>
              <a:t>• WAPE medio por decil y modelo; D1 = menor volumen, D10 = mayor (deciles con ventana inicial de 54 meses).</a:t>
            </a:r>
          </a:p>
          <a:p>
            <a:r>
              <a:t>• ETS tiene menor WAPE que el Seasonal Naïve en los diez deciles; en D8–D10 el promedio de ETS es 7,7 % frente a 10,0 %.</a:t>
            </a:r>
          </a:p>
          <a:p>
            <a:r>
              <a:t>• En el tramo medio de la tabla hay cruces entre Holt-Winters, SARIMA, LightGBM, MLP y N-BEATS: no afirmar un ranking idéntico al global, solo que ETS mantiene el menor WAPE en D8–D10.</a:t>
            </a:r>
          </a:p>
          <a:p>
            <a:endParaRPr/>
          </a:p>
          <a:p>
            <a:r>
              <a:t>MENSAJE QUE DEBE RECORDAR EL TRIBUNAL: Aproximación a la materialidad, no impacto económico.</a:t>
            </a:r>
          </a:p>
          <a:p>
            <a:endParaRPr/>
          </a:p>
          <a:p>
            <a:r>
              <a:t>TRANSICIÓN: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Cualquiera (apoyo)   ·   TIEMPO OBJETIVO: No se presenta salvo pregunta</a:t>
            </a:r>
          </a:p>
          <a:p>
            <a:r>
              <a:t>PREGUNTA QUE RESPONDE: ¿Cómo se calculó el CV temporal y qué distribución tiene?</a:t>
            </a:r>
          </a:p>
          <a:p>
            <a:endParaRPr/>
          </a:p>
          <a:p>
            <a:r>
              <a:t>QUÉ EXPLICAR:</a:t>
            </a:r>
          </a:p>
          <a:p>
            <a:r>
              <a:t>• CV del sMAPE dentro de cada serie y promediado: 180 series con dos o más folds; se excluyen 20 con un único fold.</a:t>
            </a:r>
          </a:p>
          <a:p>
            <a:r>
              <a:t>• La mediana es inferior a la media en todos los modelos: distribución con cola derecha.</a:t>
            </a:r>
          </a:p>
          <a:p>
            <a:r>
              <a:t>• Entre el 84,4 % (MLP) y el 90,6 % (Holt-Winters) de las series superan el 25 %.</a:t>
            </a:r>
          </a:p>
          <a:p>
            <a:r>
              <a:t>• No es comparable con el CV-sMAPE global de la Tabla 19 (σ/μ sobre el conjunto fold × serie).</a:t>
            </a:r>
          </a:p>
          <a:p>
            <a:endParaRPr/>
          </a:p>
          <a:p>
            <a:r>
              <a:t>MENSAJE QUE DEBE RECORDAR EL TRIBUNAL: El incumplimiento del umbral es generalizado y el umbral es exploratorio.</a:t>
            </a:r>
          </a:p>
          <a:p>
            <a:endParaRPr/>
          </a:p>
          <a:p>
            <a:r>
              <a:t>TRANSICIÓN: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-SLIDE OPT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7734FC8-3193-5539-DF8C-EB18A29F8511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2400300"/>
            <a:ext cx="9144000" cy="5486400"/>
          </a:xfrm>
          <a:prstGeom prst="rect">
            <a:avLst/>
          </a:prstGeom>
        </p:spPr>
        <p:txBody>
          <a:bodyPr lIns="91428" tIns="45713" rIns="91428" bIns="45713"/>
          <a:lstStyle/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8144775"/>
      </p:ext>
    </p:extLst>
  </p:cSld>
  <p:clrMapOvr>
    <a:masterClrMapping/>
  </p:clrMapOvr>
  <p:transition spd="slow"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3F446F0-B09B-19F6-D080-B1DDA3664D6A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 dirty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532888" y="2587752"/>
            <a:ext cx="2706624" cy="2706624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87089538"/>
      </p:ext>
    </p:extLst>
  </p:cSld>
  <p:clrMapOvr>
    <a:masterClrMapping/>
  </p:clrMapOvr>
  <p:transition spd="slow">
    <p:fade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4086B07-CC7C-9F56-8E23-1BFB601539AE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3337560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3337560" y="5980176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9811512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811512" y="5981700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868448252"/>
      </p:ext>
    </p:extLst>
  </p:cSld>
  <p:clrMapOvr>
    <a:masterClrMapping/>
  </p:clrMapOvr>
  <p:transition spd="slow">
    <p:fade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352BFF-3843-9540-02CF-5ED7D063E9F7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22860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2860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22860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1148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1148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59436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59436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59436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324934347"/>
      </p:ext>
    </p:extLst>
  </p:cSld>
  <p:clrMapOvr>
    <a:masterClrMapping/>
  </p:clrMapOvr>
  <p:transition spd="slow"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5" descr="Texto&#10;&#10;Descripción generada automáticamente">
            <a:extLst>
              <a:ext uri="{FF2B5EF4-FFF2-40B4-BE49-F238E27FC236}">
                <a16:creationId xmlns:a16="http://schemas.microsoft.com/office/drawing/2014/main" id="{034A31F7-588C-A5FF-8E4D-DE2A5BA160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9240838"/>
            <a:ext cx="3317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5241931"/>
      </p:ext>
    </p:extLst>
  </p:cSld>
  <p:clrMapOvr>
    <a:masterClrMapping/>
  </p:clrMapOvr>
  <p:transition spd="slow">
    <p:fad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3726ADBF-1B42-20A1-701E-32A371326566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914233365"/>
      </p:ext>
    </p:extLst>
  </p:cSld>
  <p:clrMapOvr>
    <a:masterClrMapping/>
  </p:clrMapOvr>
  <p:transition spd="slow">
    <p:fade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52201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0DA054-3EF9-03A3-F0F0-814869AE705A}"/>
              </a:ext>
            </a:extLst>
          </p:cNvPr>
          <p:cNvCxnSpPr/>
          <p:nvPr userDrawn="1"/>
        </p:nvCxnSpPr>
        <p:spPr>
          <a:xfrm>
            <a:off x="16744950" y="9186863"/>
            <a:ext cx="0" cy="74295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8538BE51-4EEF-7E64-BA65-1E878AFD0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092613" y="9072563"/>
            <a:ext cx="1733550" cy="923925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defTabSz="1371408" eaLnBrk="1" fontAlgn="auto" hangingPunct="1">
              <a:spcBef>
                <a:spcPts val="0"/>
              </a:spcBef>
              <a:spcAft>
                <a:spcPts val="0"/>
              </a:spcAft>
              <a:defRPr lang="uk-UA" sz="2700" b="1">
                <a:solidFill>
                  <a:schemeClr val="accent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s-ES_tradnl"/>
              <a:t>Pag.</a:t>
            </a:r>
          </a:p>
          <a:p>
            <a:pPr>
              <a:defRPr/>
            </a:pPr>
            <a:fld id="{6A8A8D09-6613-4E0D-B622-31750007CE97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  <p:pic>
        <p:nvPicPr>
          <p:cNvPr id="1028" name="Imagen 2" descr="Texto&#10;&#10;Descripción generada automáticamente">
            <a:extLst>
              <a:ext uri="{FF2B5EF4-FFF2-40B4-BE49-F238E27FC236}">
                <a16:creationId xmlns:a16="http://schemas.microsoft.com/office/drawing/2014/main" id="{D65DFCC2-73ED-7A87-BCC4-0C4BEE12FB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9255125"/>
            <a:ext cx="3317875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94" r:id="rId1"/>
    <p:sldLayoutId id="2147484195" r:id="rId2"/>
    <p:sldLayoutId id="2147484196" r:id="rId3"/>
    <p:sldLayoutId id="2147484197" r:id="rId4"/>
    <p:sldLayoutId id="2147484198" r:id="rId5"/>
    <p:sldLayoutId id="2147484199" r:id="rId6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193" r:id="rId1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B9E1921-2943-A6A3-E6AD-30606E528E0E}"/>
              </a:ext>
            </a:extLst>
          </p:cNvPr>
          <p:cNvSpPr/>
          <p:nvPr/>
        </p:nvSpPr>
        <p:spPr>
          <a:xfrm>
            <a:off x="0" y="0"/>
            <a:ext cx="18288000" cy="9002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 sz="89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Rectángulo 15">
            <a:extLst>
              <a:ext uri="{FF2B5EF4-FFF2-40B4-BE49-F238E27FC236}">
                <a16:creationId xmlns:a16="http://schemas.microsoft.com/office/drawing/2014/main" id="{7BDC8A13-3A3B-7FE3-4C4F-AC8586692AC4}"/>
              </a:ext>
            </a:extLst>
          </p:cNvPr>
          <p:cNvSpPr/>
          <p:nvPr/>
        </p:nvSpPr>
        <p:spPr>
          <a:xfrm>
            <a:off x="0" y="9040813"/>
            <a:ext cx="18288000" cy="1246187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solidFill>
                <a:schemeClr val="tx1"/>
              </a:solidFill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32372A86-49E2-7055-F60D-C518DD538E79}"/>
              </a:ext>
            </a:extLst>
          </p:cNvPr>
          <p:cNvSpPr txBox="1"/>
          <p:nvPr/>
        </p:nvSpPr>
        <p:spPr>
          <a:xfrm>
            <a:off x="3175000" y="2641600"/>
            <a:ext cx="11938000" cy="2997200"/>
          </a:xfrm>
          <a:prstGeom prst="rect">
            <a:avLst/>
          </a:prstGeom>
          <a:noFill/>
        </p:spPr>
        <p:txBody>
          <a:bodyPr wrap="square" lIns="91428" tIns="45713" rIns="91428" bIns="45713" anchor="ctr">
            <a:noAutofit/>
          </a:bodyPr>
          <a:lstStyle/>
          <a:p>
            <a:pPr algn="ctr" defTabSz="1371408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000" b="1" i="0">
                <a:solidFill>
                  <a:srgbClr val="FFFFFF"/>
                </a:solidFill>
                <a:latin typeface="Arial"/>
              </a:rPr>
              <a:t>Evaluación de modelos de pronóstico para la planificación financiera mediante backtesting temporal y métricas ponderadas por materialidad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36C0617A-4780-0F0B-CF42-D14A228A8825}"/>
              </a:ext>
            </a:extLst>
          </p:cNvPr>
          <p:cNvSpPr txBox="1"/>
          <p:nvPr/>
        </p:nvSpPr>
        <p:spPr>
          <a:xfrm>
            <a:off x="1524000" y="6426200"/>
            <a:ext cx="15240000" cy="1905000"/>
          </a:xfrm>
          <a:prstGeom prst="rect">
            <a:avLst/>
          </a:prstGeom>
          <a:noFill/>
        </p:spPr>
        <p:txBody>
          <a:bodyPr wrap="square" lIns="91428" tIns="45713" rIns="91428" bIns="45713">
            <a:no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800"/>
              </a:spcAft>
              <a:defRPr/>
            </a:pPr>
            <a:r>
              <a:rPr sz="2600" b="0" i="0">
                <a:solidFill>
                  <a:srgbClr val="FFFFFF"/>
                </a:solidFill>
                <a:latin typeface="Arial"/>
              </a:rPr>
              <a:t>Juan Camilo Rico Ballesteros · Juan José Blanco Mendoza · José Manuel Machado Loaiza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Directora: Marta María Arguedas Lafuente</a:t>
            </a:r>
          </a:p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Máster Universitario en Inteligencia Artificial · Julio de 2026</a:t>
            </a:r>
          </a:p>
        </p:txBody>
      </p:sp>
      <p:grpSp>
        <p:nvGrpSpPr>
          <p:cNvPr id="6" name="Agrupar 33">
            <a:extLst>
              <a:ext uri="{FF2B5EF4-FFF2-40B4-BE49-F238E27FC236}">
                <a16:creationId xmlns:a16="http://schemas.microsoft.com/office/drawing/2014/main" id="{EB9A8915-FCEF-73B6-13C9-D7074BD8C0D0}"/>
              </a:ext>
            </a:extLst>
          </p:cNvPr>
          <p:cNvGrpSpPr>
            <a:grpSpLocks/>
          </p:cNvGrpSpPr>
          <p:nvPr/>
        </p:nvGrpSpPr>
        <p:grpSpPr bwMode="auto">
          <a:xfrm>
            <a:off x="2603500" y="2184400"/>
            <a:ext cx="795337" cy="708025"/>
            <a:chOff x="1406133" y="686869"/>
            <a:chExt cx="2648037" cy="2353739"/>
          </a:xfrm>
        </p:grpSpPr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ECE15959-D45C-CD59-2D79-0DC338AADC3E}"/>
                </a:ext>
              </a:extLst>
            </p:cNvPr>
            <p:cNvCxnSpPr/>
            <p:nvPr/>
          </p:nvCxnSpPr>
          <p:spPr>
            <a:xfrm>
              <a:off x="1406133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B04A8D57-FCF4-B9DE-9C28-1CE6737F5228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6DF29FF1-53F2-B3B6-E15D-DC38E744C26E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4884400" y="5588000"/>
            <a:ext cx="795338" cy="708025"/>
            <a:chOff x="1406133" y="686869"/>
            <a:chExt cx="2648037" cy="2353739"/>
          </a:xfrm>
        </p:grpSpPr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CB2FAC66-B437-0236-C9A3-F99BD2B60607}"/>
                </a:ext>
              </a:extLst>
            </p:cNvPr>
            <p:cNvCxnSpPr/>
            <p:nvPr/>
          </p:nvCxnSpPr>
          <p:spPr>
            <a:xfrm>
              <a:off x="1390278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486646F8-EA9D-AE6B-5E94-38A271F4DE71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Imagen 2" descr="Texto&#10;&#10;Descripción generada automáticamente">
            <a:extLst>
              <a:ext uri="{FF2B5EF4-FFF2-40B4-BE49-F238E27FC236}">
                <a16:creationId xmlns:a16="http://schemas.microsoft.com/office/drawing/2014/main" id="{3C54E855-5F5A-D59D-4880-D711CC23B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9247188"/>
            <a:ext cx="3317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F729829B-3B23-523A-2210-DA56C650ECB4}"/>
              </a:ext>
            </a:extLst>
          </p:cNvPr>
          <p:cNvSpPr/>
          <p:nvPr/>
        </p:nvSpPr>
        <p:spPr>
          <a:xfrm rot="5400000" flipH="1" flipV="1">
            <a:off x="-571500" y="571500"/>
            <a:ext cx="10287000" cy="9144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59DD04E9-B588-301E-1895-C19F342BC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946400"/>
            <a:ext cx="78740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 anchor="ctr">
            <a:noAutofit/>
          </a:bodyPr>
          <a:lstStyle/>
          <a:p>
            <a:pPr algn="l" eaLnBrk="1" hangingPunct="1"/>
            <a:r>
              <a:rPr sz="3600" b="1" i="0">
                <a:solidFill>
                  <a:srgbClr val="C0C0C8"/>
                </a:solidFill>
                <a:latin typeface="Arial"/>
              </a:rPr>
              <a:t>01 – </a:t>
            </a:r>
            <a:r>
              <a:rPr sz="3600" b="1" i="0">
                <a:solidFill>
                  <a:srgbClr val="00566C"/>
                </a:solidFill>
                <a:latin typeface="Arial"/>
              </a:rPr>
              <a:t>Problema y propuesta</a:t>
            </a: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F8908F69-3981-8E3B-372B-E0EA0F9C7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3835400"/>
            <a:ext cx="78740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 anchor="ctr">
            <a:noAutofit/>
          </a:bodyPr>
          <a:lstStyle/>
          <a:p>
            <a:pPr algn="l" eaLnBrk="1" hangingPunct="1"/>
            <a:r>
              <a:rPr sz="3600" b="1" i="0">
                <a:solidFill>
                  <a:srgbClr val="C0C0C8"/>
                </a:solidFill>
                <a:latin typeface="Arial"/>
              </a:rPr>
              <a:t>02 – </a:t>
            </a:r>
            <a:r>
              <a:rPr sz="3600" b="1" i="0">
                <a:solidFill>
                  <a:srgbClr val="00566C"/>
                </a:solidFill>
                <a:latin typeface="Arial"/>
              </a:rPr>
              <a:t>Diseño del experimento</a:t>
            </a: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3CBE4D63-6016-9C08-7C54-69AE7CC2B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724400"/>
            <a:ext cx="78740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 anchor="ctr">
            <a:noAutofit/>
          </a:bodyPr>
          <a:lstStyle/>
          <a:p>
            <a:pPr algn="l" eaLnBrk="1" hangingPunct="1"/>
            <a:r>
              <a:rPr sz="3600" b="1" i="0">
                <a:solidFill>
                  <a:srgbClr val="C0C0C8"/>
                </a:solidFill>
                <a:latin typeface="Arial"/>
              </a:rPr>
              <a:t>03 – </a:t>
            </a:r>
            <a:r>
              <a:rPr sz="3600" b="1" i="0">
                <a:solidFill>
                  <a:srgbClr val="00566C"/>
                </a:solidFill>
                <a:latin typeface="Arial"/>
              </a:rPr>
              <a:t>Resultados</a:t>
            </a: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054BF08D-4153-D3C6-9BEB-D4FB3D969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613400"/>
            <a:ext cx="78740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 anchor="ctr">
            <a:noAutofit/>
          </a:bodyPr>
          <a:lstStyle/>
          <a:p>
            <a:pPr algn="l" eaLnBrk="1" hangingPunct="1"/>
            <a:r>
              <a:rPr sz="3600" b="1" i="0">
                <a:solidFill>
                  <a:srgbClr val="C0C0C8"/>
                </a:solidFill>
                <a:latin typeface="Arial"/>
              </a:rPr>
              <a:t>04 – </a:t>
            </a:r>
            <a:r>
              <a:rPr sz="3600" b="1" i="0">
                <a:solidFill>
                  <a:srgbClr val="00566C"/>
                </a:solidFill>
                <a:latin typeface="Arial"/>
              </a:rPr>
              <a:t>Interpretación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62FB291C-11E5-C185-6C2D-BF4F72EF227C}"/>
              </a:ext>
            </a:extLst>
          </p:cNvPr>
          <p:cNvSpPr txBox="1"/>
          <p:nvPr/>
        </p:nvSpPr>
        <p:spPr>
          <a:xfrm>
            <a:off x="685800" y="4213225"/>
            <a:ext cx="7772400" cy="18462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11400">
                <a:solidFill>
                  <a:schemeClr val="accent4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054BF08D-4153-D3C6-9BEB-D4FB3D969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6502400"/>
            <a:ext cx="78740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3" rIns="91428" bIns="45713" anchor="ctr">
            <a:noAutofit/>
          </a:bodyPr>
          <a:lstStyle/>
          <a:p>
            <a:pPr algn="l" eaLnBrk="1" hangingPunct="1"/>
            <a:r>
              <a:rPr sz="3600" b="1" i="0">
                <a:solidFill>
                  <a:srgbClr val="C0C0C8"/>
                </a:solidFill>
                <a:latin typeface="Arial"/>
              </a:rPr>
              <a:t>05 – </a:t>
            </a:r>
            <a:r>
              <a:rPr sz="3600" b="1" i="0">
                <a:solidFill>
                  <a:srgbClr val="00566C"/>
                </a:solidFill>
                <a:latin typeface="Arial"/>
              </a:rPr>
              <a:t>Cierre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01 · Problema y propuesta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Los modelos se eligen sin evidencia comparativa suficiente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3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70000" y="2489200"/>
            <a:ext cx="50800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800" b="0" i="0">
                <a:solidFill>
                  <a:srgbClr val="219BC3"/>
                </a:solidFill>
                <a:latin typeface="Arial"/>
              </a:rPr>
              <a:t>FP&amp;A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3492500"/>
            <a:ext cx="5080000" cy="4826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marL="406400" indent="-406400" algn="l">
              <a:spcAft>
                <a:spcPts val="2000"/>
              </a:spcAft>
              <a:buClr>
                <a:srgbClr val="219BC3"/>
              </a:buClr>
              <a:buFont typeface="Wingdings" pitchFamily="2" charset="2"/>
              <a:buChar char="ü"/>
            </a:pPr>
            <a:r>
              <a:rPr sz="2300" b="0" i="0">
                <a:solidFill>
                  <a:srgbClr val="858591"/>
                </a:solidFill>
                <a:latin typeface="Arial"/>
              </a:rPr>
              <a:t>Traduce los objetivos estratégicos en planes financieros cuantificables.</a:t>
            </a:r>
          </a:p>
          <a:p>
            <a:pPr marL="406400" indent="-406400" algn="l">
              <a:spcAft>
                <a:spcPts val="2000"/>
              </a:spcAft>
              <a:buClr>
                <a:srgbClr val="219BC3"/>
              </a:buClr>
              <a:buFont typeface="Wingdings" pitchFamily="2" charset="2"/>
              <a:buChar char="ü"/>
            </a:pPr>
            <a:r>
              <a:rPr sz="2300" b="0" i="0">
                <a:solidFill>
                  <a:srgbClr val="858591"/>
                </a:solidFill>
                <a:latin typeface="Arial"/>
              </a:rPr>
              <a:t>El error de pronóstico tiene consecuencias directas: crédito a corto plazo o capital inmovilizado.</a:t>
            </a:r>
          </a:p>
          <a:p>
            <a:pPr marL="406400" indent="-406400" algn="l">
              <a:spcAft>
                <a:spcPts val="2000"/>
              </a:spcAft>
              <a:buClr>
                <a:srgbClr val="219BC3"/>
              </a:buClr>
              <a:buFont typeface="Wingdings" pitchFamily="2" charset="2"/>
              <a:buChar char="ü"/>
            </a:pPr>
            <a:r>
              <a:rPr sz="2300" b="0" i="0">
                <a:solidFill>
                  <a:srgbClr val="858591"/>
                </a:solidFill>
                <a:latin typeface="Arial"/>
              </a:rPr>
              <a:t>La práctica recurre con frecuencia a criterios heurísticos o al juicio del analista.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489200"/>
            <a:ext cx="50800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800" b="0" i="0">
                <a:solidFill>
                  <a:srgbClr val="00566C"/>
                </a:solidFill>
                <a:latin typeface="Arial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492500"/>
            <a:ext cx="5080000" cy="4826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marL="406400" indent="-406400" algn="l">
              <a:spcAft>
                <a:spcPts val="2000"/>
              </a:spcAft>
              <a:buClr>
                <a:srgbClr val="00566C"/>
              </a:buClr>
              <a:buFont typeface="Courier New" pitchFamily="49" charset="0"/>
              <a:buChar char="o"/>
            </a:pPr>
            <a:r>
              <a:rPr sz="2300" b="0" i="0">
                <a:solidFill>
                  <a:srgbClr val="858591"/>
                </a:solidFill>
                <a:latin typeface="Arial"/>
              </a:rPr>
              <a:t>La selección de modelos carece de evidencia comparativa suficiente.</a:t>
            </a:r>
          </a:p>
          <a:p>
            <a:pPr marL="406400" indent="-406400" algn="l">
              <a:spcAft>
                <a:spcPts val="2000"/>
              </a:spcAft>
              <a:buClr>
                <a:srgbClr val="00566C"/>
              </a:buClr>
              <a:buFont typeface="Courier New" pitchFamily="49" charset="0"/>
              <a:buChar char="o"/>
            </a:pPr>
            <a:r>
              <a:rPr sz="2300" b="0" i="0">
                <a:solidFill>
                  <a:srgbClr val="858591"/>
                </a:solidFill>
                <a:latin typeface="Arial"/>
              </a:rPr>
              <a:t>No se sabe qué grado de complejidad algorítmica es adecuado para cada contexto.</a:t>
            </a:r>
          </a:p>
          <a:p>
            <a:pPr marL="406400" indent="-406400" algn="l">
              <a:spcAft>
                <a:spcPts val="2000"/>
              </a:spcAft>
              <a:buClr>
                <a:srgbClr val="00566C"/>
              </a:buClr>
              <a:buFont typeface="Courier New" pitchFamily="49" charset="0"/>
              <a:buChar char="o"/>
            </a:pPr>
            <a:r>
              <a:rPr sz="2300" b="0" i="0">
                <a:solidFill>
                  <a:srgbClr val="858591"/>
                </a:solidFill>
                <a:latin typeface="Arial"/>
              </a:rPr>
              <a:t>La validación cruzada estándar puede dar estimaciones optimistas en series temporales.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46000" y="2489200"/>
            <a:ext cx="50800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800" b="0" i="0">
                <a:solidFill>
                  <a:srgbClr val="219BC3"/>
                </a:solidFill>
                <a:latin typeface="Arial"/>
              </a:rPr>
              <a:t>La necesidad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46000" y="3492500"/>
            <a:ext cx="5080000" cy="4826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marL="406400" indent="-406400" algn="l">
              <a:spcAft>
                <a:spcPts val="2000"/>
              </a:spcAft>
              <a:buClr>
                <a:srgbClr val="219BC3"/>
              </a:buClr>
              <a:buFont typeface="Wingdings" pitchFamily="2" charset="2"/>
              <a:buChar char="ü"/>
            </a:pPr>
            <a:r>
              <a:rPr sz="2300" b="0" i="0">
                <a:solidFill>
                  <a:srgbClr val="858591"/>
                </a:solidFill>
                <a:latin typeface="Arial"/>
              </a:rPr>
              <a:t>Comparar familias de modelos bajo un mismo protocolo de validación temporal.</a:t>
            </a:r>
          </a:p>
          <a:p>
            <a:pPr marL="406400" indent="-406400" algn="l">
              <a:spcAft>
                <a:spcPts val="2000"/>
              </a:spcAft>
              <a:buClr>
                <a:srgbClr val="219BC3"/>
              </a:buClr>
              <a:buFont typeface="Wingdings" pitchFamily="2" charset="2"/>
              <a:buChar char="ü"/>
            </a:pPr>
            <a:r>
              <a:rPr sz="2300" b="0" i="0">
                <a:solidFill>
                  <a:srgbClr val="858591"/>
                </a:solidFill>
                <a:latin typeface="Arial"/>
              </a:rPr>
              <a:t>Ir más allá del error estadístico: aproximar la materialidad del error.</a:t>
            </a:r>
          </a:p>
          <a:p>
            <a:pPr marL="406400" indent="-406400" algn="l">
              <a:spcAft>
                <a:spcPts val="2000"/>
              </a:spcAft>
              <a:buClr>
                <a:srgbClr val="219BC3"/>
              </a:buClr>
              <a:buFont typeface="Wingdings" pitchFamily="2" charset="2"/>
              <a:buChar char="ü"/>
            </a:pPr>
            <a:r>
              <a:rPr sz="2300" b="0" i="0">
                <a:solidFill>
                  <a:srgbClr val="858591"/>
                </a:solidFill>
                <a:latin typeface="Arial"/>
              </a:rPr>
              <a:t>Aportar evidencia reproducible para decidir.</a:t>
            </a:r>
          </a:p>
        </p:txBody>
      </p:sp>
      <p:sp>
        <p:nvSpPr>
          <p:cNvPr id="10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§1.1–1.2 y §2.1 (Armstrong, 2001; Petropoulos et al., 2022; Bergmeir y Benítez, 2012).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01 · Problema y propuesta</a:t>
            </a:r>
            <a:br/>
            <a:r>
              <a:rPr sz="3600" b="1">
                <a:solidFill>
                  <a:srgbClr val="00566C"/>
                </a:solidFill>
                <a:latin typeface="Arial"/>
              </a:rPr>
              <a:t>La literatura deja tres brechas abiertas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4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arjeta 01"/>
          <p:cNvSpPr/>
          <p:nvPr/>
        </p:nvSpPr>
        <p:spPr>
          <a:xfrm>
            <a:off x="876300" y="2413000"/>
            <a:ext cx="5334000" cy="4724400"/>
          </a:xfrm>
          <a:prstGeom prst="rect">
            <a:avLst/>
          </a:prstGeom>
          <a:noFill/>
          <a:ln w="15875">
            <a:solidFill>
              <a:srgbClr val="C0C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4900" y="2514600"/>
            <a:ext cx="15240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4400" b="1" i="0">
                <a:solidFill>
                  <a:srgbClr val="C0C0C8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327400"/>
            <a:ext cx="4876800" cy="10668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00566C"/>
                </a:solidFill>
                <a:latin typeface="Arial"/>
              </a:rPr>
              <a:t>Pocos estudios con series financieras corporativas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4394200"/>
            <a:ext cx="4876800" cy="1524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900" b="0" i="0">
                <a:solidFill>
                  <a:srgbClr val="858591"/>
                </a:solidFill>
                <a:latin typeface="Arial"/>
              </a:rPr>
              <a:t>Los benchmarks existentes se basan sobre todo en retail, energía o tráfico (Makridakis et al., 2022).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5740400"/>
            <a:ext cx="4876800" cy="7874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00566C"/>
                </a:solidFill>
                <a:latin typeface="Arial"/>
              </a:rPr>
              <a:t>Respuesta: un benchmark financiero mensual, antes de datos corporativos.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4900" y="6604000"/>
            <a:ext cx="3175000" cy="406400"/>
          </a:xfrm>
          <a:prstGeom prst="roundRect">
            <a:avLst>
              <a:gd name="adj" fmla="val 50000"/>
            </a:avLst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Cubierta parcialmente</a:t>
            </a:r>
          </a:p>
        </p:txBody>
      </p:sp>
      <p:sp>
        <p:nvSpPr>
          <p:cNvPr id="10" name="Tarjeta 02"/>
          <p:cNvSpPr/>
          <p:nvPr/>
        </p:nvSpPr>
        <p:spPr>
          <a:xfrm>
            <a:off x="6477000" y="2413000"/>
            <a:ext cx="5334000" cy="4724400"/>
          </a:xfrm>
          <a:prstGeom prst="rect">
            <a:avLst/>
          </a:prstGeom>
          <a:noFill/>
          <a:ln w="15875">
            <a:solidFill>
              <a:srgbClr val="C0C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5600" y="2514600"/>
            <a:ext cx="15240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4400" b="1" i="0">
                <a:solidFill>
                  <a:srgbClr val="C0C0C8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327400"/>
            <a:ext cx="4876800" cy="10668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00566C"/>
                </a:solidFill>
                <a:latin typeface="Arial"/>
              </a:rPr>
              <a:t>Faltan marcos de evaluación orientados al valor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4394200"/>
            <a:ext cx="4876800" cy="1524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900" b="0" i="0">
                <a:solidFill>
                  <a:srgbClr val="858591"/>
                </a:solidFill>
                <a:latin typeface="Arial"/>
              </a:rPr>
              <a:t>Minimizar el error estadístico no garantiza maximizar el valor para el negocio (Armstrong, 2001; Makridakis et al., 2025).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5740400"/>
            <a:ext cx="4876800" cy="7874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00566C"/>
                </a:solidFill>
                <a:latin typeface="Arial"/>
              </a:rPr>
              <a:t>Respuesta: WAPE y contribución al error por decil de volumen.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05600" y="6604000"/>
            <a:ext cx="3175000" cy="406400"/>
          </a:xfrm>
          <a:prstGeom prst="roundRect">
            <a:avLst>
              <a:gd name="adj" fmla="val 50000"/>
            </a:avLst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Cubierta parcialmente</a:t>
            </a:r>
          </a:p>
        </p:txBody>
      </p:sp>
      <p:sp>
        <p:nvSpPr>
          <p:cNvPr id="16" name="Tarjeta 03"/>
          <p:cNvSpPr/>
          <p:nvPr/>
        </p:nvSpPr>
        <p:spPr>
          <a:xfrm>
            <a:off x="12077700" y="2413000"/>
            <a:ext cx="5334000" cy="4724400"/>
          </a:xfrm>
          <a:prstGeom prst="rect">
            <a:avLst/>
          </a:prstGeom>
          <a:noFill/>
          <a:ln w="15875">
            <a:solidFill>
              <a:srgbClr val="C0C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06300" y="2514600"/>
            <a:ext cx="15240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4400" b="1" i="0">
                <a:solidFill>
                  <a:srgbClr val="C0C0C8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06300" y="3327400"/>
            <a:ext cx="4876800" cy="10668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00566C"/>
                </a:solidFill>
                <a:latin typeface="Arial"/>
              </a:rPr>
              <a:t>Faltan criterios objetivos para seleccionar modelos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06300" y="4394200"/>
            <a:ext cx="4876800" cy="1524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900" b="0" i="0">
                <a:solidFill>
                  <a:srgbClr val="858591"/>
                </a:solidFill>
                <a:latin typeface="Arial"/>
              </a:rPr>
              <a:t>Quienes deciden en FP&amp;A carecen de guías cuantitativas sobre cuándo se justifica más sofisticación.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06300" y="5740400"/>
            <a:ext cx="4876800" cy="7874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00566C"/>
                </a:solidFill>
                <a:latin typeface="Arial"/>
              </a:rPr>
              <a:t>Respuesta: tres reglas heurísticas preliminares, sin validación externa.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06300" y="6604000"/>
            <a:ext cx="3175000" cy="406400"/>
          </a:xfrm>
          <a:prstGeom prst="roundRect">
            <a:avLst>
              <a:gd name="adj" fmla="val 50000"/>
            </a:avLst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Cubierta parcialmente</a:t>
            </a:r>
          </a:p>
        </p:txBody>
      </p:sp>
      <p:sp>
        <p:nvSpPr>
          <p:cNvPr id="22" name="Pregunta guía"/>
          <p:cNvSpPr/>
          <p:nvPr/>
        </p:nvSpPr>
        <p:spPr>
          <a:xfrm>
            <a:off x="876300" y="7416800"/>
            <a:ext cx="16535400" cy="10668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50800" rIns="304800" bIns="50800" rtlCol="0" anchor="ctr">
            <a:no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Pregunta guía: </a:t>
            </a:r>
            <a:r>
              <a:rPr sz="2500" b="0" i="0">
                <a:solidFill>
                  <a:srgbClr val="FFFFFF"/>
                </a:solidFill>
                <a:latin typeface="Arial"/>
              </a:rPr>
              <a:t>¿qué grado de complejidad algorítmica resulta adecuado para cada contexto?</a:t>
            </a:r>
          </a:p>
        </p:txBody>
      </p:sp>
      <p:sp>
        <p:nvSpPr>
          <p:cNvPr id="23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 8 (§2.3) y §1.2.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01 · Problema y propuesta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Siete modelos en cuatro niveles de complejidad creciente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5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Nivel 1"/>
          <p:cNvSpPr/>
          <p:nvPr/>
        </p:nvSpPr>
        <p:spPr>
          <a:xfrm>
            <a:off x="876300" y="5397500"/>
            <a:ext cx="3848100" cy="19050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52400" bIns="10160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Nivel 1 · Baseline</a:t>
            </a:r>
          </a:p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Seasonal Naïve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>Repite el patrón estacional del año anterior</a:t>
            </a:r>
          </a:p>
        </p:txBody>
      </p:sp>
      <p:sp>
        <p:nvSpPr>
          <p:cNvPr id="5" name="Nivel 2"/>
          <p:cNvSpPr/>
          <p:nvPr/>
        </p:nvSpPr>
        <p:spPr>
          <a:xfrm>
            <a:off x="5105400" y="4572000"/>
            <a:ext cx="3848100" cy="27305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52400" bIns="10160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Nivel 2 · Estadístico clásico</a:t>
            </a:r>
          </a:p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ETS (AutoETS)</a:t>
            </a:r>
          </a:p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Holt-Winters</a:t>
            </a:r>
          </a:p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SARIMA (AutoARIMA)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>Tendencia y estacionalidad; parsimonia paramétrica</a:t>
            </a:r>
          </a:p>
        </p:txBody>
      </p:sp>
      <p:sp>
        <p:nvSpPr>
          <p:cNvPr id="6" name="Nivel 3"/>
          <p:cNvSpPr/>
          <p:nvPr/>
        </p:nvSpPr>
        <p:spPr>
          <a:xfrm>
            <a:off x="9334500" y="3746500"/>
            <a:ext cx="3848100" cy="35560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52400" bIns="10160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Nivel 3 · Machine Learning</a:t>
            </a:r>
          </a:p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LightGBM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>Relaciones no lineales mediante gradient boosting global</a:t>
            </a:r>
          </a:p>
        </p:txBody>
      </p:sp>
      <p:sp>
        <p:nvSpPr>
          <p:cNvPr id="7" name="Nivel 4"/>
          <p:cNvSpPr/>
          <p:nvPr/>
        </p:nvSpPr>
        <p:spPr>
          <a:xfrm>
            <a:off x="13563600" y="2921000"/>
            <a:ext cx="3848100" cy="4381500"/>
          </a:xfrm>
          <a:prstGeom prst="rect">
            <a:avLst/>
          </a:prstGeom>
          <a:solidFill>
            <a:srgbClr val="00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52400" bIns="10160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Nivel 4 · Deep Learning</a:t>
            </a:r>
          </a:p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MLP Bottleneck</a:t>
            </a:r>
          </a:p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N-BEATS Interpretable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>Patrones complejos; N-BEATS descompone tendencia y estacionalidad</a:t>
            </a:r>
          </a:p>
        </p:txBody>
      </p:sp>
      <p:sp>
        <p:nvSpPr>
          <p:cNvPr id="8" name="Local barra"/>
          <p:cNvSpPr/>
          <p:nvPr/>
        </p:nvSpPr>
        <p:spPr>
          <a:xfrm>
            <a:off x="876300" y="7467600"/>
            <a:ext cx="8077200" cy="76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300" y="7569200"/>
            <a:ext cx="8077200" cy="381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ctr"/>
            <a:r>
              <a:rPr sz="1800" b="1" i="0">
                <a:solidFill>
                  <a:srgbClr val="00566C"/>
                </a:solidFill>
                <a:latin typeface="Arial"/>
              </a:rPr>
              <a:t>Modelos locales: un ajuste independiente por serie y fold</a:t>
            </a:r>
          </a:p>
        </p:txBody>
      </p:sp>
      <p:sp>
        <p:nvSpPr>
          <p:cNvPr id="10" name="Global barra"/>
          <p:cNvSpPr/>
          <p:nvPr/>
        </p:nvSpPr>
        <p:spPr>
          <a:xfrm>
            <a:off x="9334500" y="7467600"/>
            <a:ext cx="8077200" cy="762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34500" y="7569200"/>
            <a:ext cx="8077200" cy="381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ctr"/>
            <a:r>
              <a:rPr sz="1800" b="1" i="0">
                <a:solidFill>
                  <a:srgbClr val="00566C"/>
                </a:solidFill>
                <a:latin typeface="Arial"/>
              </a:rPr>
              <a:t>Modelos globales: un único modelo por fold sobre todas las series</a:t>
            </a:r>
          </a:p>
        </p:txBody>
      </p:sp>
      <p:sp>
        <p:nvSpPr>
          <p:cNvPr id="12" name="Cautela barra"/>
          <p:cNvSpPr/>
          <p:nvPr/>
        </p:nvSpPr>
        <p:spPr>
          <a:xfrm>
            <a:off x="876300" y="8001000"/>
            <a:ext cx="101600" cy="6604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Cautela fondo"/>
          <p:cNvSpPr/>
          <p:nvPr/>
        </p:nvSpPr>
        <p:spPr>
          <a:xfrm>
            <a:off x="977900" y="8001000"/>
            <a:ext cx="16433800" cy="6604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1800" b="0" i="0">
                <a:solidFill>
                  <a:srgbClr val="00566C"/>
                </a:solidFill>
                <a:latin typeface="Arial"/>
              </a:rPr>
              <a:t>Asimetría reconocida: AutoETS y AutoARIMA optimizan por AICc y por serie; LightGBM, MLP y N-BEATS usan hiperparámetros fijados manualmente.</a:t>
            </a:r>
          </a:p>
        </p:txBody>
      </p:sp>
      <p:sp>
        <p:nvSpPr>
          <p:cNvPr id="14" name="Fuente"/>
          <p:cNvSpPr txBox="1"/>
          <p:nvPr/>
        </p:nvSpPr>
        <p:spPr>
          <a:xfrm>
            <a:off x="876300" y="87884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Tablas 2, 12 y 13 (§1.2, §4.3).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02 · Diseño del experimento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Un objetivo general y cinco objetivos verificables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6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6300" y="2311400"/>
            <a:ext cx="16510000" cy="12192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0566C"/>
                </a:solidFill>
                <a:latin typeface="Arial"/>
              </a:rPr>
              <a:t>Comparar siete modelos de pronóstico sobre 200 series de M4 Financial Monthly mediante backtesting walk-forward </a:t>
            </a:r>
            <a:r>
              <a:rPr sz="2600" b="0" i="0">
                <a:solidFill>
                  <a:srgbClr val="858591"/>
                </a:solidFill>
                <a:latin typeface="Arial"/>
              </a:rPr>
              <a:t>y formular una propuesta preliminar de criterios heurísticos de selección para FP&amp;A.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3810000"/>
            <a:ext cx="1905000" cy="736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400" b="1" i="0">
                <a:solidFill>
                  <a:srgbClr val="C0C0C8"/>
                </a:solidFill>
                <a:latin typeface="Arial"/>
              </a:rPr>
              <a:t>OE1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27400" y="3886200"/>
            <a:ext cx="0" cy="584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81400" y="3810000"/>
            <a:ext cx="13716000" cy="736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600" b="1" i="0">
                <a:solidFill>
                  <a:srgbClr val="00566C"/>
                </a:solidFill>
                <a:latin typeface="Arial"/>
              </a:rPr>
              <a:t>Revisar y sintetizar el estado del arte (revisión estructurada)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4648200"/>
            <a:ext cx="1905000" cy="736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400" b="1" i="0">
                <a:solidFill>
                  <a:srgbClr val="C0C0C8"/>
                </a:solidFill>
                <a:latin typeface="Arial"/>
              </a:rPr>
              <a:t>OE2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27400" y="4724400"/>
            <a:ext cx="0" cy="584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81400" y="4648200"/>
            <a:ext cx="13716000" cy="736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600" b="1" i="0">
                <a:solidFill>
                  <a:srgbClr val="00566C"/>
                </a:solidFill>
                <a:latin typeface="Arial"/>
              </a:rPr>
              <a:t>Implementar un pipeline modular y reproducible en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5486400"/>
            <a:ext cx="1905000" cy="736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400" b="1" i="0">
                <a:solidFill>
                  <a:srgbClr val="C0C0C8"/>
                </a:solidFill>
                <a:latin typeface="Arial"/>
              </a:rPr>
              <a:t>OE3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27400" y="5562600"/>
            <a:ext cx="0" cy="584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81400" y="5486400"/>
            <a:ext cx="13716000" cy="736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600" b="1" i="0">
                <a:solidFill>
                  <a:srgbClr val="00566C"/>
                </a:solidFill>
                <a:latin typeface="Arial"/>
              </a:rPr>
              <a:t>Aplicar backtesting walk-forward sin fuga de información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0000" y="6324600"/>
            <a:ext cx="1905000" cy="736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400" b="1" i="0">
                <a:solidFill>
                  <a:srgbClr val="C0C0C8"/>
                </a:solidFill>
                <a:latin typeface="Arial"/>
              </a:rPr>
              <a:t>OE4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27400" y="6400800"/>
            <a:ext cx="0" cy="584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81400" y="6324600"/>
            <a:ext cx="13716000" cy="736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600" b="1" i="0">
                <a:solidFill>
                  <a:srgbClr val="00566C"/>
                </a:solidFill>
                <a:latin typeface="Arial"/>
              </a:rPr>
              <a:t>Evaluar con seis métricas y un análisis por deciles de volumen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0000" y="7162800"/>
            <a:ext cx="1905000" cy="736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400" b="1" i="0">
                <a:solidFill>
                  <a:srgbClr val="C0C0C8"/>
                </a:solidFill>
                <a:latin typeface="Arial"/>
              </a:rPr>
              <a:t>OE5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27400" y="7239000"/>
            <a:ext cx="0" cy="584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81400" y="7162800"/>
            <a:ext cx="13716000" cy="736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600" b="1" i="0">
                <a:solidFill>
                  <a:srgbClr val="00566C"/>
                </a:solidFill>
                <a:latin typeface="Arial"/>
              </a:rPr>
              <a:t>Formular criterios heurísticos preliminares de selección</a:t>
            </a:r>
          </a:p>
        </p:txBody>
      </p:sp>
      <p:sp>
        <p:nvSpPr>
          <p:cNvPr id="20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§3.1–3.2 y Tabla 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02 · Diseño del experimento</a:t>
            </a:r>
            <a:br/>
            <a:r>
              <a:rPr sz="3200" b="1">
                <a:solidFill>
                  <a:srgbClr val="00566C"/>
                </a:solidFill>
                <a:latin typeface="Arial"/>
              </a:rPr>
              <a:t>Un pipeline modular y reproducible, de los datos a los resultados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7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Bloque DATOS"/>
          <p:cNvSpPr/>
          <p:nvPr/>
        </p:nvSpPr>
        <p:spPr>
          <a:xfrm>
            <a:off x="876300" y="2438400"/>
            <a:ext cx="3657600" cy="584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DATOS</a:t>
            </a:r>
          </a:p>
        </p:txBody>
      </p:sp>
      <p:sp>
        <p:nvSpPr>
          <p:cNvPr id="5" name="Contenido DATOS"/>
          <p:cNvSpPr/>
          <p:nvPr/>
        </p:nvSpPr>
        <p:spPr>
          <a:xfrm>
            <a:off x="876300" y="3022600"/>
            <a:ext cx="3657600" cy="3175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52400" bIns="76200" rtlCol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00566C"/>
                </a:solidFill>
                <a:latin typeface="Arial"/>
              </a:rPr>
              <a:t>data_loader.py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858591"/>
                </a:solidFill>
                <a:latin typeface="Arial"/>
              </a:rPr>
              <a:t>Descarga con caché del M4 Financial Monthly</a:t>
            </a:r>
          </a:p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00566C"/>
                </a:solidFill>
                <a:latin typeface="Arial"/>
              </a:rPr>
              <a:t>preprocessor.py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858591"/>
                </a:solidFill>
                <a:latin typeface="Arial"/>
              </a:rPr>
              <a:t>Filtro ≥ 72 meses, submuestra estratificada y deciles de volumen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10100" y="4343400"/>
            <a:ext cx="482600" cy="0"/>
          </a:xfrm>
          <a:prstGeom prst="line">
            <a:avLst/>
          </a:prstGeom>
          <a:ln w="38100">
            <a:solidFill>
              <a:srgbClr val="8585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loque VALIDACIÓN TEMPORAL"/>
          <p:cNvSpPr/>
          <p:nvPr/>
        </p:nvSpPr>
        <p:spPr>
          <a:xfrm>
            <a:off x="5168900" y="2438400"/>
            <a:ext cx="3657600" cy="584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VALIDACIÓN TEMPORAL</a:t>
            </a:r>
          </a:p>
        </p:txBody>
      </p:sp>
      <p:sp>
        <p:nvSpPr>
          <p:cNvPr id="8" name="Contenido VALIDACIÓN TEMPORAL"/>
          <p:cNvSpPr/>
          <p:nvPr/>
        </p:nvSpPr>
        <p:spPr>
          <a:xfrm>
            <a:off x="5168900" y="3022600"/>
            <a:ext cx="3657600" cy="3175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52400" bIns="76200" rtlCol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00566C"/>
                </a:solidFill>
                <a:latin typeface="Arial"/>
              </a:rPr>
              <a:t>config.py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858591"/>
                </a:solidFill>
                <a:latin typeface="Arial"/>
              </a:rPr>
              <a:t>Parámetros del experimento y SEED = 42</a:t>
            </a:r>
          </a:p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00566C"/>
                </a:solidFill>
                <a:latin typeface="Arial"/>
              </a:rPr>
              <a:t>backtesting.py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858591"/>
                </a:solidFill>
                <a:latin typeface="Arial"/>
              </a:rPr>
              <a:t>Folds walk-forward y verify_no_leakage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02700" y="4343400"/>
            <a:ext cx="482600" cy="0"/>
          </a:xfrm>
          <a:prstGeom prst="line">
            <a:avLst/>
          </a:prstGeom>
          <a:ln w="38100">
            <a:solidFill>
              <a:srgbClr val="8585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loque MODELOS"/>
          <p:cNvSpPr/>
          <p:nvPr/>
        </p:nvSpPr>
        <p:spPr>
          <a:xfrm>
            <a:off x="9461500" y="2438400"/>
            <a:ext cx="3657600" cy="5842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MODELOS</a:t>
            </a:r>
          </a:p>
        </p:txBody>
      </p:sp>
      <p:sp>
        <p:nvSpPr>
          <p:cNvPr id="11" name="Contenido MODELOS"/>
          <p:cNvSpPr/>
          <p:nvPr/>
        </p:nvSpPr>
        <p:spPr>
          <a:xfrm>
            <a:off x="9461500" y="3022600"/>
            <a:ext cx="3657600" cy="3175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52400" bIns="76200" rtlCol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00566C"/>
                </a:solidFill>
                <a:latin typeface="Arial"/>
              </a:rPr>
              <a:t>Locales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858591"/>
                </a:solidFill>
                <a:latin typeface="Arial"/>
              </a:rPr>
              <a:t>Seasonal Naïve, ETS, Holt-Winters, SARIMA</a:t>
            </a:r>
          </a:p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00566C"/>
                </a:solidFill>
                <a:latin typeface="Arial"/>
              </a:rPr>
              <a:t>Globales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858591"/>
                </a:solidFill>
                <a:latin typeface="Arial"/>
              </a:rPr>
              <a:t>LightGBM, MLP, N-BEATS</a:t>
            </a:r>
          </a:p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00566C"/>
                </a:solidFill>
                <a:latin typeface="Arial"/>
              </a:rPr>
              <a:t>Interfaz común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858591"/>
                </a:solidFill>
                <a:latin typeface="Arial"/>
              </a:rPr>
              <a:t>BaseForecaster / GlobalBaseForecaster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195300" y="4343400"/>
            <a:ext cx="482600" cy="0"/>
          </a:xfrm>
          <a:prstGeom prst="line">
            <a:avLst/>
          </a:prstGeom>
          <a:ln w="38100">
            <a:solidFill>
              <a:srgbClr val="8585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loque EVALUACIÓN"/>
          <p:cNvSpPr/>
          <p:nvPr/>
        </p:nvSpPr>
        <p:spPr>
          <a:xfrm>
            <a:off x="13754100" y="2438400"/>
            <a:ext cx="3657600" cy="5842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EVALUACIÓN</a:t>
            </a:r>
          </a:p>
        </p:txBody>
      </p:sp>
      <p:sp>
        <p:nvSpPr>
          <p:cNvPr id="14" name="Contenido EVALUACIÓN"/>
          <p:cNvSpPr/>
          <p:nvPr/>
        </p:nvSpPr>
        <p:spPr>
          <a:xfrm>
            <a:off x="13754100" y="3022600"/>
            <a:ext cx="3657600" cy="3175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52400" bIns="76200" rtlCol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00566C"/>
                </a:solidFill>
                <a:latin typeface="Arial"/>
              </a:rPr>
              <a:t>evaluation.py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858591"/>
                </a:solidFill>
                <a:latin typeface="Arial"/>
              </a:rPr>
              <a:t>Seis métricas y bootstrap sobre diferencias pareadas</a:t>
            </a:r>
          </a:p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00566C"/>
                </a:solidFill>
                <a:latin typeface="Arial"/>
              </a:rPr>
              <a:t>visualization.py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858591"/>
                </a:solidFill>
                <a:latin typeface="Arial"/>
              </a:rPr>
              <a:t>Figuras del experimento</a:t>
            </a:r>
          </a:p>
        </p:txBody>
      </p:sp>
      <p:sp>
        <p:nvSpPr>
          <p:cNvPr id="15" name="Orquestador"/>
          <p:cNvSpPr/>
          <p:nvPr/>
        </p:nvSpPr>
        <p:spPr>
          <a:xfrm>
            <a:off x="876300" y="6451600"/>
            <a:ext cx="16535400" cy="6604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Orquestación: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notebooks/main.ipynb · run_experiment.py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0" y="7112000"/>
            <a:ext cx="0" cy="304800"/>
          </a:xfrm>
          <a:prstGeom prst="line">
            <a:avLst/>
          </a:prstGeom>
          <a:ln w="38100">
            <a:solidFill>
              <a:srgbClr val="8585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ultados"/>
          <p:cNvSpPr/>
          <p:nvPr/>
        </p:nvSpPr>
        <p:spPr>
          <a:xfrm>
            <a:off x="876300" y="7442200"/>
            <a:ext cx="16535400" cy="660400"/>
          </a:xfrm>
          <a:prstGeom prst="rect">
            <a:avLst/>
          </a:prstGeom>
          <a:noFill/>
          <a:ln w="25400">
            <a:solidFill>
              <a:srgbClr val="219B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r>
              <a:rPr sz="2000" b="1" i="0">
                <a:solidFill>
                  <a:srgbClr val="00566C"/>
                </a:solidFill>
                <a:latin typeface="Arial"/>
              </a:rPr>
              <a:t>Salidas: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results/tables (CSV) · results/figures (PNG) · repositorio público en GitHub</a:t>
            </a:r>
          </a:p>
        </p:txBody>
      </p:sp>
      <p:sp>
        <p:nvSpPr>
          <p:cNvPr id="18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Figura 7 y Anexo A (§3.3, Fase 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02 · Diseño del experimento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De 10.987 series M4 a una submuestra estratificada de 200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8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6300" y="2489200"/>
            <a:ext cx="3175000" cy="1092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5400" b="1" i="0">
                <a:solidFill>
                  <a:srgbClr val="219BC3"/>
                </a:solidFill>
                <a:latin typeface="Arial"/>
              </a:rPr>
              <a:t>10.987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2600" y="2565400"/>
            <a:ext cx="0" cy="9398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21200" y="2463800"/>
            <a:ext cx="5842000" cy="1143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00566C"/>
                </a:solidFill>
                <a:latin typeface="Arial"/>
              </a:rPr>
              <a:t>series M4 Financial Monthly</a:t>
            </a:r>
          </a:p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Categoría financiera mensual; acceso público.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3800" y="3632200"/>
            <a:ext cx="0" cy="279400"/>
          </a:xfrm>
          <a:prstGeom prst="line">
            <a:avLst/>
          </a:prstGeom>
          <a:ln w="31750">
            <a:solidFill>
              <a:srgbClr val="C0C0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6300" y="3987800"/>
            <a:ext cx="3175000" cy="1092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5400" b="1" i="0">
                <a:solidFill>
                  <a:srgbClr val="219BC3"/>
                </a:solidFill>
                <a:latin typeface="Arial"/>
              </a:rPr>
              <a:t>8.493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2600" y="4064000"/>
            <a:ext cx="0" cy="9398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21200" y="3962400"/>
            <a:ext cx="5842000" cy="1143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00566C"/>
                </a:solidFill>
                <a:latin typeface="Arial"/>
              </a:rPr>
              <a:t>series con al menos 72 meses</a:t>
            </a:r>
          </a:p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77,3 % del total; garantiza una iteración walk-forward.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3800" y="5130800"/>
            <a:ext cx="0" cy="279400"/>
          </a:xfrm>
          <a:prstGeom prst="line">
            <a:avLst/>
          </a:prstGeom>
          <a:ln w="31750">
            <a:solidFill>
              <a:srgbClr val="C0C0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6300" y="5486400"/>
            <a:ext cx="3175000" cy="1092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5400" b="1" i="0">
                <a:solidFill>
                  <a:srgbClr val="219BC3"/>
                </a:solidFill>
                <a:latin typeface="Arial"/>
              </a:rPr>
              <a:t>200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2600" y="5562600"/>
            <a:ext cx="0" cy="9398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1200" y="5461000"/>
            <a:ext cx="5842000" cy="1143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00566C"/>
                </a:solidFill>
                <a:latin typeface="Arial"/>
              </a:rPr>
              <a:t>series de la submuestra</a:t>
            </a:r>
          </a:p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Estratificada por cuartil de longitud · SEED = 42.</a:t>
            </a:r>
          </a:p>
        </p:txBody>
      </p:sp>
      <p:sp>
        <p:nvSpPr>
          <p:cNvPr id="15" name="Panel representatividad"/>
          <p:cNvSpPr/>
          <p:nvPr/>
        </p:nvSpPr>
        <p:spPr>
          <a:xfrm>
            <a:off x="10795000" y="2413000"/>
            <a:ext cx="6616700" cy="43942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049000" y="2514600"/>
            <a:ext cx="6096000" cy="558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200" b="1" i="0">
                <a:solidFill>
                  <a:srgbClr val="00566C"/>
                </a:solidFill>
                <a:latin typeface="Arial"/>
              </a:rPr>
              <a:t>¿Es representativa la submuestra?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3200400"/>
            <a:ext cx="60960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Longitud</a:t>
            </a:r>
          </a:p>
          <a:p>
            <a:pPr algn="l"/>
            <a:r>
              <a:rPr sz="2200" b="1" i="0">
                <a:solidFill>
                  <a:srgbClr val="00566C"/>
                </a:solidFill>
                <a:latin typeface="Arial"/>
              </a:rPr>
              <a:t>KS = 0,053 · p = 0,63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4038600"/>
            <a:ext cx="60960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Longitud media</a:t>
            </a:r>
          </a:p>
          <a:p>
            <a:pPr algn="l"/>
            <a:r>
              <a:rPr sz="2200" b="1" i="0">
                <a:solidFill>
                  <a:srgbClr val="00566C"/>
                </a:solidFill>
                <a:latin typeface="Arial"/>
              </a:rPr>
              <a:t>218,0 frente a 218,2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4876800"/>
            <a:ext cx="60960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CV mediano</a:t>
            </a:r>
          </a:p>
          <a:p>
            <a:pPr algn="l"/>
            <a:r>
              <a:rPr sz="2200" b="1" i="0">
                <a:solidFill>
                  <a:srgbClr val="00566C"/>
                </a:solidFill>
                <a:latin typeface="Arial"/>
              </a:rPr>
              <a:t>0,293 frente a 0,275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0" y="5715000"/>
            <a:ext cx="60960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Tendencia positiva</a:t>
            </a:r>
          </a:p>
          <a:p>
            <a:pPr algn="l"/>
            <a:r>
              <a:rPr sz="2200" b="1" i="0">
                <a:solidFill>
                  <a:srgbClr val="00566C"/>
                </a:solidFill>
                <a:latin typeface="Arial"/>
              </a:rPr>
              <a:t>82,0 % frente a 79,5 %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0" y="6426200"/>
            <a:ext cx="6096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Población (N = 8.493) frente a muestra (N = 200).</a:t>
            </a:r>
          </a:p>
        </p:txBody>
      </p:sp>
      <p:sp>
        <p:nvSpPr>
          <p:cNvPr id="22" name="Cautela barra"/>
          <p:cNvSpPr/>
          <p:nvPr/>
        </p:nvSpPr>
        <p:spPr>
          <a:xfrm>
            <a:off x="876300" y="7137400"/>
            <a:ext cx="101600" cy="1219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Cautela fondo"/>
          <p:cNvSpPr/>
          <p:nvPr/>
        </p:nvSpPr>
        <p:spPr>
          <a:xfrm>
            <a:off x="977900" y="7137400"/>
            <a:ext cx="16433800" cy="12192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2000" b="0" i="0">
                <a:solidFill>
                  <a:srgbClr val="00566C"/>
                </a:solidFill>
                <a:latin typeface="Arial"/>
              </a:rPr>
              <a:t>M4 Financial Monthly es un proxy metodológico: no equivale a cuentas contables (P&amp;L) corporativas; la correspondencia en escala y tendencia no está garantizada por el diseño de muestreo.</a:t>
            </a:r>
          </a:p>
        </p:txBody>
      </p:sp>
      <p:sp>
        <p:nvSpPr>
          <p:cNvPr id="24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Tablas 10 y 11 (§4.2) y §3.3, Fase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02 · Diseño del experimento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Walk-forward con ventana creciente y hasta cinco folds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0</a:t>
            </a:r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9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40000" y="2336800"/>
            <a:ext cx="425196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ctr"/>
            <a:r>
              <a:rPr sz="1600" b="0" i="0">
                <a:solidFill>
                  <a:srgbClr val="858591"/>
                </a:solidFill>
                <a:latin typeface="Arial"/>
              </a:rPr>
              <a:t>54 meses iniciales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717800"/>
            <a:ext cx="1524000" cy="508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2000" b="1" i="0">
                <a:solidFill>
                  <a:srgbClr val="00566C"/>
                </a:solidFill>
                <a:latin typeface="Arial"/>
              </a:rPr>
              <a:t>Fold 1</a:t>
            </a:r>
          </a:p>
        </p:txBody>
      </p:sp>
      <p:sp>
        <p:nvSpPr>
          <p:cNvPr id="6" name="Entrenamiento fold 1"/>
          <p:cNvSpPr/>
          <p:nvPr/>
        </p:nvSpPr>
        <p:spPr>
          <a:xfrm>
            <a:off x="2540000" y="2717800"/>
            <a:ext cx="4251960" cy="5080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54 m</a:t>
            </a:r>
          </a:p>
        </p:txBody>
      </p:sp>
      <p:sp>
        <p:nvSpPr>
          <p:cNvPr id="7" name="Evaluación fold 1"/>
          <p:cNvSpPr/>
          <p:nvPr/>
        </p:nvSpPr>
        <p:spPr>
          <a:xfrm>
            <a:off x="6791960" y="2717800"/>
            <a:ext cx="1417320" cy="5080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18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441700"/>
            <a:ext cx="1524000" cy="508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2000" b="1" i="0">
                <a:solidFill>
                  <a:srgbClr val="00566C"/>
                </a:solidFill>
                <a:latin typeface="Arial"/>
              </a:rPr>
              <a:t>Fold 2</a:t>
            </a:r>
          </a:p>
        </p:txBody>
      </p:sp>
      <p:sp>
        <p:nvSpPr>
          <p:cNvPr id="9" name="Entrenamiento fold 2"/>
          <p:cNvSpPr/>
          <p:nvPr/>
        </p:nvSpPr>
        <p:spPr>
          <a:xfrm>
            <a:off x="2540000" y="3441700"/>
            <a:ext cx="5196840" cy="5080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66 m</a:t>
            </a:r>
          </a:p>
        </p:txBody>
      </p:sp>
      <p:sp>
        <p:nvSpPr>
          <p:cNvPr id="10" name="Evaluación fold 2"/>
          <p:cNvSpPr/>
          <p:nvPr/>
        </p:nvSpPr>
        <p:spPr>
          <a:xfrm>
            <a:off x="7736840" y="3441700"/>
            <a:ext cx="1417320" cy="5080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18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165600"/>
            <a:ext cx="1524000" cy="508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2000" b="1" i="0">
                <a:solidFill>
                  <a:srgbClr val="00566C"/>
                </a:solidFill>
                <a:latin typeface="Arial"/>
              </a:rPr>
              <a:t>Fold 3</a:t>
            </a:r>
          </a:p>
        </p:txBody>
      </p:sp>
      <p:sp>
        <p:nvSpPr>
          <p:cNvPr id="12" name="Entrenamiento fold 3"/>
          <p:cNvSpPr/>
          <p:nvPr/>
        </p:nvSpPr>
        <p:spPr>
          <a:xfrm>
            <a:off x="2540000" y="4165600"/>
            <a:ext cx="6141720" cy="5080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78 m</a:t>
            </a:r>
          </a:p>
        </p:txBody>
      </p:sp>
      <p:sp>
        <p:nvSpPr>
          <p:cNvPr id="13" name="Evaluación fold 3"/>
          <p:cNvSpPr/>
          <p:nvPr/>
        </p:nvSpPr>
        <p:spPr>
          <a:xfrm>
            <a:off x="8681720" y="4165600"/>
            <a:ext cx="1417320" cy="5080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18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889500"/>
            <a:ext cx="1524000" cy="508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2000" b="1" i="0">
                <a:solidFill>
                  <a:srgbClr val="00566C"/>
                </a:solidFill>
                <a:latin typeface="Arial"/>
              </a:rPr>
              <a:t>Fold 4</a:t>
            </a:r>
          </a:p>
        </p:txBody>
      </p:sp>
      <p:sp>
        <p:nvSpPr>
          <p:cNvPr id="15" name="Entrenamiento fold 4"/>
          <p:cNvSpPr/>
          <p:nvPr/>
        </p:nvSpPr>
        <p:spPr>
          <a:xfrm>
            <a:off x="2540000" y="4889500"/>
            <a:ext cx="7086600" cy="5080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90 m</a:t>
            </a:r>
          </a:p>
        </p:txBody>
      </p:sp>
      <p:sp>
        <p:nvSpPr>
          <p:cNvPr id="16" name="Evaluación fold 4"/>
          <p:cNvSpPr/>
          <p:nvPr/>
        </p:nvSpPr>
        <p:spPr>
          <a:xfrm>
            <a:off x="9626600" y="4889500"/>
            <a:ext cx="1417320" cy="5080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18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613400"/>
            <a:ext cx="1524000" cy="508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2000" b="1" i="0">
                <a:solidFill>
                  <a:srgbClr val="00566C"/>
                </a:solidFill>
                <a:latin typeface="Arial"/>
              </a:rPr>
              <a:t>Fold 5</a:t>
            </a:r>
          </a:p>
        </p:txBody>
      </p:sp>
      <p:sp>
        <p:nvSpPr>
          <p:cNvPr id="18" name="Entrenamiento fold 5"/>
          <p:cNvSpPr/>
          <p:nvPr/>
        </p:nvSpPr>
        <p:spPr>
          <a:xfrm>
            <a:off x="2540000" y="5613400"/>
            <a:ext cx="8031480" cy="5080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102 m</a:t>
            </a:r>
          </a:p>
        </p:txBody>
      </p:sp>
      <p:sp>
        <p:nvSpPr>
          <p:cNvPr id="19" name="Evaluación fold 5"/>
          <p:cNvSpPr/>
          <p:nvPr/>
        </p:nvSpPr>
        <p:spPr>
          <a:xfrm>
            <a:off x="10571480" y="5613400"/>
            <a:ext cx="1417320" cy="5080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18 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40000" y="6337300"/>
            <a:ext cx="279400" cy="203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95600" y="6261100"/>
            <a:ext cx="3810000" cy="355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Entrenamiento (ventana creciente)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12000" y="6337300"/>
            <a:ext cx="279400" cy="2032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7600" y="6261100"/>
            <a:ext cx="3810000" cy="355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Horizonte de evaluación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27000" y="2463800"/>
            <a:ext cx="1397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3600" b="1" i="0">
                <a:solidFill>
                  <a:srgbClr val="219BC3"/>
                </a:solidFill>
                <a:latin typeface="Arial"/>
              </a:rPr>
              <a:t>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1000" y="2463800"/>
            <a:ext cx="30607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1" i="0">
                <a:solidFill>
                  <a:srgbClr val="00566C"/>
                </a:solidFill>
                <a:latin typeface="Arial"/>
              </a:rPr>
              <a:t>meses de ventana inicial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27000" y="3251200"/>
            <a:ext cx="1397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3600" b="1" i="0">
                <a:solidFill>
                  <a:srgbClr val="219BC3"/>
                </a:solidFill>
                <a:latin typeface="Arial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51000" y="3251200"/>
            <a:ext cx="30607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1" i="0">
                <a:solidFill>
                  <a:srgbClr val="00566C"/>
                </a:solidFill>
                <a:latin typeface="Arial"/>
              </a:rPr>
              <a:t>meses de horizonte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27000" y="4038600"/>
            <a:ext cx="1397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3600" b="1" i="0">
                <a:solidFill>
                  <a:srgbClr val="219BC3"/>
                </a:solidFill>
                <a:latin typeface="Arial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51000" y="4038600"/>
            <a:ext cx="30607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1" i="0">
                <a:solidFill>
                  <a:srgbClr val="00566C"/>
                </a:solidFill>
                <a:latin typeface="Arial"/>
              </a:rPr>
              <a:t>meses de paso entre folds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27000" y="4826000"/>
            <a:ext cx="1397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3600" b="1" i="0">
                <a:solidFill>
                  <a:srgbClr val="219BC3"/>
                </a:solidFill>
                <a:latin typeface="Arial"/>
              </a:rPr>
              <a:t>≤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1000" y="4826000"/>
            <a:ext cx="30607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1" i="0">
                <a:solidFill>
                  <a:srgbClr val="00566C"/>
                </a:solidFill>
                <a:latin typeface="Arial"/>
              </a:rPr>
              <a:t>folds por serie (más recientes)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300" y="6858000"/>
            <a:ext cx="762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1" i="0">
                <a:solidFill>
                  <a:srgbClr val="00566C"/>
                </a:solidFill>
                <a:latin typeface="Arial"/>
              </a:rPr>
              <a:t>Series según folds retenidos (N = 200)</a:t>
            </a:r>
          </a:p>
        </p:txBody>
      </p:sp>
      <p:sp>
        <p:nvSpPr>
          <p:cNvPr id="33" name="Folds 1"/>
          <p:cNvSpPr/>
          <p:nvPr/>
        </p:nvSpPr>
        <p:spPr>
          <a:xfrm>
            <a:off x="876300" y="7264400"/>
            <a:ext cx="1905000" cy="1016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sz="3000" b="1" i="0">
                <a:solidFill>
                  <a:srgbClr val="00566C"/>
                </a:solidFill>
                <a:latin typeface="Arial"/>
              </a:rPr>
              <a:t>20</a:t>
            </a:r>
          </a:p>
          <a:p>
            <a:pPr algn="ctr"/>
            <a:r>
              <a:rPr sz="1500" b="0" i="0">
                <a:solidFill>
                  <a:srgbClr val="858591"/>
                </a:solidFill>
                <a:latin typeface="Arial"/>
              </a:rPr>
              <a:t>con 1 fold</a:t>
            </a:r>
          </a:p>
        </p:txBody>
      </p:sp>
      <p:sp>
        <p:nvSpPr>
          <p:cNvPr id="34" name="Folds 2"/>
          <p:cNvSpPr/>
          <p:nvPr/>
        </p:nvSpPr>
        <p:spPr>
          <a:xfrm>
            <a:off x="2908300" y="7264400"/>
            <a:ext cx="1905000" cy="1016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sz="3000" b="1" i="0">
                <a:solidFill>
                  <a:srgbClr val="00566C"/>
                </a:solidFill>
                <a:latin typeface="Arial"/>
              </a:rPr>
              <a:t>2</a:t>
            </a:r>
          </a:p>
          <a:p>
            <a:pPr algn="ctr"/>
            <a:r>
              <a:rPr sz="1500" b="0" i="0">
                <a:solidFill>
                  <a:srgbClr val="858591"/>
                </a:solidFill>
                <a:latin typeface="Arial"/>
              </a:rPr>
              <a:t>con 2 folds</a:t>
            </a:r>
          </a:p>
        </p:txBody>
      </p:sp>
      <p:sp>
        <p:nvSpPr>
          <p:cNvPr id="35" name="Folds 3"/>
          <p:cNvSpPr/>
          <p:nvPr/>
        </p:nvSpPr>
        <p:spPr>
          <a:xfrm>
            <a:off x="4940300" y="7264400"/>
            <a:ext cx="1905000" cy="1016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sz="3000" b="1" i="0">
                <a:solidFill>
                  <a:srgbClr val="00566C"/>
                </a:solidFill>
                <a:latin typeface="Arial"/>
              </a:rPr>
              <a:t>0</a:t>
            </a:r>
          </a:p>
          <a:p>
            <a:pPr algn="ctr"/>
            <a:r>
              <a:rPr sz="1500" b="0" i="0">
                <a:solidFill>
                  <a:srgbClr val="858591"/>
                </a:solidFill>
                <a:latin typeface="Arial"/>
              </a:rPr>
              <a:t>con 3 folds</a:t>
            </a:r>
          </a:p>
        </p:txBody>
      </p:sp>
      <p:sp>
        <p:nvSpPr>
          <p:cNvPr id="36" name="Folds 4"/>
          <p:cNvSpPr/>
          <p:nvPr/>
        </p:nvSpPr>
        <p:spPr>
          <a:xfrm>
            <a:off x="6972300" y="7264400"/>
            <a:ext cx="1905000" cy="1016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sz="3000" b="1" i="0">
                <a:solidFill>
                  <a:srgbClr val="00566C"/>
                </a:solidFill>
                <a:latin typeface="Arial"/>
              </a:rPr>
              <a:t>5</a:t>
            </a:r>
          </a:p>
          <a:p>
            <a:pPr algn="ctr"/>
            <a:r>
              <a:rPr sz="1500" b="0" i="0">
                <a:solidFill>
                  <a:srgbClr val="858591"/>
                </a:solidFill>
                <a:latin typeface="Arial"/>
              </a:rPr>
              <a:t>con 4 folds</a:t>
            </a:r>
          </a:p>
        </p:txBody>
      </p:sp>
      <p:sp>
        <p:nvSpPr>
          <p:cNvPr id="37" name="Folds 5"/>
          <p:cNvSpPr/>
          <p:nvPr/>
        </p:nvSpPr>
        <p:spPr>
          <a:xfrm>
            <a:off x="9004300" y="7264400"/>
            <a:ext cx="1905000" cy="10160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173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Arial"/>
              </a:rPr>
              <a:t>con 5 folds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76000" y="7264400"/>
            <a:ext cx="6235700" cy="1016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El 86,5 % de las series conserva los cinco folds; las 20 series con un solo fold se excluyen del CV temporal.</a:t>
            </a:r>
          </a:p>
        </p:txBody>
      </p:sp>
      <p:sp>
        <p:nvSpPr>
          <p:cNvPr id="39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Figura 1, Tabla 15 y §4.5.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02 · Diseño del experimento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Sin fuga de información y 20/20 pruebas superadas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10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000" y="2489200"/>
            <a:ext cx="6350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6600" b="1" i="0">
                <a:solidFill>
                  <a:srgbClr val="219BC3"/>
                </a:solidFill>
                <a:latin typeface="Arial"/>
              </a:rPr>
              <a:t>200/200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239000" y="2565400"/>
            <a:ext cx="0" cy="134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18400" y="2489200"/>
            <a:ext cx="9906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566C"/>
                </a:solidFill>
                <a:latin typeface="Arial"/>
              </a:rPr>
              <a:t>series sin fuga de información</a:t>
            </a:r>
          </a:p>
          <a:p>
            <a:pPr algn="l"/>
            <a:r>
              <a:rPr sz="2000" b="0" i="0">
                <a:solidFill>
                  <a:srgbClr val="858591"/>
                </a:solidFill>
                <a:latin typeface="Arial"/>
              </a:rPr>
              <a:t>verify_no_leakage comprueba la disyunción entre entrenamiento y evaluación en cada fold.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241800"/>
            <a:ext cx="6350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6600" b="1" i="0">
                <a:solidFill>
                  <a:srgbClr val="219BC3"/>
                </a:solidFill>
                <a:latin typeface="Arial"/>
              </a:rPr>
              <a:t>20/20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39000" y="4318000"/>
            <a:ext cx="0" cy="134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18400" y="4241800"/>
            <a:ext cx="9906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566C"/>
                </a:solidFill>
                <a:latin typeface="Arial"/>
              </a:rPr>
              <a:t>pruebas automatizadas superadas</a:t>
            </a:r>
          </a:p>
          <a:p>
            <a:pPr algn="l"/>
            <a:r>
              <a:rPr sz="2000" b="0" i="0">
                <a:solidFill>
                  <a:srgbClr val="858591"/>
                </a:solidFill>
                <a:latin typeface="Arial"/>
              </a:rPr>
              <a:t>14 pruebas de métricas y 6 de backtesting, validadas contra ejemplos manuales.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5994400"/>
            <a:ext cx="6350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6600" b="1" i="0">
                <a:solidFill>
                  <a:srgbClr val="219BC3"/>
                </a:solidFill>
                <a:latin typeface="Arial"/>
              </a:rPr>
              <a:t>SEED = 42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39000" y="6070600"/>
            <a:ext cx="0" cy="134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18400" y="5994400"/>
            <a:ext cx="9906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566C"/>
                </a:solidFill>
                <a:latin typeface="Arial"/>
              </a:rPr>
              <a:t>semilla fija y entorno documentado</a:t>
            </a:r>
          </a:p>
          <a:p>
            <a:pPr algn="l"/>
            <a:r>
              <a:rPr sz="2000" b="0" i="0">
                <a:solidFill>
                  <a:srgbClr val="858591"/>
                </a:solidFill>
                <a:latin typeface="Arial"/>
              </a:rPr>
              <a:t>Muestreo y bootstrap con semilla fija; versiones en requirements.txt.</a:t>
            </a:r>
          </a:p>
        </p:txBody>
      </p:sp>
      <p:sp>
        <p:nvSpPr>
          <p:cNvPr id="13" name="Cautela barra"/>
          <p:cNvSpPr/>
          <p:nvPr/>
        </p:nvSpPr>
        <p:spPr>
          <a:xfrm>
            <a:off x="876300" y="7848600"/>
            <a:ext cx="101600" cy="711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Cautela fondo"/>
          <p:cNvSpPr/>
          <p:nvPr/>
        </p:nvSpPr>
        <p:spPr>
          <a:xfrm>
            <a:off x="977900" y="7848600"/>
            <a:ext cx="16433800" cy="7112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1900" b="0" i="0">
                <a:solidFill>
                  <a:srgbClr val="00566C"/>
                </a:solidFill>
                <a:latin typeface="Arial"/>
              </a:rPr>
              <a:t>Favorece la reproducibilidad, sujeta a las limitaciones de determinismo de las librerías y del entorno (Python 3.13, CPU).</a:t>
            </a:r>
          </a:p>
        </p:txBody>
      </p:sp>
      <p:sp>
        <p:nvSpPr>
          <p:cNvPr id="15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§4.5, Tabla 9 y Anexo 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02 · Diseño del experimento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Los criterios de éxito se fijaron antes de ejecutar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11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4" name="Tabla criterios"/>
          <p:cNvGraphicFramePr>
            <a:graphicFrameLocks noGrp="1"/>
          </p:cNvGraphicFramePr>
          <p:nvPr/>
        </p:nvGraphicFramePr>
        <p:xfrm>
          <a:off x="876300" y="2413000"/>
          <a:ext cx="16535400" cy="5003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Arial"/>
                        </a:rPr>
                        <a:t>Condición de superación del baseline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Arial"/>
                        </a:rPr>
                        <a:t>Matiz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rgbClr val="00566C"/>
                          </a:solidFill>
                          <a:latin typeface="Arial"/>
                        </a:rPr>
                        <a:t>sMAPE global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Reducción ≥ 1 pp frente al Seasonal Naïve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566C"/>
                          </a:solidFill>
                          <a:latin typeface="Arial"/>
                        </a:rPr>
                        <a:t>Referencia: 13,667 % (resultado del baseline)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rgbClr val="00566C"/>
                          </a:solidFill>
                          <a:latin typeface="Arial"/>
                        </a:rPr>
                        <a:t>MASE global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MASE &lt; 1,0, evaluado por modelo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566C"/>
                          </a:solidFill>
                          <a:latin typeface="Arial"/>
                        </a:rPr>
                        <a:t>Denominador en muestra; ver nota del TFM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rgbClr val="00566C"/>
                          </a:solidFill>
                          <a:latin typeface="Arial"/>
                        </a:rPr>
                        <a:t>WAPE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No superar al baseline en el 30 % de mayor volumen (D8–D10)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566C"/>
                          </a:solidFill>
                          <a:latin typeface="Arial"/>
                        </a:rPr>
                        <a:t>Proxy de materialidad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rgbClr val="00566C"/>
                          </a:solidFill>
                          <a:latin typeface="Arial"/>
                        </a:rPr>
                        <a:t>Estabilidad temporal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CV del sMAPE &lt; 25 % entre folds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566C"/>
                          </a:solidFill>
                          <a:latin typeface="Arial"/>
                        </a:rPr>
                        <a:t>Criterio exploratorio propio, no estándar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rgbClr val="00566C"/>
                          </a:solidFill>
                          <a:latin typeface="Arial"/>
                        </a:rPr>
                        <a:t>Significación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≥ 0,5 pp en más del 60 % de folds; IC bootstrap sin el cero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566C"/>
                          </a:solidFill>
                          <a:latin typeface="Arial"/>
                        </a:rPr>
                        <a:t>Reglas fijadas a priori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autela barra"/>
          <p:cNvSpPr/>
          <p:nvPr/>
        </p:nvSpPr>
        <p:spPr>
          <a:xfrm>
            <a:off x="876300" y="7620000"/>
            <a:ext cx="101600" cy="7620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Cautela fondo"/>
          <p:cNvSpPr/>
          <p:nvPr/>
        </p:nvSpPr>
        <p:spPr>
          <a:xfrm>
            <a:off x="977900" y="7620000"/>
            <a:ext cx="16433800" cy="762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1900" b="0" i="0">
                <a:solidFill>
                  <a:srgbClr val="00566C"/>
                </a:solidFill>
                <a:latin typeface="Arial"/>
              </a:rPr>
              <a:t>El umbral CV &lt; 25 % es un criterio exploratorio definido en este trabajo; no existe un consenso publicado que lo respalde como estándar universal.</a:t>
            </a:r>
          </a:p>
        </p:txBody>
      </p:sp>
      <p:sp>
        <p:nvSpPr>
          <p:cNvPr id="7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 16 y §4.6.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03 · Resultados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Seis métricas; WAPE es un proxy de materialidad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12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Cab estadísticas"/>
          <p:cNvSpPr/>
          <p:nvPr/>
        </p:nvSpPr>
        <p:spPr>
          <a:xfrm>
            <a:off x="876300" y="2413000"/>
            <a:ext cx="9652000" cy="6350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5400" rIns="101600" bIns="25400" rtlCol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Error estadístico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200400"/>
            <a:ext cx="1905000" cy="787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600" b="1" i="0">
                <a:solidFill>
                  <a:srgbClr val="00566C"/>
                </a:solidFill>
                <a:latin typeface="Arial"/>
              </a:rPr>
              <a:t>MAE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4500" y="3200400"/>
            <a:ext cx="7493000" cy="787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100" b="0" i="0">
                <a:solidFill>
                  <a:srgbClr val="858591"/>
                </a:solidFill>
                <a:latin typeface="Arial"/>
              </a:rPr>
              <a:t>Error absoluto en las unidades originales de cada serie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4038600"/>
            <a:ext cx="1905000" cy="787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600" b="1" i="0">
                <a:solidFill>
                  <a:srgbClr val="00566C"/>
                </a:solidFill>
                <a:latin typeface="Arial"/>
              </a:rP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4500" y="4038600"/>
            <a:ext cx="7493000" cy="787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100" b="0" i="0">
                <a:solidFill>
                  <a:srgbClr val="858591"/>
                </a:solidFill>
                <a:latin typeface="Arial"/>
              </a:rPr>
              <a:t>Penaliza con más fuerza los errores grandes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876800"/>
            <a:ext cx="1905000" cy="787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600" b="1" i="0">
                <a:solidFill>
                  <a:srgbClr val="00566C"/>
                </a:solidFill>
                <a:latin typeface="Arial"/>
              </a:rPr>
              <a:t>MAPE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4500" y="4876800"/>
            <a:ext cx="7493000" cy="787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100" b="0" i="0">
                <a:solidFill>
                  <a:srgbClr val="858591"/>
                </a:solidFill>
                <a:latin typeface="Arial"/>
              </a:rPr>
              <a:t>Error porcentual; fácil de comunicar a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5715000"/>
            <a:ext cx="1905000" cy="787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600" b="1" i="0">
                <a:solidFill>
                  <a:srgbClr val="00566C"/>
                </a:solidFill>
                <a:latin typeface="Arial"/>
              </a:rPr>
              <a:t>sMAPE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4500" y="5715000"/>
            <a:ext cx="7493000" cy="787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100" b="0" i="0">
                <a:solidFill>
                  <a:srgbClr val="858591"/>
                </a:solidFill>
                <a:latin typeface="Arial"/>
              </a:rPr>
              <a:t>Métrica principal, estándar de la competición M4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6553200"/>
            <a:ext cx="1905000" cy="787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600" b="1" i="0">
                <a:solidFill>
                  <a:srgbClr val="00566C"/>
                </a:solidFill>
                <a:latin typeface="Arial"/>
              </a:rPr>
              <a:t>MASE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4500" y="6553200"/>
            <a:ext cx="7493000" cy="787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100" b="0" i="0">
                <a:solidFill>
                  <a:srgbClr val="858591"/>
                </a:solidFill>
                <a:latin typeface="Arial"/>
              </a:rPr>
              <a:t>Error escalado frente al naïve estacional</a:t>
            </a:r>
          </a:p>
        </p:txBody>
      </p:sp>
      <p:sp>
        <p:nvSpPr>
          <p:cNvPr id="15" name="Cab ponderada"/>
          <p:cNvSpPr/>
          <p:nvPr/>
        </p:nvSpPr>
        <p:spPr>
          <a:xfrm>
            <a:off x="11049000" y="2413000"/>
            <a:ext cx="6362700" cy="6350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5400" rIns="101600" bIns="25400" rtlCol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Ponderada por magnitud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0" y="3200400"/>
            <a:ext cx="6096000" cy="1651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00566C"/>
                </a:solidFill>
                <a:latin typeface="Arial"/>
              </a:rPr>
              <a:t>WAPE</a:t>
            </a:r>
          </a:p>
          <a:p>
            <a:pPr algn="l"/>
            <a:r>
              <a:rPr sz="2100" b="0" i="0">
                <a:solidFill>
                  <a:srgbClr val="858591"/>
                </a:solidFill>
                <a:latin typeface="Arial"/>
              </a:rPr>
              <a:t>Pondera el error por el volumen de la serie: proxy de materialidad.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6000" y="5080000"/>
            <a:ext cx="6096000" cy="1905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00566C"/>
                </a:solidFill>
                <a:latin typeface="Arial"/>
              </a:rPr>
              <a:t>Contribución por decil</a:t>
            </a:r>
          </a:p>
          <a:p>
            <a:pPr algn="l"/>
            <a:r>
              <a:rPr sz="2100" b="0" i="0">
                <a:solidFill>
                  <a:srgbClr val="858591"/>
                </a:solidFill>
                <a:latin typeface="Arial"/>
              </a:rPr>
              <a:t>Análisis complementario del error absoluto por decil de volumen (D1–D10).</a:t>
            </a:r>
          </a:p>
        </p:txBody>
      </p:sp>
      <p:sp>
        <p:nvSpPr>
          <p:cNvPr id="18" name="Cautela barra"/>
          <p:cNvSpPr/>
          <p:nvPr/>
        </p:nvSpPr>
        <p:spPr>
          <a:xfrm>
            <a:off x="876300" y="7594600"/>
            <a:ext cx="101600" cy="7874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Cautela fondo"/>
          <p:cNvSpPr/>
          <p:nvPr/>
        </p:nvSpPr>
        <p:spPr>
          <a:xfrm>
            <a:off x="977900" y="7594600"/>
            <a:ext cx="16433800" cy="7874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2000" b="0" i="0">
                <a:solidFill>
                  <a:srgbClr val="00566C"/>
                </a:solidFill>
                <a:latin typeface="Arial"/>
              </a:rPr>
              <a:t>WAPE y el análisis por volumen aproximan la materialidad financiera; no miden el impacto económico en unidades monetarias comparables.</a:t>
            </a:r>
          </a:p>
        </p:txBody>
      </p:sp>
      <p:sp>
        <p:nvSpPr>
          <p:cNvPr id="20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 14 y §4.4.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03 · Resultados</a:t>
            </a:r>
            <a:br/>
            <a:r>
              <a:rPr sz="3600" b="1">
                <a:solidFill>
                  <a:srgbClr val="00566C"/>
                </a:solidFill>
                <a:latin typeface="Arial"/>
              </a:rPr>
              <a:t>ETS obtiene el menor error en las seis métricas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13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000" y="2362200"/>
            <a:ext cx="6350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6400" b="1" i="0">
                <a:solidFill>
                  <a:srgbClr val="219BC3"/>
                </a:solidFill>
                <a:latin typeface="Arial"/>
              </a:rPr>
              <a:t>10,0 %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239000" y="2438400"/>
            <a:ext cx="0" cy="134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18400" y="2362200"/>
            <a:ext cx="9906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566C"/>
                </a:solidFill>
                <a:latin typeface="Arial"/>
              </a:rPr>
              <a:t>sMAPE medio de ETS (AutoETS)</a:t>
            </a:r>
          </a:p>
          <a:p>
            <a:pPr algn="l"/>
            <a:r>
              <a:rPr sz="2000" b="0" i="0">
                <a:solidFill>
                  <a:srgbClr val="858591"/>
                </a:solidFill>
                <a:latin typeface="Arial"/>
              </a:rPr>
              <a:t>El menor error en MAE, RMSE, MAPE, sMAPE, MASE y WAPE.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038600"/>
            <a:ext cx="6350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6400" b="1" i="0">
                <a:solidFill>
                  <a:srgbClr val="219BC3"/>
                </a:solidFill>
                <a:latin typeface="Arial"/>
              </a:rPr>
              <a:t>13,7 %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39000" y="4114800"/>
            <a:ext cx="0" cy="134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18400" y="4038600"/>
            <a:ext cx="9906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566C"/>
                </a:solidFill>
                <a:latin typeface="Arial"/>
              </a:rPr>
              <a:t>sMAPE medio del Seasonal Naïve</a:t>
            </a:r>
          </a:p>
          <a:p>
            <a:pPr algn="l"/>
            <a:r>
              <a:rPr sz="2000" b="0" i="0">
                <a:solidFill>
                  <a:srgbClr val="858591"/>
                </a:solidFill>
                <a:latin typeface="Arial"/>
              </a:rPr>
              <a:t>Baseline estacional de referencia.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5715000"/>
            <a:ext cx="6350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6400" b="1" i="0">
                <a:solidFill>
                  <a:srgbClr val="219BC3"/>
                </a:solidFill>
                <a:latin typeface="Arial"/>
              </a:rPr>
              <a:t>−3,85 pp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39000" y="5791200"/>
            <a:ext cx="0" cy="134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18400" y="5715000"/>
            <a:ext cx="9906000" cy="1498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566C"/>
                </a:solidFill>
                <a:latin typeface="Arial"/>
              </a:rPr>
              <a:t>diferencia media pareada por serie</a:t>
            </a:r>
          </a:p>
          <a:p>
            <a:pPr algn="l"/>
            <a:r>
              <a:rPr sz="2000" b="0" i="0">
                <a:solidFill>
                  <a:srgbClr val="858591"/>
                </a:solidFill>
                <a:latin typeface="Arial"/>
              </a:rPr>
              <a:t>IC bootstrap al 95 %: [−4,52; −3,26] pp · N = 200 series.</a:t>
            </a:r>
          </a:p>
        </p:txBody>
      </p:sp>
      <p:sp>
        <p:nvSpPr>
          <p:cNvPr id="13" name="Cautela barra"/>
          <p:cNvSpPr/>
          <p:nvPr/>
        </p:nvSpPr>
        <p:spPr>
          <a:xfrm>
            <a:off x="876300" y="7772400"/>
            <a:ext cx="101600" cy="7874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Cautela fondo"/>
          <p:cNvSpPr/>
          <p:nvPr/>
        </p:nvSpPr>
        <p:spPr>
          <a:xfrm>
            <a:off x="977900" y="7772400"/>
            <a:ext cx="16433800" cy="7874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1900" b="0" i="0">
                <a:solidFill>
                  <a:srgbClr val="00566C"/>
                </a:solidFill>
                <a:latin typeface="Arial"/>
              </a:rPr>
              <a:t>Mejora estadísticamente significativa bajo el protocolo utilizado; resultado condicionado a M4 Financial Monthly y a las condiciones experimentales.</a:t>
            </a:r>
          </a:p>
        </p:txBody>
      </p:sp>
      <p:sp>
        <p:nvSpPr>
          <p:cNvPr id="15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Tablas 18, 22 y 24 (§5.2–5.3).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03 · Resultados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Los estadísticos clásicos lideran el ranking de sMAPE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14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6300" y="2311400"/>
            <a:ext cx="10922000" cy="355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sMAPE medio (%) · menor es mejor</a:t>
            </a:r>
          </a:p>
        </p:txBody>
      </p:sp>
      <p:graphicFrame>
        <p:nvGraphicFramePr>
          <p:cNvPr id="5" name="Gráfico ranking sMAPE"/>
          <p:cNvGraphicFramePr>
            <a:graphicFrameLocks noGrp="1"/>
          </p:cNvGraphicFramePr>
          <p:nvPr/>
        </p:nvGraphicFramePr>
        <p:xfrm>
          <a:off x="762000" y="2616200"/>
          <a:ext cx="114300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1016000" y="7874000"/>
            <a:ext cx="254000" cy="2032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46200" y="7772400"/>
            <a:ext cx="3175000" cy="381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ETS (mejor modelo)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99000" y="7874000"/>
            <a:ext cx="254000" cy="203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7772400"/>
            <a:ext cx="3175000" cy="381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Estadístico clásico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0" y="7874000"/>
            <a:ext cx="254000" cy="2032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12200" y="7772400"/>
            <a:ext cx="2032000" cy="381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ML / DL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22000" y="7874000"/>
            <a:ext cx="254000" cy="203200"/>
          </a:xfrm>
          <a:prstGeom prst="rect">
            <a:avLst/>
          </a:prstGeom>
          <a:solidFill>
            <a:srgbClr val="C0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52200" y="7772400"/>
            <a:ext cx="1905000" cy="381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00000" y="2667000"/>
            <a:ext cx="101600" cy="13208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54000" y="2641600"/>
            <a:ext cx="44577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4000" b="1" i="0">
                <a:solidFill>
                  <a:srgbClr val="00566C"/>
                </a:solidFill>
                <a:latin typeface="Arial"/>
              </a:rPr>
              <a:t>10,662 %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0" y="3352800"/>
            <a:ext cx="4457700" cy="635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sMAPE medio de los estadísticos clásicos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700000" y="4241800"/>
            <a:ext cx="101600" cy="13208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54000" y="4216400"/>
            <a:ext cx="44577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4000" b="1" i="0">
                <a:solidFill>
                  <a:srgbClr val="00566C"/>
                </a:solidFill>
                <a:latin typeface="Arial"/>
              </a:rPr>
              <a:t>11,967 %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0" y="4927600"/>
            <a:ext cx="4457700" cy="635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sMAPE medio de ML y deep learning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700000" y="5816600"/>
            <a:ext cx="101600" cy="1320800"/>
          </a:xfrm>
          <a:prstGeom prst="rect">
            <a:avLst/>
          </a:prstGeom>
          <a:solidFill>
            <a:srgbClr val="C0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54000" y="5791200"/>
            <a:ext cx="4457700" cy="762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4000" b="1" i="0">
                <a:solidFill>
                  <a:srgbClr val="00566C"/>
                </a:solidFill>
                <a:latin typeface="Arial"/>
              </a:rPr>
              <a:t>13,667 %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4000" y="6502400"/>
            <a:ext cx="4457700" cy="635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Seasonal Naïve (baseline)</a:t>
            </a:r>
          </a:p>
        </p:txBody>
      </p:sp>
      <p:sp>
        <p:nvSpPr>
          <p:cNvPr id="23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 18, Figura 4 y §6.1.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03 · Resultados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ETS lidera también MAE, RMSE, MAPE, MASE y WAPE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15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4" name="Mapa de calor 7x6"/>
          <p:cNvGraphicFramePr>
            <a:graphicFrameLocks noGrp="1"/>
          </p:cNvGraphicFramePr>
          <p:nvPr/>
        </p:nvGraphicFramePr>
        <p:xfrm>
          <a:off x="876300" y="2387600"/>
          <a:ext cx="16532860" cy="5308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0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7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7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7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7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37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MAE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RMSE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MAPE (%)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sMAPE (%)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MASE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WAPE (%)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Seasonal Naïve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759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14,2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13,7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1,41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13,8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ETS (AutoETS)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5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5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Arial"/>
                        </a:rPr>
                        <a:t>10,6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5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5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Arial"/>
                        </a:rPr>
                        <a:t>1,02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5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56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Holt-Winters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547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897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643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E9B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29E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11,2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568C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1,15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588D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11,6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A9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SARIMA (AutoARIMA)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448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4581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468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FFFFFF"/>
                          </a:solidFill>
                          <a:latin typeface="Arial"/>
                        </a:rPr>
                        <a:t>10,8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4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FFFFFF"/>
                          </a:solidFill>
                          <a:latin typeface="Arial"/>
                        </a:rPr>
                        <a:t>1,09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3979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FFFFFF"/>
                          </a:solidFill>
                          <a:latin typeface="Arial"/>
                        </a:rPr>
                        <a:t>10,9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3E7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LightGBM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E9B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639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998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696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11,7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6A0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1,29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A9C0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897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MLP Bottleneck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DA4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8A1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11,9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94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11,8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0A6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1,35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7D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11,6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D9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N-BEATS Interpretable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3B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3B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12,3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7DA4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12,4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9FB9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1,34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2CF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i="0">
                          <a:solidFill>
                            <a:srgbClr val="0C0B0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AA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6300" y="7772400"/>
            <a:ext cx="4191000" cy="381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Normalizado por columna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0" y="7772400"/>
            <a:ext cx="1397000" cy="381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r"/>
            <a:r>
              <a:rPr sz="1800" b="1" i="0">
                <a:solidFill>
                  <a:srgbClr val="00566C"/>
                </a:solidFill>
                <a:latin typeface="Arial"/>
              </a:rPr>
              <a:t>Mejor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604000" y="7848600"/>
            <a:ext cx="431800" cy="2540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35800" y="7848600"/>
            <a:ext cx="431800" cy="254000"/>
          </a:xfrm>
          <a:prstGeom prst="rect">
            <a:avLst/>
          </a:prstGeom>
          <a:solidFill>
            <a:srgbClr val="2C7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67600" y="7848600"/>
            <a:ext cx="431800" cy="254000"/>
          </a:xfrm>
          <a:prstGeom prst="rect">
            <a:avLst/>
          </a:prstGeom>
          <a:solidFill>
            <a:srgbClr val="4F8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99400" y="7848600"/>
            <a:ext cx="431800" cy="254000"/>
          </a:xfrm>
          <a:prstGeom prst="rect">
            <a:avLst/>
          </a:prstGeom>
          <a:solidFill>
            <a:srgbClr val="709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31200" y="7848600"/>
            <a:ext cx="431800" cy="254000"/>
          </a:xfrm>
          <a:prstGeom prst="rect">
            <a:avLst/>
          </a:prstGeom>
          <a:solidFill>
            <a:srgbClr val="8FA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63000" y="7848600"/>
            <a:ext cx="431800" cy="254000"/>
          </a:xfrm>
          <a:prstGeom prst="rect">
            <a:avLst/>
          </a:prstGeom>
          <a:solidFill>
            <a:srgbClr val="ADC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94800" y="7848600"/>
            <a:ext cx="431800" cy="254000"/>
          </a:xfrm>
          <a:prstGeom prst="rect">
            <a:avLst/>
          </a:prstGeom>
          <a:solidFill>
            <a:srgbClr val="CA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26600" y="7848600"/>
            <a:ext cx="431800" cy="254000"/>
          </a:xfrm>
          <a:prstGeom prst="rect">
            <a:avLst/>
          </a:prstGeom>
          <a:solidFill>
            <a:srgbClr val="E6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85400" y="7772400"/>
            <a:ext cx="1397000" cy="381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1" i="0">
                <a:solidFill>
                  <a:srgbClr val="858591"/>
                </a:solidFill>
                <a:latin typeface="Arial"/>
              </a:rPr>
              <a:t>Peor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00000" y="7696200"/>
            <a:ext cx="4711700" cy="558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Valores medios sobre fold × serie (N = 200); MAE y RMSE en unidades originales.</a:t>
            </a:r>
          </a:p>
        </p:txBody>
      </p:sp>
      <p:sp>
        <p:nvSpPr>
          <p:cNvPr id="17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Tablas 17–19 y 24 (Figura 5 reconstruida con estos valores).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03 · Resultados</a:t>
            </a:r>
            <a:br/>
            <a:r>
              <a:rPr sz="3600" b="1">
                <a:solidFill>
                  <a:srgbClr val="00566C"/>
                </a:solidFill>
                <a:latin typeface="Arial"/>
              </a:rPr>
              <a:t>La mejora es significativa y resiste Bonferroni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16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6300" y="2159000"/>
            <a:ext cx="889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1" i="0">
                <a:solidFill>
                  <a:srgbClr val="858591"/>
                </a:solidFill>
                <a:latin typeface="Arial"/>
              </a:rPr>
              <a:t>Frente al Seasonal Naïve (6 comparaciones)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552700"/>
            <a:ext cx="50800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000" b="1" i="0">
                <a:solidFill>
                  <a:srgbClr val="00566C"/>
                </a:solidFill>
                <a:latin typeface="Arial"/>
              </a:rPr>
              <a:t>ETS</a:t>
            </a:r>
          </a:p>
        </p:txBody>
      </p:sp>
      <p:sp>
        <p:nvSpPr>
          <p:cNvPr id="6" name="IC 99,5 %"/>
          <p:cNvSpPr/>
          <p:nvPr/>
        </p:nvSpPr>
        <p:spPr>
          <a:xfrm>
            <a:off x="6652260" y="2736850"/>
            <a:ext cx="2237740" cy="635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IC 95 %"/>
          <p:cNvSpPr/>
          <p:nvPr/>
        </p:nvSpPr>
        <p:spPr>
          <a:xfrm>
            <a:off x="7090410" y="2667000"/>
            <a:ext cx="1591310" cy="203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Diferencia media"/>
          <p:cNvSpPr/>
          <p:nvPr/>
        </p:nvSpPr>
        <p:spPr>
          <a:xfrm>
            <a:off x="7833360" y="2667000"/>
            <a:ext cx="203200" cy="203200"/>
          </a:xfrm>
          <a:prstGeom prst="ellipse">
            <a:avLst/>
          </a:prstGeom>
          <a:solidFill>
            <a:srgbClr val="0056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652500" y="2552700"/>
            <a:ext cx="37592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−3,852 [−4,517; −3,264]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009900"/>
            <a:ext cx="50800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000" b="1" i="0">
                <a:solidFill>
                  <a:srgbClr val="00566C"/>
                </a:solidFill>
                <a:latin typeface="Arial"/>
              </a:rPr>
              <a:t>Holt-Winters</a:t>
            </a:r>
          </a:p>
        </p:txBody>
      </p:sp>
      <p:sp>
        <p:nvSpPr>
          <p:cNvPr id="11" name="IC 99,5 %"/>
          <p:cNvSpPr/>
          <p:nvPr/>
        </p:nvSpPr>
        <p:spPr>
          <a:xfrm>
            <a:off x="7861300" y="3194050"/>
            <a:ext cx="2645410" cy="635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IC 95 %"/>
          <p:cNvSpPr/>
          <p:nvPr/>
        </p:nvSpPr>
        <p:spPr>
          <a:xfrm>
            <a:off x="8362950" y="3124200"/>
            <a:ext cx="1888490" cy="203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Diferencia media"/>
          <p:cNvSpPr/>
          <p:nvPr/>
        </p:nvSpPr>
        <p:spPr>
          <a:xfrm>
            <a:off x="9264650" y="3124200"/>
            <a:ext cx="203200" cy="203200"/>
          </a:xfrm>
          <a:prstGeom prst="ellipse">
            <a:avLst/>
          </a:prstGeom>
          <a:solidFill>
            <a:srgbClr val="0056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652500" y="3009900"/>
            <a:ext cx="37592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−2,725 [−3,515; −2,028]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467100"/>
            <a:ext cx="50800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000" b="1" i="0">
                <a:solidFill>
                  <a:srgbClr val="00566C"/>
                </a:solidFill>
                <a:latin typeface="Arial"/>
              </a:rPr>
              <a:t>SARIMA</a:t>
            </a:r>
          </a:p>
        </p:txBody>
      </p:sp>
      <p:sp>
        <p:nvSpPr>
          <p:cNvPr id="16" name="IC 99,5 %"/>
          <p:cNvSpPr/>
          <p:nvPr/>
        </p:nvSpPr>
        <p:spPr>
          <a:xfrm>
            <a:off x="7329170" y="3651250"/>
            <a:ext cx="2680970" cy="635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IC 95 %"/>
          <p:cNvSpPr/>
          <p:nvPr/>
        </p:nvSpPr>
        <p:spPr>
          <a:xfrm>
            <a:off x="7816850" y="3581400"/>
            <a:ext cx="1859280" cy="203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Diferencia media"/>
          <p:cNvSpPr/>
          <p:nvPr/>
        </p:nvSpPr>
        <p:spPr>
          <a:xfrm>
            <a:off x="8719820" y="3581400"/>
            <a:ext cx="203200" cy="203200"/>
          </a:xfrm>
          <a:prstGeom prst="ellipse">
            <a:avLst/>
          </a:prstGeom>
          <a:solidFill>
            <a:srgbClr val="0056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652500" y="3467100"/>
            <a:ext cx="37592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−3,154 [−3,945; −2,481]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924300"/>
            <a:ext cx="50800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000" b="1" i="0">
                <a:solidFill>
                  <a:srgbClr val="00566C"/>
                </a:solidFill>
                <a:latin typeface="Arial"/>
              </a:rPr>
              <a:t>LightGBM</a:t>
            </a:r>
          </a:p>
        </p:txBody>
      </p:sp>
      <p:sp>
        <p:nvSpPr>
          <p:cNvPr id="21" name="IC 99,5 %"/>
          <p:cNvSpPr/>
          <p:nvPr/>
        </p:nvSpPr>
        <p:spPr>
          <a:xfrm>
            <a:off x="9265920" y="4108450"/>
            <a:ext cx="1973580" cy="635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IC 95 %"/>
          <p:cNvSpPr/>
          <p:nvPr/>
        </p:nvSpPr>
        <p:spPr>
          <a:xfrm>
            <a:off x="9560560" y="4038600"/>
            <a:ext cx="1428750" cy="203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Diferencia media"/>
          <p:cNvSpPr/>
          <p:nvPr/>
        </p:nvSpPr>
        <p:spPr>
          <a:xfrm>
            <a:off x="10187940" y="4038600"/>
            <a:ext cx="203200" cy="203200"/>
          </a:xfrm>
          <a:prstGeom prst="ellipse">
            <a:avLst/>
          </a:prstGeom>
          <a:solidFill>
            <a:srgbClr val="0056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652500" y="3924300"/>
            <a:ext cx="37592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−1,998 [−2,572; −1,447]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4381500"/>
            <a:ext cx="50800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000" b="1" i="0">
                <a:solidFill>
                  <a:srgbClr val="00566C"/>
                </a:solidFill>
                <a:latin typeface="Arial"/>
              </a:rPr>
              <a:t>MLP</a:t>
            </a:r>
          </a:p>
        </p:txBody>
      </p:sp>
      <p:sp>
        <p:nvSpPr>
          <p:cNvPr id="26" name="IC 99,5 %"/>
          <p:cNvSpPr/>
          <p:nvPr/>
        </p:nvSpPr>
        <p:spPr>
          <a:xfrm>
            <a:off x="9267190" y="4565650"/>
            <a:ext cx="2138680" cy="635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IC 95 %"/>
          <p:cNvSpPr/>
          <p:nvPr/>
        </p:nvSpPr>
        <p:spPr>
          <a:xfrm>
            <a:off x="9711690" y="4495800"/>
            <a:ext cx="1436370" cy="203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Diferencia media"/>
          <p:cNvSpPr/>
          <p:nvPr/>
        </p:nvSpPr>
        <p:spPr>
          <a:xfrm>
            <a:off x="10314940" y="4495800"/>
            <a:ext cx="203200" cy="203200"/>
          </a:xfrm>
          <a:prstGeom prst="ellipse">
            <a:avLst/>
          </a:prstGeom>
          <a:solidFill>
            <a:srgbClr val="0056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652500" y="4381500"/>
            <a:ext cx="37592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−1,898 [−2,453; −1,322]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4838700"/>
            <a:ext cx="50800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000" b="1" i="0">
                <a:solidFill>
                  <a:srgbClr val="00566C"/>
                </a:solidFill>
                <a:latin typeface="Arial"/>
              </a:rPr>
              <a:t>N-BEATS</a:t>
            </a:r>
          </a:p>
        </p:txBody>
      </p:sp>
      <p:sp>
        <p:nvSpPr>
          <p:cNvPr id="31" name="IC 99,5 %"/>
          <p:cNvSpPr/>
          <p:nvPr/>
        </p:nvSpPr>
        <p:spPr>
          <a:xfrm>
            <a:off x="10701020" y="5022850"/>
            <a:ext cx="1536700" cy="635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IC 95 %"/>
          <p:cNvSpPr/>
          <p:nvPr/>
        </p:nvSpPr>
        <p:spPr>
          <a:xfrm>
            <a:off x="10910570" y="4953000"/>
            <a:ext cx="1159510" cy="203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Diferencia media"/>
          <p:cNvSpPr/>
          <p:nvPr/>
        </p:nvSpPr>
        <p:spPr>
          <a:xfrm>
            <a:off x="11372850" y="4953000"/>
            <a:ext cx="203200" cy="203200"/>
          </a:xfrm>
          <a:prstGeom prst="ellipse">
            <a:avLst/>
          </a:prstGeom>
          <a:solidFill>
            <a:srgbClr val="0056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652500" y="4838700"/>
            <a:ext cx="37592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−1,065 [−1,509; −0,596]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300" y="5334000"/>
            <a:ext cx="889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1" i="0">
                <a:solidFill>
                  <a:srgbClr val="858591"/>
                </a:solidFill>
                <a:latin typeface="Arial"/>
              </a:rPr>
              <a:t>Entre modelos (4 comparaciones)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" y="5778500"/>
            <a:ext cx="50800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000" b="1" i="0">
                <a:solidFill>
                  <a:srgbClr val="00566C"/>
                </a:solidFill>
                <a:latin typeface="Arial"/>
              </a:rPr>
              <a:t>ETS vs SARIMA</a:t>
            </a:r>
          </a:p>
        </p:txBody>
      </p:sp>
      <p:sp>
        <p:nvSpPr>
          <p:cNvPr id="37" name="IC 99,5 %"/>
          <p:cNvSpPr/>
          <p:nvPr/>
        </p:nvSpPr>
        <p:spPr>
          <a:xfrm>
            <a:off x="11087100" y="5962650"/>
            <a:ext cx="1610360" cy="635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8" name="IC 95 %"/>
          <p:cNvSpPr/>
          <p:nvPr/>
        </p:nvSpPr>
        <p:spPr>
          <a:xfrm>
            <a:off x="11407140" y="5892800"/>
            <a:ext cx="1045210" cy="203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9" name="Diferencia media"/>
          <p:cNvSpPr/>
          <p:nvPr/>
        </p:nvSpPr>
        <p:spPr>
          <a:xfrm>
            <a:off x="11838940" y="5892800"/>
            <a:ext cx="203200" cy="203200"/>
          </a:xfrm>
          <a:prstGeom prst="ellipse">
            <a:avLst/>
          </a:prstGeom>
          <a:solidFill>
            <a:srgbClr val="0056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652500" y="5778500"/>
            <a:ext cx="37592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−0,698 [−1,118; −0,295]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6300" y="6235700"/>
            <a:ext cx="50800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000" b="1" i="0">
                <a:solidFill>
                  <a:srgbClr val="00566C"/>
                </a:solidFill>
                <a:latin typeface="Arial"/>
              </a:rPr>
              <a:t>ETS vs Holt-Winters</a:t>
            </a:r>
          </a:p>
        </p:txBody>
      </p:sp>
      <p:sp>
        <p:nvSpPr>
          <p:cNvPr id="42" name="IC 99,5 %"/>
          <p:cNvSpPr/>
          <p:nvPr/>
        </p:nvSpPr>
        <p:spPr>
          <a:xfrm>
            <a:off x="10425430" y="6419850"/>
            <a:ext cx="1830070" cy="635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3" name="IC 95 %"/>
          <p:cNvSpPr/>
          <p:nvPr/>
        </p:nvSpPr>
        <p:spPr>
          <a:xfrm>
            <a:off x="10736580" y="6350000"/>
            <a:ext cx="1234440" cy="203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4" name="Diferencia media"/>
          <p:cNvSpPr/>
          <p:nvPr/>
        </p:nvSpPr>
        <p:spPr>
          <a:xfrm>
            <a:off x="11294110" y="6350000"/>
            <a:ext cx="203200" cy="203200"/>
          </a:xfrm>
          <a:prstGeom prst="ellipse">
            <a:avLst/>
          </a:prstGeom>
          <a:solidFill>
            <a:srgbClr val="0056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652500" y="6235700"/>
            <a:ext cx="37592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−1,127 [−1,646; −0,674]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300" y="6692900"/>
            <a:ext cx="50800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000" b="1" i="0">
                <a:solidFill>
                  <a:srgbClr val="00566C"/>
                </a:solidFill>
                <a:latin typeface="Arial"/>
              </a:rPr>
              <a:t>ETS vs LightGBM</a:t>
            </a:r>
          </a:p>
        </p:txBody>
      </p:sp>
      <p:sp>
        <p:nvSpPr>
          <p:cNvPr id="47" name="IC 99,5 %"/>
          <p:cNvSpPr/>
          <p:nvPr/>
        </p:nvSpPr>
        <p:spPr>
          <a:xfrm>
            <a:off x="9271000" y="6877050"/>
            <a:ext cx="2147570" cy="635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8" name="IC 95 %"/>
          <p:cNvSpPr/>
          <p:nvPr/>
        </p:nvSpPr>
        <p:spPr>
          <a:xfrm>
            <a:off x="9754870" y="6807200"/>
            <a:ext cx="1356360" cy="203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9" name="Diferencia media"/>
          <p:cNvSpPr/>
          <p:nvPr/>
        </p:nvSpPr>
        <p:spPr>
          <a:xfrm>
            <a:off x="10370820" y="6807200"/>
            <a:ext cx="203200" cy="203200"/>
          </a:xfrm>
          <a:prstGeom prst="ellipse">
            <a:avLst/>
          </a:prstGeom>
          <a:solidFill>
            <a:srgbClr val="00566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3652500" y="6692900"/>
            <a:ext cx="37592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−1,854 [−2,419; −1,351]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6300" y="7150100"/>
            <a:ext cx="50800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000" b="1" i="0">
                <a:solidFill>
                  <a:srgbClr val="00566C"/>
                </a:solidFill>
                <a:latin typeface="Arial"/>
              </a:rPr>
              <a:t>SARIMA vs Holt-Winters</a:t>
            </a:r>
          </a:p>
        </p:txBody>
      </p:sp>
      <p:sp>
        <p:nvSpPr>
          <p:cNvPr id="52" name="IC 99,5 %"/>
          <p:cNvSpPr/>
          <p:nvPr/>
        </p:nvSpPr>
        <p:spPr>
          <a:xfrm>
            <a:off x="11418570" y="7334250"/>
            <a:ext cx="1845310" cy="63500"/>
          </a:xfrm>
          <a:prstGeom prst="rect">
            <a:avLst/>
          </a:prstGeom>
          <a:solidFill>
            <a:srgbClr val="C0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3" name="IC 95 %"/>
          <p:cNvSpPr/>
          <p:nvPr/>
        </p:nvSpPr>
        <p:spPr>
          <a:xfrm>
            <a:off x="11611610" y="7264400"/>
            <a:ext cx="1337310" cy="203200"/>
          </a:xfrm>
          <a:prstGeom prst="rect">
            <a:avLst/>
          </a:prstGeom>
          <a:solidFill>
            <a:srgbClr val="C0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4" name="Diferencia media"/>
          <p:cNvSpPr/>
          <p:nvPr/>
        </p:nvSpPr>
        <p:spPr>
          <a:xfrm>
            <a:off x="12180570" y="7264400"/>
            <a:ext cx="203200" cy="203200"/>
          </a:xfrm>
          <a:prstGeom prst="ellipse">
            <a:avLst/>
          </a:prstGeom>
          <a:solidFill>
            <a:srgbClr val="85859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3652500" y="7150100"/>
            <a:ext cx="37592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−0,429 [−0,957; 0,096]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77000" y="7620000"/>
            <a:ext cx="6985000" cy="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477000" y="7620000"/>
            <a:ext cx="0" cy="7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096000" y="7696200"/>
            <a:ext cx="7620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ctr"/>
            <a:r>
              <a:rPr sz="1600" b="0" i="0">
                <a:solidFill>
                  <a:srgbClr val="858591"/>
                </a:solidFill>
                <a:latin typeface="Arial"/>
              </a:rPr>
              <a:t>−5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747000" y="7620000"/>
            <a:ext cx="0" cy="7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366000" y="7696200"/>
            <a:ext cx="7620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ctr"/>
            <a:r>
              <a:rPr sz="1600" b="0" i="0">
                <a:solidFill>
                  <a:srgbClr val="858591"/>
                </a:solidFill>
                <a:latin typeface="Arial"/>
              </a:rPr>
              <a:t>−4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017000" y="7620000"/>
            <a:ext cx="0" cy="7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636000" y="7696200"/>
            <a:ext cx="7620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ctr"/>
            <a:r>
              <a:rPr sz="1600" b="0" i="0">
                <a:solidFill>
                  <a:srgbClr val="858591"/>
                </a:solidFill>
                <a:latin typeface="Arial"/>
              </a:rPr>
              <a:t>−3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287000" y="7620000"/>
            <a:ext cx="0" cy="7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906000" y="7696200"/>
            <a:ext cx="7620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ctr"/>
            <a:r>
              <a:rPr sz="1600" b="0" i="0">
                <a:solidFill>
                  <a:srgbClr val="858591"/>
                </a:solidFill>
                <a:latin typeface="Arial"/>
              </a:rPr>
              <a:t>−2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1557000" y="7620000"/>
            <a:ext cx="0" cy="7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1176000" y="7696200"/>
            <a:ext cx="7620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ctr"/>
            <a:r>
              <a:rPr sz="1600" b="0" i="0">
                <a:solidFill>
                  <a:srgbClr val="858591"/>
                </a:solidFill>
                <a:latin typeface="Arial"/>
              </a:rPr>
              <a:t>−1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2827000" y="7620000"/>
            <a:ext cx="0" cy="762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2446000" y="7696200"/>
            <a:ext cx="7620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ctr"/>
            <a:r>
              <a:rPr sz="1600" b="0" i="0">
                <a:solidFill>
                  <a:srgbClr val="858591"/>
                </a:solidFill>
                <a:latin typeface="Arial"/>
              </a:rPr>
              <a:t>0</a:t>
            </a:r>
          </a:p>
        </p:txBody>
      </p:sp>
      <p:cxnSp>
        <p:nvCxnSpPr>
          <p:cNvPr id="69" name="Cero"/>
          <p:cNvCxnSpPr/>
          <p:nvPr/>
        </p:nvCxnSpPr>
        <p:spPr>
          <a:xfrm>
            <a:off x="12827000" y="2514600"/>
            <a:ext cx="0" cy="5105400"/>
          </a:xfrm>
          <a:prstGeom prst="line">
            <a:avLst/>
          </a:prstGeom>
          <a:ln w="15875">
            <a:solidFill>
              <a:srgbClr val="8585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3335000" y="7696200"/>
            <a:ext cx="12700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600" b="0" i="0">
                <a:solidFill>
                  <a:srgbClr val="858591"/>
                </a:solidFill>
                <a:latin typeface="Arial"/>
              </a:rPr>
              <a:t>pp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6300" y="8229600"/>
            <a:ext cx="508000" cy="1778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473200" y="8153400"/>
            <a:ext cx="2413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IC al 95 %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91000" y="8267700"/>
            <a:ext cx="508000" cy="63500"/>
          </a:xfrm>
          <a:prstGeom prst="rect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787900" y="8153400"/>
            <a:ext cx="4064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IC al 99,5 % (Bonferroni)</a:t>
            </a:r>
          </a:p>
        </p:txBody>
      </p:sp>
      <p:sp>
        <p:nvSpPr>
          <p:cNvPr id="75" name="Oval 74"/>
          <p:cNvSpPr/>
          <p:nvPr/>
        </p:nvSpPr>
        <p:spPr>
          <a:xfrm>
            <a:off x="8890000" y="8216900"/>
            <a:ext cx="203200" cy="203200"/>
          </a:xfrm>
          <a:prstGeom prst="ellipse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94800" y="8153400"/>
            <a:ext cx="4191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Diferencia media (sMAPE, pp)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652500" y="8102600"/>
            <a:ext cx="3759200" cy="431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1" i="0">
                <a:solidFill>
                  <a:srgbClr val="00566C"/>
                </a:solidFill>
                <a:latin typeface="Arial"/>
              </a:rPr>
              <a:t>SARIMA vs Holt-Winters: no significativo</a:t>
            </a:r>
          </a:p>
        </p:txBody>
      </p:sp>
      <p:sp>
        <p:nvSpPr>
          <p:cNvPr id="78" name="Fuente"/>
          <p:cNvSpPr txBox="1"/>
          <p:nvPr/>
        </p:nvSpPr>
        <p:spPr>
          <a:xfrm>
            <a:off x="876300" y="87884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Tablas 22 y 23 (§5.3). Valores negativos = menor error que la referencia.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03 · Resultados</a:t>
            </a:r>
            <a:br/>
            <a:r>
              <a:rPr sz="3600" b="1">
                <a:solidFill>
                  <a:srgbClr val="00566C"/>
                </a:solidFill>
                <a:latin typeface="Arial"/>
              </a:rPr>
              <a:t>Ningún modelo alcanza el umbral de estabilidad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17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6300" y="2286000"/>
            <a:ext cx="10414000" cy="355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sMAPE medio por posición de fold · 173 series con cinco folds</a:t>
            </a:r>
          </a:p>
        </p:txBody>
      </p:sp>
      <p:graphicFrame>
        <p:nvGraphicFramePr>
          <p:cNvPr id="5" name="Gráfico líneas"/>
          <p:cNvGraphicFramePr>
            <a:graphicFrameLocks noGrp="1"/>
          </p:cNvGraphicFramePr>
          <p:nvPr/>
        </p:nvGraphicFramePr>
        <p:xfrm>
          <a:off x="762000" y="2641600"/>
          <a:ext cx="10668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11938000" y="2540000"/>
            <a:ext cx="101600" cy="14986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192000" y="2514600"/>
            <a:ext cx="52197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800" b="1" i="0">
                <a:solidFill>
                  <a:srgbClr val="00566C"/>
                </a:solidFill>
                <a:latin typeface="Arial"/>
              </a:rPr>
              <a:t>47,2–55,1 %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0" y="3200400"/>
            <a:ext cx="5219700" cy="8382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CV temporal medio por serie (7 modelos; 180 series con dos o más folds)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938000" y="4292600"/>
            <a:ext cx="101600" cy="14986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0" y="4267200"/>
            <a:ext cx="52197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800" b="1" i="0">
                <a:solidFill>
                  <a:srgbClr val="00566C"/>
                </a:solidFill>
                <a:latin typeface="Arial"/>
              </a:rPr>
              <a:t>84,4–90,6 %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0" y="4953000"/>
            <a:ext cx="5219700" cy="8382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de las series individuales presentan un CV superior al 25 %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38000" y="6045200"/>
            <a:ext cx="101600" cy="14986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192000" y="6019800"/>
            <a:ext cx="52197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800" b="1" i="0">
                <a:solidFill>
                  <a:srgbClr val="00566C"/>
                </a:solidFill>
                <a:latin typeface="Arial"/>
              </a:rPr>
              <a:t>0 de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0" y="6705600"/>
            <a:ext cx="5219700" cy="8382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modelos por debajo del umbral exploratorio CV &lt; 25 %</a:t>
            </a:r>
          </a:p>
        </p:txBody>
      </p:sp>
      <p:sp>
        <p:nvSpPr>
          <p:cNvPr id="15" name="Cautela barra"/>
          <p:cNvSpPr/>
          <p:nvPr/>
        </p:nvSpPr>
        <p:spPr>
          <a:xfrm>
            <a:off x="876300" y="7848600"/>
            <a:ext cx="101600" cy="7874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Cautela fondo"/>
          <p:cNvSpPr/>
          <p:nvPr/>
        </p:nvSpPr>
        <p:spPr>
          <a:xfrm>
            <a:off x="977900" y="7848600"/>
            <a:ext cx="16433800" cy="7874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1800" b="0" i="0">
                <a:solidFill>
                  <a:srgbClr val="00566C"/>
                </a:solidFill>
                <a:latin typeface="Arial"/>
              </a:rPr>
              <a:t>El error baja con folds más recientes (más historial en la ventana creciente), sin que ello fije una causa única. CV &lt; 25 % es un umbral exploratorio propio, no un estándar.</a:t>
            </a:r>
          </a:p>
        </p:txBody>
      </p:sp>
      <p:sp>
        <p:nvSpPr>
          <p:cNvPr id="17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Figura 2 y Tabla 20 (§5.3, §6.4).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03 · Resultados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ETS mantiene su ventaja en las series de mayor volumen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18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6300" y="2413000"/>
            <a:ext cx="101600" cy="18034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87600"/>
            <a:ext cx="3810000" cy="889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5200" b="1" i="0">
                <a:solidFill>
                  <a:srgbClr val="219BC3"/>
                </a:solidFill>
                <a:latin typeface="Arial"/>
              </a:rPr>
              <a:t>35,7 %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251200"/>
            <a:ext cx="3810000" cy="9652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del error absoluto total se concentra en D8–D10 (mayor volumen)</a:t>
            </a:r>
          </a:p>
        </p:txBody>
      </p:sp>
      <p:sp>
        <p:nvSpPr>
          <p:cNvPr id="7" name="Rectangle 6"/>
          <p:cNvSpPr/>
          <p:nvPr/>
        </p:nvSpPr>
        <p:spPr>
          <a:xfrm>
            <a:off x="876300" y="4546600"/>
            <a:ext cx="101600" cy="18034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4521200"/>
            <a:ext cx="3810000" cy="889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5200" b="1" i="0">
                <a:solidFill>
                  <a:srgbClr val="219BC3"/>
                </a:solidFill>
                <a:latin typeface="Arial"/>
              </a:rPr>
              <a:t>22,1 %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384800"/>
            <a:ext cx="3810000" cy="9652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del error absoluto total corresponde a D1–D3 (menor volumen)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0" y="2286000"/>
            <a:ext cx="12065000" cy="355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WAPE medio (%) por decil de volumen · menor es mejor</a:t>
            </a:r>
          </a:p>
        </p:txBody>
      </p:sp>
      <p:graphicFrame>
        <p:nvGraphicFramePr>
          <p:cNvPr id="11" name="Gráfico WAPE por decil"/>
          <p:cNvGraphicFramePr>
            <a:graphicFrameLocks noGrp="1"/>
          </p:cNvGraphicFramePr>
          <p:nvPr/>
        </p:nvGraphicFramePr>
        <p:xfrm>
          <a:off x="5207000" y="2590800"/>
          <a:ext cx="122047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5334000" y="7239000"/>
            <a:ext cx="101600" cy="5080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62600" y="7188200"/>
            <a:ext cx="11811000" cy="609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200" b="1" i="0">
                <a:solidFill>
                  <a:srgbClr val="00566C"/>
                </a:solidFill>
                <a:latin typeface="Arial"/>
              </a:rPr>
              <a:t>En D8–D10: </a:t>
            </a:r>
            <a:r>
              <a:rPr sz="2200" b="0" i="0">
                <a:solidFill>
                  <a:srgbClr val="00566C"/>
                </a:solidFill>
                <a:latin typeface="Arial"/>
              </a:rPr>
              <a:t>WAPE de ETS 7,7 % frente a 10,0 % del Seasonal Naïve (−22,9 %).</a:t>
            </a:r>
          </a:p>
        </p:txBody>
      </p:sp>
      <p:sp>
        <p:nvSpPr>
          <p:cNvPr id="14" name="Cautela barra"/>
          <p:cNvSpPr/>
          <p:nvPr/>
        </p:nvSpPr>
        <p:spPr>
          <a:xfrm>
            <a:off x="876300" y="7975600"/>
            <a:ext cx="101600" cy="6604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Cautela fondo"/>
          <p:cNvSpPr/>
          <p:nvPr/>
        </p:nvSpPr>
        <p:spPr>
          <a:xfrm>
            <a:off x="977900" y="7975600"/>
            <a:ext cx="16433800" cy="6604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1800" b="0" i="0">
                <a:solidFill>
                  <a:srgbClr val="00566C"/>
                </a:solidFill>
                <a:latin typeface="Arial"/>
              </a:rPr>
              <a:t>Deciles calculados con los primeros 54 meses de cada serie: aproximación a la materialidad, no una medición del impacto económico.</a:t>
            </a:r>
          </a:p>
        </p:txBody>
      </p:sp>
      <p:sp>
        <p:nvSpPr>
          <p:cNvPr id="16" name="Fuente"/>
          <p:cNvSpPr txBox="1"/>
          <p:nvPr/>
        </p:nvSpPr>
        <p:spPr>
          <a:xfrm>
            <a:off x="876300" y="87884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§5.4, §6.3 y Tabla 25 (Figura 3).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03 · Resultados</a:t>
            </a:r>
            <a:br/>
            <a:r>
              <a:rPr sz="3200" b="1">
                <a:solidFill>
                  <a:srgbClr val="00566C"/>
                </a:solidFill>
                <a:latin typeface="Arial"/>
              </a:rPr>
              <a:t>Se cumplen sMAPE, WAPE y significación; no MASE ni CV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19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4" name="Tabla cumplimiento"/>
          <p:cNvGraphicFramePr>
            <a:graphicFrameLocks noGrp="1"/>
          </p:cNvGraphicFramePr>
          <p:nvPr/>
        </p:nvGraphicFramePr>
        <p:xfrm>
          <a:off x="876300" y="2362200"/>
          <a:ext cx="16535400" cy="4851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Umbral predefinido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Resultado experimental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sMAPE global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0C0B0B"/>
                          </a:solidFill>
                          <a:latin typeface="Arial"/>
                        </a:rPr>
                        <a:t>Reducción ≥ 1 pp frente al baseline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0C0B0B"/>
                          </a:solidFill>
                          <a:latin typeface="Arial"/>
                        </a:rPr>
                        <a:t>Todos reducen ≥ 1,065 pp; ETS −3,852 pp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Cumplido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MASE global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0C0B0B"/>
                          </a:solidFill>
                          <a:latin typeface="Arial"/>
                        </a:rPr>
                        <a:t>MASE &lt; 1,0 por modelo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0C0B0B"/>
                          </a:solidFill>
                          <a:latin typeface="Arial"/>
                        </a:rPr>
                        <a:t>Mejor valor 1,017 (ETS); ninguno baja de 1,0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No cumplido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WAPE por volumen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0C0B0B"/>
                          </a:solidFill>
                          <a:latin typeface="Arial"/>
                        </a:rPr>
                        <a:t>No superar al baseline en D8–D10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0C0B0B"/>
                          </a:solidFill>
                          <a:latin typeface="Arial"/>
                        </a:rPr>
                        <a:t>ETS reduce el WAPE de D8–D10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Cumplido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Estabilidad temporal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0C0B0B"/>
                          </a:solidFill>
                          <a:latin typeface="Arial"/>
                        </a:rPr>
                        <a:t>CV del sMAPE &lt; 25 %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0C0B0B"/>
                          </a:solidFill>
                          <a:latin typeface="Arial"/>
                        </a:rPr>
                        <a:t>CV temporal por serie entre 47,2 % y 55,1 %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No cumplido (aspiracional)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Significación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0C0B0B"/>
                          </a:solidFill>
                          <a:latin typeface="Arial"/>
                        </a:rPr>
                        <a:t>IC bootstrap excluye el cero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>
                          <a:solidFill>
                            <a:srgbClr val="0C0B0B"/>
                          </a:solidFill>
                          <a:latin typeface="Arial"/>
                        </a:rPr>
                        <a:t>El IC al 95 % excluye el cero en los seis modelos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Cumplido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autela barra"/>
          <p:cNvSpPr/>
          <p:nvPr/>
        </p:nvSpPr>
        <p:spPr>
          <a:xfrm>
            <a:off x="876300" y="7594600"/>
            <a:ext cx="101600" cy="838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Cautela fondo"/>
          <p:cNvSpPr/>
          <p:nvPr/>
        </p:nvSpPr>
        <p:spPr>
          <a:xfrm>
            <a:off x="977900" y="7594600"/>
            <a:ext cx="16433800" cy="8382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1900" b="0" i="0">
                <a:solidFill>
                  <a:srgbClr val="00566C"/>
                </a:solidFill>
                <a:latin typeface="Arial"/>
              </a:rPr>
              <a:t>Consistencia en más del 60 % de folds: ETS 71,4 %, SARIMA 68,2 %, Holt-Winters 64,6 % y LightGBM 62,5 % la superan; N-BEATS 59,0 % y MLP 57,8 % no.</a:t>
            </a:r>
          </a:p>
        </p:txBody>
      </p:sp>
      <p:sp>
        <p:nvSpPr>
          <p:cNvPr id="7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 26 y §4.6.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04 · Interpretación</a:t>
            </a:r>
            <a:br/>
            <a:r>
              <a:rPr sz="3600" b="1">
                <a:solidFill>
                  <a:srgbClr val="00566C"/>
                </a:solidFill>
                <a:latin typeface="Arial"/>
              </a:rPr>
              <a:t>Más complejidad no implicó mejor precisión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20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6300" y="2286000"/>
            <a:ext cx="10668000" cy="3556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800" b="0" i="0">
                <a:solidFill>
                  <a:srgbClr val="858591"/>
                </a:solidFill>
                <a:latin typeface="Arial"/>
              </a:rPr>
              <a:t>sMAPE medio (%) · modelos ordenados por nivel de complejidad</a:t>
            </a:r>
          </a:p>
        </p:txBody>
      </p:sp>
      <p:graphicFrame>
        <p:nvGraphicFramePr>
          <p:cNvPr id="5" name="Gráfico complejidad"/>
          <p:cNvGraphicFramePr>
            <a:graphicFrameLocks noGrp="1"/>
          </p:cNvGraphicFramePr>
          <p:nvPr/>
        </p:nvGraphicFramePr>
        <p:xfrm>
          <a:off x="762000" y="2616200"/>
          <a:ext cx="107950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Oval 5"/>
          <p:cNvSpPr/>
          <p:nvPr/>
        </p:nvSpPr>
        <p:spPr>
          <a:xfrm>
            <a:off x="1016000" y="7696200"/>
            <a:ext cx="228600" cy="228600"/>
          </a:xfrm>
          <a:prstGeom prst="ellipse">
            <a:avLst/>
          </a:prstGeom>
          <a:solidFill>
            <a:srgbClr val="C0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46200" y="7594600"/>
            <a:ext cx="1651000" cy="406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Baseline</a:t>
            </a:r>
          </a:p>
        </p:txBody>
      </p:sp>
      <p:sp>
        <p:nvSpPr>
          <p:cNvPr id="8" name="Oval 7"/>
          <p:cNvSpPr/>
          <p:nvPr/>
        </p:nvSpPr>
        <p:spPr>
          <a:xfrm>
            <a:off x="3124200" y="7696200"/>
            <a:ext cx="228600" cy="228600"/>
          </a:xfrm>
          <a:prstGeom prst="ellipse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54400" y="7594600"/>
            <a:ext cx="3175000" cy="406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Estadístico clásico</a:t>
            </a:r>
          </a:p>
        </p:txBody>
      </p:sp>
      <p:sp>
        <p:nvSpPr>
          <p:cNvPr id="10" name="Oval 9"/>
          <p:cNvSpPr/>
          <p:nvPr/>
        </p:nvSpPr>
        <p:spPr>
          <a:xfrm>
            <a:off x="6756400" y="7696200"/>
            <a:ext cx="228600" cy="228600"/>
          </a:xfrm>
          <a:prstGeom prst="ellipse">
            <a:avLst/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86600" y="7594600"/>
            <a:ext cx="2032000" cy="4064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700" b="0" i="0">
                <a:solidFill>
                  <a:srgbClr val="858591"/>
                </a:solidFill>
                <a:latin typeface="Arial"/>
              </a:rPr>
              <a:t>ML / 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8000" y="2311400"/>
            <a:ext cx="5473700" cy="508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400" b="1" i="0">
                <a:solidFill>
                  <a:srgbClr val="00566C"/>
                </a:solidFill>
                <a:latin typeface="Arial"/>
              </a:rPr>
              <a:t>Cautelas del propio TFM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38000" y="2895600"/>
            <a:ext cx="5473700" cy="4572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marL="355600" indent="-355600" algn="l">
              <a:spcAft>
                <a:spcPts val="1200"/>
              </a:spcAft>
              <a:buClr>
                <a:srgbClr val="00566C"/>
              </a:buClr>
              <a:buFont typeface="Courier New" pitchFamily="49" charset="0"/>
              <a:buChar char="o"/>
            </a:pPr>
            <a:r>
              <a:rPr sz="2000" b="0" i="0">
                <a:solidFill>
                  <a:srgbClr val="858591"/>
                </a:solidFill>
                <a:latin typeface="Arial"/>
              </a:rPr>
              <a:t>Hiperparámetros de LightGBM, MLP y N-BEATS fijados manualmente.</a:t>
            </a:r>
          </a:p>
          <a:p>
            <a:pPr marL="355600" indent="-355600" algn="l">
              <a:spcAft>
                <a:spcPts val="1200"/>
              </a:spcAft>
              <a:buClr>
                <a:srgbClr val="00566C"/>
              </a:buClr>
              <a:buFont typeface="Courier New" pitchFamily="49" charset="0"/>
              <a:buChar char="o"/>
            </a:pPr>
            <a:r>
              <a:rPr sz="2000" b="0" i="0">
                <a:solidFill>
                  <a:srgbClr val="858591"/>
                </a:solidFill>
                <a:latin typeface="Arial"/>
              </a:rPr>
              <a:t>Entrenamiento en CPU con épocas limitadas (40 en MLP, 20 en N-BEATS).</a:t>
            </a:r>
          </a:p>
          <a:p>
            <a:pPr marL="355600" indent="-355600" algn="l">
              <a:spcAft>
                <a:spcPts val="1200"/>
              </a:spcAft>
              <a:buClr>
                <a:srgbClr val="00566C"/>
              </a:buClr>
              <a:buFont typeface="Courier New" pitchFamily="49" charset="0"/>
              <a:buChar char="o"/>
            </a:pPr>
            <a:r>
              <a:rPr sz="2000" b="0" i="0">
                <a:solidFill>
                  <a:srgbClr val="858591"/>
                </a:solidFill>
                <a:latin typeface="Arial"/>
              </a:rPr>
              <a:t>N-BEATS simplificado: 2 stacks de 3 bloques.</a:t>
            </a:r>
          </a:p>
          <a:p>
            <a:pPr marL="355600" indent="-355600" algn="l">
              <a:spcAft>
                <a:spcPts val="1200"/>
              </a:spcAft>
              <a:buClr>
                <a:srgbClr val="00566C"/>
              </a:buClr>
              <a:buFont typeface="Courier New" pitchFamily="49" charset="0"/>
              <a:buChar char="o"/>
            </a:pPr>
            <a:r>
              <a:rPr sz="2000" b="0" i="0">
                <a:solidFill>
                  <a:srgbClr val="858591"/>
                </a:solidFill>
                <a:latin typeface="Arial"/>
              </a:rPr>
              <a:t>Submuestra de 200 series heterogéneas.</a:t>
            </a:r>
          </a:p>
        </p:txBody>
      </p:sp>
      <p:sp>
        <p:nvSpPr>
          <p:cNvPr id="14" name="Mensaje"/>
          <p:cNvSpPr/>
          <p:nvPr/>
        </p:nvSpPr>
        <p:spPr>
          <a:xfrm>
            <a:off x="876300" y="8128000"/>
            <a:ext cx="16535400" cy="584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9400" tIns="25400" rIns="152400" bIns="25400" rtlCol="0" anchor="ctr">
            <a:no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No significa que los modelos simples siempre sean mejores ni que la complejidad sea inútil.</a:t>
            </a:r>
          </a:p>
        </p:txBody>
      </p:sp>
      <p:sp>
        <p:nvSpPr>
          <p:cNvPr id="15" name="Fuente"/>
          <p:cNvSpPr txBox="1"/>
          <p:nvPr/>
        </p:nvSpPr>
        <p:spPr>
          <a:xfrm>
            <a:off x="876300" y="88138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§6.1–6.2, Tabla 18 (medias: 10,662 % clásicos; 11,967 % ML/DL).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04 · Interpretación</a:t>
            </a:r>
            <a:br/>
            <a:r>
              <a:rPr sz="3600" b="1">
                <a:solidFill>
                  <a:srgbClr val="00566C"/>
                </a:solidFill>
                <a:latin typeface="Arial"/>
              </a:rPr>
              <a:t>El paradigma global no garantiza menor coste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21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4" name="Tabla coste computacional"/>
          <p:cNvGraphicFramePr>
            <a:graphicFrameLocks noGrp="1"/>
          </p:cNvGraphicFramePr>
          <p:nvPr/>
        </p:nvGraphicFramePr>
        <p:xfrm>
          <a:off x="876300" y="2336800"/>
          <a:ext cx="16535400" cy="457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2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Ajuste total (s)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Memoria pico (MB)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CPU medio (%)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CPU máx. (%)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Tamaño (KB)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Seasonal Naïve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&lt; 0,001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635,3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No registrado ¹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No registrado ¹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ETS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24,1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730,7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98,0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115,2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Holt-Winters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32,1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732,0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96,6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129,7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28,2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SARIMA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46,5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734,7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98,3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124,2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LightGBM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1,0 *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775,8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641,0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1.153,8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736,3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45,4 *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848,9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708,9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1.092,6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63,4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N-BEATS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80,8 *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859,0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837,7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1.091,4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i="0">
                          <a:solidFill>
                            <a:srgbClr val="00566C"/>
                          </a:solidFill>
                          <a:latin typeface="Arial"/>
                        </a:rPr>
                        <a:t>1.345,1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Cautela barra"/>
          <p:cNvSpPr/>
          <p:nvPr/>
        </p:nvSpPr>
        <p:spPr>
          <a:xfrm>
            <a:off x="876300" y="7112000"/>
            <a:ext cx="101600" cy="965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Cautela fondo"/>
          <p:cNvSpPr/>
          <p:nvPr/>
        </p:nvSpPr>
        <p:spPr>
          <a:xfrm>
            <a:off x="977900" y="7112000"/>
            <a:ext cx="16433800" cy="9652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1900" b="0" i="0">
                <a:solidFill>
                  <a:srgbClr val="00566C"/>
                </a:solidFill>
                <a:latin typeface="Arial"/>
              </a:rPr>
              <a:t>LightGBM es el más rápido de ajustar (1,0 s) pero usa mucha CPU en paralelo; N-BEATS es el más lento y pesado (80,8 s; 859 MB; 1.345 KB). La memoria incluye ≈ 635 MB de entorno base; 100 % de CPU = un núcleo lógico.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8178800"/>
            <a:ext cx="16535400" cy="5588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* Ajuste único sobre las 200 series (modelos globales).   ¹ No registrado: la ejecución terminó antes del primer intervalo de muestreo.   Mediciones sobre el mismo fold y equipo: Windows 11, Intel Core i7-1355U, 31,7 GB, sin GPU.</a:t>
            </a:r>
          </a:p>
        </p:txBody>
      </p:sp>
      <p:sp>
        <p:nvSpPr>
          <p:cNvPr id="8" name="Fuente"/>
          <p:cNvSpPr txBox="1"/>
          <p:nvPr/>
        </p:nvSpPr>
        <p:spPr>
          <a:xfrm>
            <a:off x="876300" y="88646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 27 (benchmark_timing.py) y §6.2.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04 · Interpretación</a:t>
            </a:r>
            <a:br/>
            <a:r>
              <a:rPr sz="3600" b="1">
                <a:solidFill>
                  <a:srgbClr val="00566C"/>
                </a:solidFill>
                <a:latin typeface="Arial"/>
              </a:rPr>
              <a:t>Propuesta preliminar de tres criterios, sin validar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22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Cabecera R1"/>
          <p:cNvSpPr/>
          <p:nvPr/>
        </p:nvSpPr>
        <p:spPr>
          <a:xfrm>
            <a:off x="876300" y="2387600"/>
            <a:ext cx="5334000" cy="6858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5400" rIns="101600" bIns="25400" rtlCol="0" anchor="ctr">
            <a:no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rial"/>
              </a:rPr>
              <a:t>R1 · Longitud de serie</a:t>
            </a:r>
          </a:p>
        </p:txBody>
      </p:sp>
      <p:sp>
        <p:nvSpPr>
          <p:cNvPr id="5" name="Cuerpo R1"/>
          <p:cNvSpPr/>
          <p:nvPr/>
        </p:nvSpPr>
        <p:spPr>
          <a:xfrm>
            <a:off x="876300" y="3073400"/>
            <a:ext cx="5334000" cy="37592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4100" y="3200400"/>
            <a:ext cx="49784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400" b="1" i="0">
                <a:solidFill>
                  <a:srgbClr val="858591"/>
                </a:solidFill>
                <a:latin typeface="Arial"/>
              </a:rPr>
              <a:t>CONDICIÓN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100" y="3505200"/>
            <a:ext cx="4978400" cy="9398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7000"/>
              </a:lnSpc>
            </a:pPr>
            <a:r>
              <a:rPr sz="2000" b="1" i="0">
                <a:solidFill>
                  <a:srgbClr val="00566C"/>
                </a:solidFill>
                <a:latin typeface="Arial"/>
              </a:rPr>
              <a:t>Series con menos de 120 observaciones (10 años mensuales).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100" y="4495800"/>
            <a:ext cx="49784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400" b="1" i="0">
                <a:solidFill>
                  <a:srgbClr val="858591"/>
                </a:solidFill>
                <a:latin typeface="Arial"/>
              </a:rPr>
              <a:t>RECOMENDACIÓN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100" y="4800600"/>
            <a:ext cx="4978400" cy="14986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7000"/>
              </a:lnSpc>
            </a:pPr>
            <a:r>
              <a:rPr sz="1900" b="0" i="0">
                <a:solidFill>
                  <a:srgbClr val="858591"/>
                </a:solidFill>
                <a:latin typeface="Arial"/>
              </a:rPr>
              <a:t>Comenzar la evaluación con ETS o Holt-Winters, sin descartar ML/DL si hay información transversal suficiente.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4100" y="6324600"/>
            <a:ext cx="3048000" cy="406400"/>
          </a:xfrm>
          <a:prstGeom prst="roundRect">
            <a:avLst>
              <a:gd name="adj" fmla="val 50000"/>
            </a:avLst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Confianza: baja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1100" y="2730500"/>
            <a:ext cx="165100" cy="0"/>
          </a:xfrm>
          <a:prstGeom prst="line">
            <a:avLst/>
          </a:prstGeom>
          <a:ln w="38100">
            <a:solidFill>
              <a:srgbClr val="8585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becera R2"/>
          <p:cNvSpPr/>
          <p:nvPr/>
        </p:nvSpPr>
        <p:spPr>
          <a:xfrm>
            <a:off x="6477000" y="2387600"/>
            <a:ext cx="5334000" cy="6858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5400" rIns="101600" bIns="25400" rtlCol="0" anchor="ctr">
            <a:no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rial"/>
              </a:rPr>
              <a:t>R2 · Volumen y criticidad</a:t>
            </a:r>
          </a:p>
        </p:txBody>
      </p:sp>
      <p:sp>
        <p:nvSpPr>
          <p:cNvPr id="13" name="Cuerpo R2"/>
          <p:cNvSpPr/>
          <p:nvPr/>
        </p:nvSpPr>
        <p:spPr>
          <a:xfrm>
            <a:off x="6477000" y="3073400"/>
            <a:ext cx="5334000" cy="37592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4800" y="3200400"/>
            <a:ext cx="49784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400" b="1" i="0">
                <a:solidFill>
                  <a:srgbClr val="858591"/>
                </a:solidFill>
                <a:latin typeface="Arial"/>
              </a:rPr>
              <a:t>CONDICIÓN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4800" y="3505200"/>
            <a:ext cx="4978400" cy="9398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7000"/>
              </a:lnSpc>
            </a:pPr>
            <a:r>
              <a:rPr sz="2000" b="1" i="0">
                <a:solidFill>
                  <a:srgbClr val="00566C"/>
                </a:solidFill>
                <a:latin typeface="Arial"/>
              </a:rPr>
              <a:t>Series en los deciles D8–D10 o de alta materialidad financiera.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4800" y="4495800"/>
            <a:ext cx="49784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400" b="1" i="0">
                <a:solidFill>
                  <a:srgbClr val="858591"/>
                </a:solidFill>
                <a:latin typeface="Arial"/>
              </a:rPr>
              <a:t>RECOMENDACIÓN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4800" y="4800600"/>
            <a:ext cx="4978400" cy="14986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7000"/>
              </a:lnSpc>
            </a:pPr>
            <a:r>
              <a:rPr sz="1900" b="0" i="0">
                <a:solidFill>
                  <a:srgbClr val="858591"/>
                </a:solidFill>
                <a:latin typeface="Arial"/>
              </a:rPr>
              <a:t>Priorizar la estabilidad temporal (CV-sMAPE) sobre la mínima media de error; orientación cualitativa.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4800" y="6324600"/>
            <a:ext cx="3048000" cy="406400"/>
          </a:xfrm>
          <a:prstGeom prst="roundRect">
            <a:avLst>
              <a:gd name="adj" fmla="val 50000"/>
            </a:avLst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Confianza: baja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61800" y="2730500"/>
            <a:ext cx="165100" cy="0"/>
          </a:xfrm>
          <a:prstGeom prst="line">
            <a:avLst/>
          </a:prstGeom>
          <a:ln w="38100">
            <a:solidFill>
              <a:srgbClr val="8585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becera R3"/>
          <p:cNvSpPr/>
          <p:nvPr/>
        </p:nvSpPr>
        <p:spPr>
          <a:xfrm>
            <a:off x="12077700" y="2387600"/>
            <a:ext cx="5334000" cy="6858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5400" rIns="101600" bIns="25400" rtlCol="0" anchor="ctr">
            <a:no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rial"/>
              </a:rPr>
              <a:t>R3 · Datos cross-series</a:t>
            </a:r>
          </a:p>
        </p:txBody>
      </p:sp>
      <p:sp>
        <p:nvSpPr>
          <p:cNvPr id="21" name="Cuerpo R3"/>
          <p:cNvSpPr/>
          <p:nvPr/>
        </p:nvSpPr>
        <p:spPr>
          <a:xfrm>
            <a:off x="12077700" y="3073400"/>
            <a:ext cx="5334000" cy="37592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255500" y="3200400"/>
            <a:ext cx="49784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400" b="1" i="0">
                <a:solidFill>
                  <a:srgbClr val="858591"/>
                </a:solidFill>
                <a:latin typeface="Arial"/>
              </a:rPr>
              <a:t>CONDICIÓN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5500" y="3505200"/>
            <a:ext cx="4978400" cy="9398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7000"/>
              </a:lnSpc>
            </a:pPr>
            <a:r>
              <a:rPr sz="2000" b="1" i="0">
                <a:solidFill>
                  <a:srgbClr val="00566C"/>
                </a:solidFill>
                <a:latin typeface="Arial"/>
              </a:rPr>
              <a:t>Colección heterogénea o sin garantía de patrones similares.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5500" y="4495800"/>
            <a:ext cx="4978400" cy="3048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400" b="1" i="0">
                <a:solidFill>
                  <a:srgbClr val="858591"/>
                </a:solidFill>
                <a:latin typeface="Arial"/>
              </a:rPr>
              <a:t>RECOMENDACIÓN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5500" y="4800600"/>
            <a:ext cx="4978400" cy="14986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7000"/>
              </a:lnSpc>
            </a:pPr>
            <a:r>
              <a:rPr sz="1900" b="0" i="0">
                <a:solidFill>
                  <a:srgbClr val="858591"/>
                </a:solidFill>
                <a:latin typeface="Arial"/>
              </a:rPr>
              <a:t>Global forecasting solo con una colección amplia y homogénea, determinada mediante validación interna; sin umbral numérico fijo.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55500" y="6324600"/>
            <a:ext cx="3048000" cy="406400"/>
          </a:xfrm>
          <a:prstGeom prst="roundRect">
            <a:avLst>
              <a:gd name="adj" fmla="val 50000"/>
            </a:avLst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Confianza: baja-media</a:t>
            </a:r>
          </a:p>
        </p:txBody>
      </p:sp>
      <p:sp>
        <p:nvSpPr>
          <p:cNvPr id="27" name="Sello"/>
          <p:cNvSpPr/>
          <p:nvPr/>
        </p:nvSpPr>
        <p:spPr>
          <a:xfrm>
            <a:off x="876300" y="7112000"/>
            <a:ext cx="16535400" cy="838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9400" tIns="25400" rIns="203200" bIns="25400" rtlCol="0" anchor="ctr">
            <a:no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Propuesta preliminar, no validada externamente.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El valor de 120 observaciones es una convención práctica, no derivada de una fuente específica; R2 es una orientación cualitativa.</a:t>
            </a:r>
          </a:p>
        </p:txBody>
      </p:sp>
      <p:sp>
        <p:nvSpPr>
          <p:cNvPr id="28" name="Fuente"/>
          <p:cNvSpPr txBox="1"/>
          <p:nvPr/>
        </p:nvSpPr>
        <p:spPr>
          <a:xfrm>
            <a:off x="876300" y="87884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Tablas 28 y 29, Figura 6 y §6.5 (aplicación secuencial R1 → R2 → R3).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05 · Cierre y conclusiones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Las conclusiones están condicionadas por sus límites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23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6300" y="2413000"/>
            <a:ext cx="4038600" cy="1143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219BC3"/>
                </a:solidFill>
                <a:latin typeface="Arial"/>
              </a:rPr>
              <a:t>Datos y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708400"/>
            <a:ext cx="4038600" cy="3556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marL="381000" indent="-381000" algn="l">
              <a:spcAft>
                <a:spcPts val="1800"/>
              </a:spcAft>
              <a:buClr>
                <a:srgbClr val="219BC3"/>
              </a:buClr>
              <a:buFont typeface="Courier New" pitchFamily="49" charset="0"/>
              <a:buChar char="o"/>
            </a:pPr>
            <a:r>
              <a:rPr sz="2200" b="0" i="0">
                <a:solidFill>
                  <a:srgbClr val="858591"/>
                </a:solidFill>
                <a:latin typeface="Arial"/>
              </a:rPr>
              <a:t>M4 Financial Monthly es un proxy: no equivale a cuentas P&amp;L corporativas.</a:t>
            </a:r>
          </a:p>
          <a:p>
            <a:pPr marL="381000" indent="-381000" algn="l">
              <a:spcAft>
                <a:spcPts val="1800"/>
              </a:spcAft>
              <a:buClr>
                <a:srgbClr val="219BC3"/>
              </a:buClr>
              <a:buFont typeface="Courier New" pitchFamily="49" charset="0"/>
              <a:buChar char="o"/>
            </a:pPr>
            <a:r>
              <a:rPr sz="2200" b="0" i="0">
                <a:solidFill>
                  <a:srgbClr val="858591"/>
                </a:solidFill>
                <a:latin typeface="Arial"/>
              </a:rPr>
              <a:t>N = 200 series (reducido desde 400) y una única frecuencia mensual.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1900" y="2413000"/>
            <a:ext cx="4038600" cy="1143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0566C"/>
                </a:solidFill>
                <a:latin typeface="Arial"/>
              </a:rPr>
              <a:t>Configuración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1900" y="3708400"/>
            <a:ext cx="4038600" cy="3556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marL="381000" indent="-381000" algn="l">
              <a:spcAft>
                <a:spcPts val="1800"/>
              </a:spcAft>
              <a:buClr>
                <a:srgbClr val="00566C"/>
              </a:buClr>
              <a:buFont typeface="Courier New" pitchFamily="49" charset="0"/>
              <a:buChar char="o"/>
            </a:pPr>
            <a:r>
              <a:rPr sz="2200" b="0" i="0">
                <a:solidFill>
                  <a:srgbClr val="858591"/>
                </a:solidFill>
                <a:latin typeface="Arial"/>
              </a:rPr>
              <a:t>Hiperparámetros ML/DL fijados manualmente frente a la búsqueda automática de AutoETS y AutoARIMA.</a:t>
            </a:r>
          </a:p>
          <a:p>
            <a:pPr marL="381000" indent="-381000" algn="l">
              <a:spcAft>
                <a:spcPts val="1800"/>
              </a:spcAft>
              <a:buClr>
                <a:srgbClr val="00566C"/>
              </a:buClr>
              <a:buFont typeface="Courier New" pitchFamily="49" charset="0"/>
              <a:buChar char="o"/>
            </a:pPr>
            <a:r>
              <a:rPr sz="2200" b="0" i="0">
                <a:solidFill>
                  <a:srgbClr val="858591"/>
                </a:solidFill>
                <a:latin typeface="Arial"/>
              </a:rPr>
              <a:t>Épocas limitadas por el entorno de CPU.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7500" y="2413000"/>
            <a:ext cx="4038600" cy="1143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219BC3"/>
                </a:solidFill>
                <a:latin typeface="Arial"/>
              </a:rPr>
              <a:t>Métricas y materialidad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7500" y="3708400"/>
            <a:ext cx="4038600" cy="3556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marL="381000" indent="-381000" algn="l">
              <a:spcAft>
                <a:spcPts val="1800"/>
              </a:spcAft>
              <a:buClr>
                <a:srgbClr val="219BC3"/>
              </a:buClr>
              <a:buFont typeface="Courier New" pitchFamily="49" charset="0"/>
              <a:buChar char="o"/>
            </a:pPr>
            <a:r>
              <a:rPr sz="2200" b="0" i="0">
                <a:solidFill>
                  <a:srgbClr val="858591"/>
                </a:solidFill>
                <a:latin typeface="Arial"/>
              </a:rPr>
              <a:t>MAE y RMSE promedian series de escalas distintas: son descriptivas.</a:t>
            </a:r>
          </a:p>
          <a:p>
            <a:pPr marL="381000" indent="-381000" algn="l">
              <a:spcAft>
                <a:spcPts val="1800"/>
              </a:spcAft>
              <a:buClr>
                <a:srgbClr val="219BC3"/>
              </a:buClr>
              <a:buFont typeface="Courier New" pitchFamily="49" charset="0"/>
              <a:buChar char="o"/>
            </a:pPr>
            <a:r>
              <a:rPr sz="2200" b="0" i="0">
                <a:solidFill>
                  <a:srgbClr val="858591"/>
                </a:solidFill>
                <a:latin typeface="Arial"/>
              </a:rPr>
              <a:t>WAPE y volumen aproximan la materialidad; no miden impacto económico.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73100" y="2413000"/>
            <a:ext cx="4038600" cy="11430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0566C"/>
                </a:solidFill>
                <a:latin typeface="Arial"/>
              </a:rPr>
              <a:t>Alcance y validación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73100" y="3708400"/>
            <a:ext cx="4038600" cy="3556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marL="381000" indent="-381000" algn="l">
              <a:spcAft>
                <a:spcPts val="1800"/>
              </a:spcAft>
              <a:buClr>
                <a:srgbClr val="00566C"/>
              </a:buClr>
              <a:buFont typeface="Courier New" pitchFamily="49" charset="0"/>
              <a:buChar char="o"/>
            </a:pPr>
            <a:r>
              <a:rPr sz="2200" b="0" i="0">
                <a:solidFill>
                  <a:srgbClr val="858591"/>
                </a:solidFill>
                <a:latin typeface="Arial"/>
              </a:rPr>
              <a:t>Sin variables exógenas ni intervalos de predicción.</a:t>
            </a:r>
          </a:p>
          <a:p>
            <a:pPr marL="381000" indent="-381000" algn="l">
              <a:spcAft>
                <a:spcPts val="1800"/>
              </a:spcAft>
              <a:buClr>
                <a:srgbClr val="00566C"/>
              </a:buClr>
              <a:buFont typeface="Courier New" pitchFamily="49" charset="0"/>
              <a:buChar char="o"/>
            </a:pPr>
            <a:r>
              <a:rPr sz="2200" b="0" i="0">
                <a:solidFill>
                  <a:srgbClr val="858591"/>
                </a:solidFill>
                <a:latin typeface="Arial"/>
              </a:rPr>
              <a:t>Sin validación con profesionales de FP&amp;A: el framework es preliminar.</a:t>
            </a:r>
          </a:p>
        </p:txBody>
      </p:sp>
      <p:sp>
        <p:nvSpPr>
          <p:cNvPr id="12" name="Cautela barra"/>
          <p:cNvSpPr/>
          <p:nvPr/>
        </p:nvSpPr>
        <p:spPr>
          <a:xfrm>
            <a:off x="876300" y="7569200"/>
            <a:ext cx="101600" cy="8890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Cautela fondo"/>
          <p:cNvSpPr/>
          <p:nvPr/>
        </p:nvSpPr>
        <p:spPr>
          <a:xfrm>
            <a:off x="977900" y="7569200"/>
            <a:ext cx="16433800" cy="889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1900" b="0" i="0">
                <a:solidFill>
                  <a:srgbClr val="00566C"/>
                </a:solidFill>
                <a:latin typeface="Arial"/>
              </a:rPr>
              <a:t>Además: el CV temporal excluye 20 series con un solo fold; la memoria se mide como RSS total (≈ 635 MB de base); la CPU de Seasonal Naïve no se registró.</a:t>
            </a:r>
          </a:p>
        </p:txBody>
      </p:sp>
      <p:sp>
        <p:nvSpPr>
          <p:cNvPr id="14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§6.6 y §4.2.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05 · Cierre y conclusiones</a:t>
            </a:r>
            <a:br/>
            <a:r>
              <a:rPr sz="3600" b="1">
                <a:solidFill>
                  <a:srgbClr val="00566C"/>
                </a:solidFill>
                <a:latin typeface="Arial"/>
              </a:rPr>
              <a:t>Cuatro objetivos alcanzados y uno parcialmente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24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6300" y="2438400"/>
            <a:ext cx="1143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800" b="1" i="0">
                <a:solidFill>
                  <a:srgbClr val="C0C0C8"/>
                </a:solidFill>
                <a:latin typeface="Arial"/>
              </a:rPr>
              <a:t>OE1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00" y="2438400"/>
            <a:ext cx="4572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00566C"/>
                </a:solidFill>
                <a:latin typeface="Arial"/>
              </a:rPr>
              <a:t>Estado del arte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5600" y="2540000"/>
            <a:ext cx="2032000" cy="508000"/>
          </a:xfrm>
          <a:prstGeom prst="roundRect">
            <a:avLst>
              <a:gd name="adj" fmla="val 50000"/>
            </a:avLst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Alcanzado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276600"/>
            <a:ext cx="1143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800" b="1" i="0">
                <a:solidFill>
                  <a:srgbClr val="C0C0C8"/>
                </a:solidFill>
                <a:latin typeface="Arial"/>
              </a:rPr>
              <a:t>OE2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2000" y="3276600"/>
            <a:ext cx="4572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00566C"/>
                </a:solidFill>
                <a:latin typeface="Arial"/>
              </a:rPr>
              <a:t>Pipeline modular y reproducible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5600" y="3378200"/>
            <a:ext cx="2032000" cy="508000"/>
          </a:xfrm>
          <a:prstGeom prst="roundRect">
            <a:avLst>
              <a:gd name="adj" fmla="val 50000"/>
            </a:avLst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Alcanzado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114800"/>
            <a:ext cx="1143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800" b="1" i="0">
                <a:solidFill>
                  <a:srgbClr val="C0C0C8"/>
                </a:solidFill>
                <a:latin typeface="Arial"/>
              </a:rPr>
              <a:t>OE3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0" y="4114800"/>
            <a:ext cx="4572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00566C"/>
                </a:solidFill>
                <a:latin typeface="Arial"/>
              </a:rPr>
              <a:t>Walk-forward sin fuga de datos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5600" y="4216400"/>
            <a:ext cx="2032000" cy="508000"/>
          </a:xfrm>
          <a:prstGeom prst="roundRect">
            <a:avLst>
              <a:gd name="adj" fmla="val 50000"/>
            </a:avLst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Alcanzado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953000"/>
            <a:ext cx="1143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800" b="1" i="0">
                <a:solidFill>
                  <a:srgbClr val="C0C0C8"/>
                </a:solidFill>
                <a:latin typeface="Arial"/>
              </a:rPr>
              <a:t>OE4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2000" y="4953000"/>
            <a:ext cx="4572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00566C"/>
                </a:solidFill>
                <a:latin typeface="Arial"/>
              </a:rPr>
              <a:t>Evaluación con seis métricas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05600" y="5054600"/>
            <a:ext cx="2032000" cy="508000"/>
          </a:xfrm>
          <a:prstGeom prst="roundRect">
            <a:avLst>
              <a:gd name="adj" fmla="val 50000"/>
            </a:avLst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Alcanzado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5791200"/>
            <a:ext cx="1143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800" b="1" i="0">
                <a:solidFill>
                  <a:srgbClr val="C0C0C8"/>
                </a:solidFill>
                <a:latin typeface="Arial"/>
              </a:rPr>
              <a:t>OE5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2000" y="5791200"/>
            <a:ext cx="4572000" cy="711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00566C"/>
                </a:solidFill>
                <a:latin typeface="Arial"/>
              </a:rPr>
              <a:t>Criterios heurísticos preliminares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5600" y="5892800"/>
            <a:ext cx="2946400" cy="508000"/>
          </a:xfrm>
          <a:prstGeom prst="roundRect">
            <a:avLst>
              <a:gd name="adj" fmla="val 50000"/>
            </a:avLst>
          </a:prstGeom>
          <a:solidFill>
            <a:srgbClr val="858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Parcialmente alcanzado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60000" y="2489200"/>
            <a:ext cx="0" cy="4114800"/>
          </a:xfrm>
          <a:prstGeom prst="line">
            <a:avLst/>
          </a:prstGeom>
          <a:ln w="19050">
            <a:solidFill>
              <a:srgbClr val="C0C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490200" y="2438400"/>
            <a:ext cx="1143000" cy="7112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3400" b="1" i="0">
                <a:solidFill>
                  <a:srgbClr val="219BC3"/>
                </a:solidFill>
                <a:latin typeface="Arial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0" y="2438400"/>
            <a:ext cx="5854700" cy="14986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7000"/>
              </a:lnSpc>
            </a:pPr>
            <a:r>
              <a:rPr sz="2200" b="0" i="0">
                <a:solidFill>
                  <a:srgbClr val="00566C"/>
                </a:solidFill>
                <a:latin typeface="Arial"/>
              </a:rPr>
              <a:t>Se cumplen los objetivos OE1–OE4; OE5 es una propuesta preliminar.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90200" y="3860800"/>
            <a:ext cx="1143000" cy="7112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3400" b="1" i="0">
                <a:solidFill>
                  <a:srgbClr val="219BC3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0" y="3860800"/>
            <a:ext cx="5854700" cy="14986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7000"/>
              </a:lnSpc>
            </a:pPr>
            <a:r>
              <a:rPr sz="2200" b="0" i="0">
                <a:solidFill>
                  <a:srgbClr val="00566C"/>
                </a:solidFill>
                <a:latin typeface="Arial"/>
              </a:rPr>
              <a:t>Bajo estas condiciones, ETS (10,0 % frente a 13,7 %) y los estadísticos clásicos lideran; ningún modelo alcanza la estabilidad exploratoria.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90200" y="5283200"/>
            <a:ext cx="1143000" cy="7112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3400" b="1" i="0">
                <a:solidFill>
                  <a:srgbClr val="219BC3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0" y="5283200"/>
            <a:ext cx="5854700" cy="14986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97000"/>
              </a:lnSpc>
            </a:pPr>
            <a:r>
              <a:rPr sz="2200" b="0" i="0">
                <a:solidFill>
                  <a:srgbClr val="00566C"/>
                </a:solidFill>
                <a:latin typeface="Arial"/>
              </a:rPr>
              <a:t>No implica que lo simple siempre gane ni que la complejidad sea inútil: falta validar con datos corporativos.</a:t>
            </a:r>
          </a:p>
        </p:txBody>
      </p:sp>
      <p:sp>
        <p:nvSpPr>
          <p:cNvPr id="26" name="Cautela barra"/>
          <p:cNvSpPr/>
          <p:nvPr/>
        </p:nvSpPr>
        <p:spPr>
          <a:xfrm>
            <a:off x="876300" y="7188200"/>
            <a:ext cx="101600" cy="838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Cautela fondo"/>
          <p:cNvSpPr/>
          <p:nvPr/>
        </p:nvSpPr>
        <p:spPr>
          <a:xfrm>
            <a:off x="977900" y="7188200"/>
            <a:ext cx="16433800" cy="8382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2000" b="0" i="0">
                <a:solidFill>
                  <a:srgbClr val="00566C"/>
                </a:solidFill>
                <a:latin typeface="Arial"/>
              </a:rPr>
              <a:t>Conclusiones condicionadas a M4 Financial Monthly, N = 200, la configuración de modelos y las condiciones experimentales del estudio.</a:t>
            </a:r>
          </a:p>
        </p:txBody>
      </p:sp>
      <p:sp>
        <p:nvSpPr>
          <p:cNvPr id="28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§7.1 y Tabla 30.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05 · Cierre y conclusiones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Primero validar el framework, después ampliar la técnica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25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Cab imprescindibles"/>
          <p:cNvSpPr/>
          <p:nvPr/>
        </p:nvSpPr>
        <p:spPr>
          <a:xfrm>
            <a:off x="876300" y="2413000"/>
            <a:ext cx="8128000" cy="7112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tIns="25400" rIns="101600" bIns="25400" rtlCol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Imprescindibles para validar el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429000"/>
            <a:ext cx="7874000" cy="3810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marL="457200" indent="-457200" algn="l">
              <a:spcAft>
                <a:spcPts val="3000"/>
              </a:spcAft>
              <a:buClr>
                <a:srgbClr val="00566C"/>
              </a:buClr>
              <a:buFont typeface="Wingdings" pitchFamily="2" charset="2"/>
              <a:buChar char="ü"/>
            </a:pPr>
            <a:r>
              <a:rPr sz="2600" b="0" i="0">
                <a:solidFill>
                  <a:srgbClr val="858591"/>
                </a:solidFill>
                <a:latin typeface="Arial"/>
              </a:rPr>
              <a:t>Validación longitudinal en una organización real.</a:t>
            </a:r>
          </a:p>
          <a:p>
            <a:pPr marL="457200" indent="-457200" algn="l">
              <a:spcAft>
                <a:spcPts val="3000"/>
              </a:spcAft>
              <a:buClr>
                <a:srgbClr val="00566C"/>
              </a:buClr>
              <a:buFont typeface="Wingdings" pitchFamily="2" charset="2"/>
              <a:buChar char="ü"/>
            </a:pPr>
            <a:r>
              <a:rPr sz="2600" b="0" i="0">
                <a:solidFill>
                  <a:srgbClr val="858591"/>
                </a:solidFill>
                <a:latin typeface="Arial"/>
              </a:rPr>
              <a:t>Panel de expertos de FP&amp;A.</a:t>
            </a:r>
          </a:p>
          <a:p>
            <a:pPr marL="457200" indent="-457200" algn="l">
              <a:spcAft>
                <a:spcPts val="3000"/>
              </a:spcAft>
              <a:buClr>
                <a:srgbClr val="00566C"/>
              </a:buClr>
              <a:buFont typeface="Wingdings" pitchFamily="2" charset="2"/>
              <a:buChar char="ü"/>
            </a:pPr>
            <a:r>
              <a:rPr sz="2600" b="0" i="0">
                <a:solidFill>
                  <a:srgbClr val="858591"/>
                </a:solidFill>
                <a:latin typeface="Arial"/>
              </a:rPr>
              <a:t>Viabilidad económica y costes de implantación.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94800" y="2768600"/>
            <a:ext cx="355600" cy="0"/>
          </a:xfrm>
          <a:prstGeom prst="line">
            <a:avLst/>
          </a:prstGeom>
          <a:ln w="50800">
            <a:solidFill>
              <a:srgbClr val="8585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b ampliaciones"/>
          <p:cNvSpPr/>
          <p:nvPr/>
        </p:nvSpPr>
        <p:spPr>
          <a:xfrm>
            <a:off x="9740900" y="2413000"/>
            <a:ext cx="7670800" cy="711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tIns="25400" rIns="101600" bIns="25400" rtlCol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Ampliaciones técnicas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80600" y="3429000"/>
            <a:ext cx="7429500" cy="4572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marL="431800" indent="-431800" algn="l">
              <a:spcAft>
                <a:spcPts val="1600"/>
              </a:spcAft>
              <a:buClr>
                <a:srgbClr val="219BC3"/>
              </a:buClr>
              <a:buFont typeface="Wingdings" pitchFamily="2" charset="2"/>
              <a:buChar char="ü"/>
            </a:pPr>
            <a:r>
              <a:rPr sz="2300" b="0" i="0">
                <a:solidFill>
                  <a:srgbClr val="858591"/>
                </a:solidFill>
                <a:latin typeface="Arial"/>
              </a:rPr>
              <a:t>Ensamblado y selección dinámica por serie.</a:t>
            </a:r>
          </a:p>
          <a:p>
            <a:pPr marL="431800" indent="-431800" algn="l">
              <a:spcAft>
                <a:spcPts val="1600"/>
              </a:spcAft>
              <a:buClr>
                <a:srgbClr val="219BC3"/>
              </a:buClr>
              <a:buFont typeface="Wingdings" pitchFamily="2" charset="2"/>
              <a:buChar char="ü"/>
            </a:pPr>
            <a:r>
              <a:rPr sz="2300" b="0" i="0">
                <a:solidFill>
                  <a:srgbClr val="858591"/>
                </a:solidFill>
                <a:latin typeface="Arial"/>
              </a:rPr>
              <a:t>Modelos fundacionales especializados (Chronos, FinCast).</a:t>
            </a:r>
          </a:p>
          <a:p>
            <a:pPr marL="431800" indent="-431800" algn="l">
              <a:spcAft>
                <a:spcPts val="1600"/>
              </a:spcAft>
              <a:buClr>
                <a:srgbClr val="219BC3"/>
              </a:buClr>
              <a:buFont typeface="Wingdings" pitchFamily="2" charset="2"/>
              <a:buChar char="ü"/>
            </a:pPr>
            <a:r>
              <a:rPr sz="2300" b="0" i="0">
                <a:solidFill>
                  <a:srgbClr val="858591"/>
                </a:solidFill>
                <a:latin typeface="Arial"/>
              </a:rPr>
              <a:t>Optimización bayesiana de hiperparámetros con validación temporal.</a:t>
            </a:r>
          </a:p>
          <a:p>
            <a:pPr marL="431800" indent="-431800" algn="l">
              <a:spcAft>
                <a:spcPts val="1600"/>
              </a:spcAft>
              <a:buClr>
                <a:srgbClr val="219BC3"/>
              </a:buClr>
              <a:buFont typeface="Wingdings" pitchFamily="2" charset="2"/>
              <a:buChar char="ü"/>
            </a:pPr>
            <a:r>
              <a:rPr sz="2300" b="0" i="0">
                <a:solidFill>
                  <a:srgbClr val="858591"/>
                </a:solidFill>
                <a:latin typeface="Arial"/>
              </a:rPr>
              <a:t>Análisis por horizontes múltiples.</a:t>
            </a:r>
          </a:p>
          <a:p>
            <a:pPr marL="431800" indent="-431800" algn="l">
              <a:spcAft>
                <a:spcPts val="1600"/>
              </a:spcAft>
              <a:buClr>
                <a:srgbClr val="219BC3"/>
              </a:buClr>
              <a:buFont typeface="Wingdings" pitchFamily="2" charset="2"/>
              <a:buChar char="ü"/>
            </a:pPr>
            <a:r>
              <a:rPr sz="2300" b="0" i="0">
                <a:solidFill>
                  <a:srgbClr val="858591"/>
                </a:solidFill>
                <a:latin typeface="Arial"/>
              </a:rPr>
              <a:t>Variables exógenas.</a:t>
            </a:r>
          </a:p>
        </p:txBody>
      </p:sp>
      <p:sp>
        <p:nvSpPr>
          <p:cNvPr id="9" name="Cautela barra"/>
          <p:cNvSpPr/>
          <p:nvPr/>
        </p:nvSpPr>
        <p:spPr>
          <a:xfrm>
            <a:off x="876300" y="7670800"/>
            <a:ext cx="101600" cy="838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Cautela fondo"/>
          <p:cNvSpPr/>
          <p:nvPr/>
        </p:nvSpPr>
        <p:spPr>
          <a:xfrm>
            <a:off x="977900" y="7670800"/>
            <a:ext cx="16433800" cy="8382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50800" rIns="152400" bIns="50800" rtlCol="0" anchor="ctr">
            <a:noAutofit/>
          </a:bodyPr>
          <a:lstStyle/>
          <a:p>
            <a:pPr algn="l"/>
            <a:r>
              <a:rPr sz="2000" b="0" i="0">
                <a:solidFill>
                  <a:srgbClr val="00566C"/>
                </a:solidFill>
                <a:latin typeface="Arial"/>
              </a:rPr>
              <a:t>El marco requiere validación externa empírica con profesionales del sector antes de guiar decisiones de inversión tecnológica corporativa.</a:t>
            </a:r>
          </a:p>
        </p:txBody>
      </p:sp>
      <p:sp>
        <p:nvSpPr>
          <p:cNvPr id="11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§7.1–7.2.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81D45A3-EC4A-A37A-5AEE-032B77B5E00B}"/>
              </a:ext>
            </a:extLst>
          </p:cNvPr>
          <p:cNvSpPr txBox="1"/>
          <p:nvPr/>
        </p:nvSpPr>
        <p:spPr>
          <a:xfrm>
            <a:off x="5591175" y="4589463"/>
            <a:ext cx="7105650" cy="1108075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600" b="1" dirty="0">
                <a:solidFill>
                  <a:schemeClr val="accent1"/>
                </a:solidFill>
                <a:latin typeface="Arial" panose="020B06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muchas </a:t>
            </a:r>
            <a:r>
              <a:rPr lang="es-ES_tradnl" sz="6600" b="1" dirty="0">
                <a:solidFill>
                  <a:schemeClr val="accent5"/>
                </a:solidFill>
                <a:latin typeface="Arial" panose="020B06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gracias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C9FBAA1-19DE-441E-3CEC-A8594A92FE09}"/>
              </a:ext>
            </a:extLst>
          </p:cNvPr>
          <p:cNvGrpSpPr>
            <a:grpSpLocks/>
          </p:cNvGrpSpPr>
          <p:nvPr/>
        </p:nvGrpSpPr>
        <p:grpSpPr bwMode="auto">
          <a:xfrm>
            <a:off x="5510213" y="4457700"/>
            <a:ext cx="685800" cy="685800"/>
            <a:chOff x="6324600" y="4114799"/>
            <a:chExt cx="685800" cy="685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E930494-A2B9-7D76-08E3-4167D78CB259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EA9A307-6748-8638-171A-23EABF6A43B4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84BDCE5-295D-D153-760F-AE1C52B223AB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2011025" y="5143500"/>
            <a:ext cx="685800" cy="685800"/>
            <a:chOff x="6324600" y="4114799"/>
            <a:chExt cx="685800" cy="6858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55F58A-8FC1-55AE-2BD5-906773575944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1999311-480E-E528-DCF1-A8E5DEA258C0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Apoyo · Para preguntas</a:t>
            </a:r>
            <a:br/>
            <a:r>
              <a:rPr sz="3600" b="1">
                <a:solidFill>
                  <a:srgbClr val="00566C"/>
                </a:solidFill>
                <a:latin typeface="Arial"/>
              </a:rPr>
              <a:t>Hiperparámetros efectivamente utilizados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27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Cab LightGBM"/>
          <p:cNvSpPr/>
          <p:nvPr/>
        </p:nvSpPr>
        <p:spPr>
          <a:xfrm>
            <a:off x="876300" y="2362200"/>
            <a:ext cx="5334000" cy="584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5400" rIns="101600" bIns="25400" rtlCol="0" anchor="ctr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LightGBM</a:t>
            </a:r>
          </a:p>
        </p:txBody>
      </p:sp>
      <p:sp>
        <p:nvSpPr>
          <p:cNvPr id="5" name="Cuerpo LightGBM"/>
          <p:cNvSpPr/>
          <p:nvPr/>
        </p:nvSpPr>
        <p:spPr>
          <a:xfrm>
            <a:off x="876300" y="2946400"/>
            <a:ext cx="5334000" cy="5334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762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n_estimators: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300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learning_rate: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0,05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max_depth: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6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num_leaves: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31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feature_fraction: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0,8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bagging_fraction: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0,8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bagging_freq: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5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Rezagos: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36 meses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Predicción: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recursiva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Pérdida: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MAE</a:t>
            </a:r>
          </a:p>
        </p:txBody>
      </p:sp>
      <p:sp>
        <p:nvSpPr>
          <p:cNvPr id="6" name="Cab MLP Bottleneck"/>
          <p:cNvSpPr/>
          <p:nvPr/>
        </p:nvSpPr>
        <p:spPr>
          <a:xfrm>
            <a:off x="6477000" y="2362200"/>
            <a:ext cx="5334000" cy="584200"/>
          </a:xfrm>
          <a:prstGeom prst="rect">
            <a:avLst/>
          </a:prstGeom>
          <a:solidFill>
            <a:srgbClr val="005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5400" rIns="101600" bIns="25400" rtlCol="0" anchor="ctr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MLP Bottleneck</a:t>
            </a:r>
          </a:p>
        </p:txBody>
      </p:sp>
      <p:sp>
        <p:nvSpPr>
          <p:cNvPr id="7" name="Cuerpo MLP Bottleneck"/>
          <p:cNvSpPr/>
          <p:nvPr/>
        </p:nvSpPr>
        <p:spPr>
          <a:xfrm>
            <a:off x="6477000" y="2946400"/>
            <a:ext cx="5334000" cy="5334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762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Arquitectura: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128 → 64 neuronas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Activación: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ReLU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Dropout: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0,2 (tras la 1.ª capa)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Normalización: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BatchNorm1d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Tasa de aprendizaje: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0,002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Optimizador: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AdamW (wd = 1×10⁻³)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Programador: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StepLR (10; 0,5)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Épocas: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40, sin early stopping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Tamaño de lote: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256</a:t>
            </a:r>
          </a:p>
        </p:txBody>
      </p:sp>
      <p:sp>
        <p:nvSpPr>
          <p:cNvPr id="8" name="Cab N-BEATS Interpretable"/>
          <p:cNvSpPr/>
          <p:nvPr/>
        </p:nvSpPr>
        <p:spPr>
          <a:xfrm>
            <a:off x="12077700" y="2362200"/>
            <a:ext cx="5334000" cy="5842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5400" rIns="101600" bIns="25400" rtlCol="0" anchor="ctr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N-BEATS Interpretable</a:t>
            </a:r>
          </a:p>
        </p:txBody>
      </p:sp>
      <p:sp>
        <p:nvSpPr>
          <p:cNvPr id="9" name="Cuerpo N-BEATS Interpretable"/>
          <p:cNvSpPr/>
          <p:nvPr/>
        </p:nvSpPr>
        <p:spPr>
          <a:xfrm>
            <a:off x="12077700" y="2946400"/>
            <a:ext cx="5334000" cy="5334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762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Stacks: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tendencia (grado 3) + estacionalidad (6 armónicos)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Bloques por stack: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Capas por bloque: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Ancho de capa: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128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Lookback: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36 meses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Horizonte: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18 meses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Optimizador: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Adam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Pérdida: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MAE (L1)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Tasa de aprendizaje: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0,001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Épocas: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20, sin early stopping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566C"/>
                </a:solidFill>
                <a:latin typeface="Arial"/>
              </a:rPr>
              <a:t>Tamaño de lote: </a:t>
            </a:r>
            <a:r>
              <a:rPr sz="2000" b="0" i="0">
                <a:solidFill>
                  <a:srgbClr val="858591"/>
                </a:solidFill>
                <a:latin typeface="Arial"/>
              </a:rPr>
              <a:t>256</a:t>
            </a:r>
          </a:p>
        </p:txBody>
      </p:sp>
      <p:sp>
        <p:nvSpPr>
          <p:cNvPr id="10" name="Fuente"/>
          <p:cNvSpPr txBox="1"/>
          <p:nvPr/>
        </p:nvSpPr>
        <p:spPr>
          <a:xfrm>
            <a:off x="876300" y="87630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 13 (src/models/ml.py). Los modelos estadísticos usan selección automática por AICc.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Apoyo · Para preguntas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Bonferroni: diez comparaciones pareadas (IC 99,5 %)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28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4" name="Tabla Bonferroni"/>
          <p:cNvGraphicFramePr>
            <a:graphicFrameLocks noGrp="1"/>
          </p:cNvGraphicFramePr>
          <p:nvPr/>
        </p:nvGraphicFramePr>
        <p:xfrm>
          <a:off x="876300" y="2336800"/>
          <a:ext cx="16535400" cy="5943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1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Comparación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Diferencia (pp)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IC 99,5 % ajustado (pp)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Significativo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ETS vs Seasonal Naïve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−3,852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−4,862; −3,100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Holt-Winters vs Seasonal Naïve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−2,725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−3,910; −1,827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SARIMA vs Seasonal Naïve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−3,154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−4,329; −2,218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LightGBM vs Seasonal Naïve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−1,998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−2,804; −1,250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MLP vs Seasonal Naïve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−1,898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−2,803; −1,119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N-BEATS vs Seasonal Naïve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−1,065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−1,674; −0,464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ETS vs SARIMA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−0,698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−1,370; −0,102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ETS vs Holt-Winters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−1,127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−1,891; −0,450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ETS vs LightGBM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−1,854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−2,800; −1,109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SARIMA vs Holt-Winters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−0,429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−1,109; 0,344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Fuente"/>
          <p:cNvSpPr txBox="1"/>
          <p:nvPr/>
        </p:nvSpPr>
        <p:spPr>
          <a:xfrm>
            <a:off x="876300" y="84582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 23. Percentil bootstrap, B = 1.000, SEED = 42; α ajustado = 0,05/10 = 0,005. Diferencia = sMAPE(primer modelo) − sMAPE(referencia).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Apoyo · Para preguntas</a:t>
            </a:r>
            <a:br/>
            <a:r>
              <a:rPr sz="3400" b="1">
                <a:solidFill>
                  <a:srgbClr val="00566C"/>
                </a:solidFill>
                <a:latin typeface="Arial"/>
              </a:rPr>
              <a:t>WAPE medio por decil de volumen y modelo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29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4" name="Tabla WAPE por decil"/>
          <p:cNvGraphicFramePr>
            <a:graphicFrameLocks noGrp="1"/>
          </p:cNvGraphicFramePr>
          <p:nvPr/>
        </p:nvGraphicFramePr>
        <p:xfrm>
          <a:off x="876300" y="2336800"/>
          <a:ext cx="16532860" cy="5816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Decil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Seasonal Naïve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ETS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Holt-Winters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SARIMA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LightGBM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N-BEATS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D1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20,0 %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14,6 %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17,7 %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15,9 %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15,8 %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16,1 %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17,4 %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D2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13,3 %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8,7 %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9,9 %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9,4 %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11,4 %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11,3 %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10,9 %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D3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10,2 %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7,6 %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8,7 %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7,5 %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8,8 %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8,7 %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9,0 %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D4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17,2 %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12,9 %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14,5 %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14,1 %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14,7 %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14,4 %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15,0 %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D5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17,8 %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13,3 %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14,9 %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14,3 %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15,1 %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15,2 %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16,3 %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D6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16,5 %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12,6 %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14,7 %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13,7 %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13,9 %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14,2 %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15,2 %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D7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13,4 %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8,2 %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10,3 %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8,7 %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10,4 %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9,9 %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11,4 %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D8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10,9 %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8,6 %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9,6 %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9,5 %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9,1 %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9,2 %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9,5 %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D9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10,8 %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7,7 %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8,1 %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8,3 %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8,7 %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10,1 %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8,7 %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D10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8,6 %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6,9 %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7,9 %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7,9 %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8,1 %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7,7 %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0C0B0B"/>
                          </a:solidFill>
                          <a:latin typeface="Arial"/>
                        </a:rPr>
                        <a:t>7,8 %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Fuente"/>
          <p:cNvSpPr txBox="1"/>
          <p:nvPr/>
        </p:nvSpPr>
        <p:spPr>
          <a:xfrm>
            <a:off x="876300" y="84582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 25. WAPE medio sobre fold × serie por decil (D1 = menor volumen, D10 = mayor). En negrita, el menor valor de cada decil.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571500"/>
            <a:ext cx="16383000" cy="1320800"/>
          </a:xfrm>
        </p:spPr>
        <p:txBody>
          <a:bodyPr wrap="square"/>
          <a:lstStyle/>
          <a:p>
            <a:r>
              <a:rPr sz="2600" b="1">
                <a:solidFill>
                  <a:srgbClr val="219BC3"/>
                </a:solidFill>
                <a:latin typeface="Arial"/>
              </a:rPr>
              <a:t>Apoyo · Para preguntas</a:t>
            </a:r>
            <a:br/>
            <a:r>
              <a:rPr sz="3600" b="1">
                <a:solidFill>
                  <a:srgbClr val="00566C"/>
                </a:solidFill>
                <a:latin typeface="Arial"/>
              </a:rPr>
              <a:t>CV temporal del sMAPE por modelo y serie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89418-A3F1-A21F-3856-754AB9985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t>pág.</a:t>
            </a:r>
          </a:p>
          <a:p>
            <a:pPr eaLnBrk="1" hangingPunct="1"/>
            <a:fld id="{DCE17FDA-D7C1-4239-B80F-9E7B37D1B47D}" type="slidenum">
              <a:rPr lang="es-ES" altLang="es-ES" b="1">
                <a:solidFill>
                  <a:schemeClr val="accent2"/>
                </a:solidFill>
                <a:latin typeface="Franklin Gothic Medium" panose="020B0603020102020204" pitchFamily="34" charset="0"/>
              </a:rPr>
              <a:pPr eaLnBrk="1" hangingPunct="1"/>
              <a:t>30</a:t>
            </a:fld>
            <a:endParaRPr lang="es-ES" altLang="es-ES" b="1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4" name="Tabla CV temporal"/>
          <p:cNvGraphicFramePr>
            <a:graphicFrameLocks noGrp="1"/>
          </p:cNvGraphicFramePr>
          <p:nvPr/>
        </p:nvGraphicFramePr>
        <p:xfrm>
          <a:off x="876300" y="2362200"/>
          <a:ext cx="12827000" cy="5105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Media CV (%)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Mediana CV (%)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RIC P25–P75 (%)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Seasonal Naïve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48,3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43,5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32,1–57,8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ETS (AutoETS)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53,8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51,4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34,6–66,2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Holt-Winters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53,8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52,8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36,3–69,3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SARIMA (AutoARIMA)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55,1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50,9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37,2–72,4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LightGBM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48,2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46,2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32,5–58,1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MLP Bottleneck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47,2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45,2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31,2–58,0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00566C"/>
                          </a:solidFill>
                          <a:latin typeface="Arial"/>
                        </a:rPr>
                        <a:t>N-BEATS Interpretable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49,3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47,4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i="0">
                          <a:solidFill>
                            <a:srgbClr val="0C0B0B"/>
                          </a:solidFill>
                          <a:latin typeface="Arial"/>
                        </a:rPr>
                        <a:t>33,2–63,6</a:t>
                      </a: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4351000" y="2438400"/>
            <a:ext cx="101600" cy="13208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05000" y="2413000"/>
            <a:ext cx="2819400" cy="584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3400" b="1" i="0">
                <a:solidFill>
                  <a:srgbClr val="00566C"/>
                </a:solidFill>
                <a:latin typeface="Arial"/>
              </a:rPr>
              <a:t>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5000" y="2997200"/>
            <a:ext cx="2819400" cy="762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600" b="0" i="0">
                <a:solidFill>
                  <a:srgbClr val="858591"/>
                </a:solidFill>
                <a:latin typeface="Arial"/>
              </a:rPr>
              <a:t>series con dos o más folds (se excluyen 20 con un solo fold)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351000" y="4064000"/>
            <a:ext cx="101600" cy="13208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05000" y="4038600"/>
            <a:ext cx="2819400" cy="584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400" b="1" i="0">
                <a:solidFill>
                  <a:srgbClr val="00566C"/>
                </a:solidFill>
                <a:latin typeface="Arial"/>
              </a:rPr>
              <a:t>84,4–90,6 %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05000" y="4622800"/>
            <a:ext cx="2819400" cy="762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600" b="0" i="0">
                <a:solidFill>
                  <a:srgbClr val="858591"/>
                </a:solidFill>
                <a:latin typeface="Arial"/>
              </a:rPr>
              <a:t>de las series con CV &gt; 25 % (MLP / Holt-Winters)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351000" y="5689600"/>
            <a:ext cx="101600" cy="1320800"/>
          </a:xfrm>
          <a:prstGeom prst="rect">
            <a:avLst/>
          </a:prstGeom>
          <a:solidFill>
            <a:srgbClr val="219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bIns="508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05000" y="5664200"/>
            <a:ext cx="2819400" cy="584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2400" b="1" i="0">
                <a:solidFill>
                  <a:srgbClr val="00566C"/>
                </a:solidFill>
                <a:latin typeface="Arial"/>
              </a:rPr>
              <a:t>Mediana &lt; media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05000" y="6248400"/>
            <a:ext cx="2819400" cy="762000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Autofit/>
          </a:bodyPr>
          <a:lstStyle/>
          <a:p>
            <a:pPr algn="l"/>
            <a:r>
              <a:rPr sz="1600" b="0" i="0">
                <a:solidFill>
                  <a:srgbClr val="858591"/>
                </a:solidFill>
                <a:latin typeface="Arial"/>
              </a:rPr>
              <a:t>distribución con cola derecha</a:t>
            </a:r>
          </a:p>
        </p:txBody>
      </p:sp>
      <p:sp>
        <p:nvSpPr>
          <p:cNvPr id="14" name="Fuente"/>
          <p:cNvSpPr txBox="1"/>
          <p:nvPr/>
        </p:nvSpPr>
        <p:spPr>
          <a:xfrm>
            <a:off x="876300" y="8458200"/>
            <a:ext cx="13970000" cy="330200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Autofit/>
          </a:bodyPr>
          <a:lstStyle/>
          <a:p>
            <a:pPr algn="l"/>
            <a:r>
              <a:rPr sz="1500" b="0" i="1">
                <a:solidFill>
                  <a:srgbClr val="858591"/>
                </a:solidFill>
                <a:latin typeface="Arial"/>
              </a:rPr>
              <a:t>Fuente: TFM, Tabla 20 (§5.3). CV calculado dentro de cada serie y promediado sobre la submuestra.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E1C0FC74B3174194FF149F9456036A" ma:contentTypeVersion="14" ma:contentTypeDescription="Create a new document." ma:contentTypeScope="" ma:versionID="123c87ef37ea3b34b9928378b738f01d">
  <xsd:schema xmlns:xsd="http://www.w3.org/2001/XMLSchema" xmlns:xs="http://www.w3.org/2001/XMLSchema" xmlns:p="http://schemas.microsoft.com/office/2006/metadata/properties" xmlns:ns3="a6642f6d-5081-4791-b9e2-ba520a08f6f9" xmlns:ns4="2a878932-0fea-4e49-8237-6613bb282416" targetNamespace="http://schemas.microsoft.com/office/2006/metadata/properties" ma:root="true" ma:fieldsID="544dda0ad1fdbda5ed594a51a2fd38e4" ns3:_="" ns4:_="">
    <xsd:import namespace="a6642f6d-5081-4791-b9e2-ba520a08f6f9"/>
    <xsd:import namespace="2a878932-0fea-4e49-8237-6613bb28241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42f6d-5081-4791-b9e2-ba520a08f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878932-0fea-4e49-8237-6613bb28241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61AFDB-5B1F-4FAF-A547-89ADE1EE951F}">
  <ds:schemaRefs>
    <ds:schemaRef ds:uri="http://purl.org/dc/elements/1.1/"/>
    <ds:schemaRef ds:uri="a6642f6d-5081-4791-b9e2-ba520a08f6f9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2a878932-0fea-4e49-8237-6613bb282416"/>
    <ds:schemaRef ds:uri="http://purl.org/dc/dcmitype/"/>
    <ds:schemaRef ds:uri="http://schemas.microsoft.com/office/2006/metadata/properti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BA110C50-9D6E-492A-BD44-170BEC25D3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76DE1C-5911-4098-B3AC-2B148B57F2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642f6d-5081-4791-b9e2-ba520a08f6f9"/>
    <ds:schemaRef ds:uri="2a878932-0fea-4e49-8237-6613bb2824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15076</TotalTime>
  <Words>8720</Words>
  <Application>Microsoft Office PowerPoint</Application>
  <PresentationFormat>Personalizado</PresentationFormat>
  <Paragraphs>1192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30</vt:i4>
      </vt:variant>
    </vt:vector>
  </HeadingPairs>
  <TitlesOfParts>
    <vt:vector size="39" baseType="lpstr">
      <vt:lpstr>Arial</vt:lpstr>
      <vt:lpstr>Calibri</vt:lpstr>
      <vt:lpstr>Courier New</vt:lpstr>
      <vt:lpstr>Franklin Gothic Book</vt:lpstr>
      <vt:lpstr>Franklin Gothic Medium</vt:lpstr>
      <vt:lpstr>Lucida Grande</vt:lpstr>
      <vt:lpstr>Wingdings</vt:lpstr>
      <vt:lpstr>TEAM SLIDES</vt:lpstr>
      <vt:lpstr>1_TEAM SLIDES</vt:lpstr>
      <vt:lpstr>Presentación de PowerPoint</vt:lpstr>
      <vt:lpstr>Presentación de PowerPoint</vt:lpstr>
      <vt:lpstr>01 · Problema y propuesta Los modelos se eligen sin evidencia comparativa suficiente</vt:lpstr>
      <vt:lpstr>01 · Problema y propuesta La literatura deja tres brechas abiertas</vt:lpstr>
      <vt:lpstr>01 · Problema y propuesta Siete modelos en cuatro niveles de complejidad creciente</vt:lpstr>
      <vt:lpstr>02 · Diseño del experimento Un objetivo general y cinco objetivos verificables</vt:lpstr>
      <vt:lpstr>02 · Diseño del experimento Un pipeline modular y reproducible, de los datos a los resultados</vt:lpstr>
      <vt:lpstr>02 · Diseño del experimento De 10.987 series M4 a una submuestra estratificada de 200</vt:lpstr>
      <vt:lpstr>02 · Diseño del experimento Walk-forward con ventana creciente y hasta cinco folds</vt:lpstr>
      <vt:lpstr>02 · Diseño del experimento Sin fuga de información y 20/20 pruebas superadas</vt:lpstr>
      <vt:lpstr>02 · Diseño del experimento Los criterios de éxito se fijaron antes de ejecutar</vt:lpstr>
      <vt:lpstr>03 · Resultados Seis métricas; WAPE es un proxy de materialidad</vt:lpstr>
      <vt:lpstr>03 · Resultados ETS obtiene el menor error en las seis métricas</vt:lpstr>
      <vt:lpstr>03 · Resultados Los estadísticos clásicos lideran el ranking de sMAPE</vt:lpstr>
      <vt:lpstr>03 · Resultados ETS lidera también MAE, RMSE, MAPE, MASE y WAPE</vt:lpstr>
      <vt:lpstr>03 · Resultados La mejora es significativa y resiste Bonferroni</vt:lpstr>
      <vt:lpstr>03 · Resultados Ningún modelo alcanza el umbral de estabilidad</vt:lpstr>
      <vt:lpstr>03 · Resultados ETS mantiene su ventaja en las series de mayor volumen</vt:lpstr>
      <vt:lpstr>03 · Resultados Se cumplen sMAPE, WAPE y significación; no MASE ni CV</vt:lpstr>
      <vt:lpstr>04 · Interpretación Más complejidad no implicó mejor precisión</vt:lpstr>
      <vt:lpstr>04 · Interpretación El paradigma global no garantiza menor coste</vt:lpstr>
      <vt:lpstr>04 · Interpretación Propuesta preliminar de tres criterios, sin validar</vt:lpstr>
      <vt:lpstr>05 · Cierre y conclusiones Las conclusiones están condicionadas por sus límites</vt:lpstr>
      <vt:lpstr>05 · Cierre y conclusiones Cuatro objetivos alcanzados y uno parcialmente</vt:lpstr>
      <vt:lpstr>05 · Cierre y conclusiones Primero validar el framework, después ampliar la técnica</vt:lpstr>
      <vt:lpstr>Presentación de PowerPoint</vt:lpstr>
      <vt:lpstr>Apoyo · Para preguntas Hiperparámetros efectivamente utilizados</vt:lpstr>
      <vt:lpstr>Apoyo · Para preguntas Bonferroni: diez comparaciones pareadas (IC 99,5 %)</vt:lpstr>
      <vt:lpstr>Apoyo · Para preguntas WAPE medio por decil de volumen y modelo</vt:lpstr>
      <vt:lpstr>Apoyo · Para preguntas CV temporal del sMAPE por modelo y serie</vt:lpstr>
    </vt:vector>
  </TitlesOfParts>
  <Manager/>
  <Company>unir.net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TFM — Evaluación de modelos de pronóstico para FP&amp;A</dc:title>
  <dc:subject/>
  <dc:creator/>
  <cp:keywords/>
  <dc:description/>
  <cp:lastModifiedBy>Camilo Rico</cp:lastModifiedBy>
  <cp:revision>1292</cp:revision>
  <dcterms:created xsi:type="dcterms:W3CDTF">2015-01-20T11:47:48Z</dcterms:created>
  <dcterms:modified xsi:type="dcterms:W3CDTF">2026-10-06T20:27:22Z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0x010100A3E1C0FC74B3174194FF149F9456036A</vt:lpwstr>
  </property>
</Properties>
</file>